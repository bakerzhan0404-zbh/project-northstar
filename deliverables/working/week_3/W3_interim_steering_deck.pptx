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Weighted score</c:v>
                </c:pt>
              </c:strCache>
            </c:strRef>
          </c:tx>
          <c:spPr>
            <a:solidFill>
              <a:srgbClr val="0F172A"/>
            </a:solidFill>
            <a:effectLst/>
          </c:spPr>
          <c:invertIfNegative val="0"/>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dPt>
            <c:idx val="0"/>
            <c:invertIfNegative val="0"/>
            <c:bubble3D val="0"/>
            <c:spPr>
              <a:solidFill>
                <a:srgbClr val="0F172A"/>
              </a:solidFill>
              <a:effectLst/>
            </c:spPr>
          </c:dPt>
          <c:dPt>
            <c:idx val="1"/>
            <c:invertIfNegative val="0"/>
            <c:bubble3D val="0"/>
            <c:spPr>
              <a:solidFill>
                <a:srgbClr val="1D4ED8"/>
              </a:solidFill>
              <a:effectLst/>
            </c:spPr>
          </c:dPt>
          <c:dPt>
            <c:idx val="2"/>
            <c:invertIfNegative val="0"/>
            <c:bubble3D val="0"/>
            <c:spPr>
              <a:solidFill>
                <a:srgbClr val="0891B2"/>
              </a:solidFill>
              <a:effectLst/>
            </c:spPr>
          </c:dPt>
          <c:cat>
            <c:multiLvlStrRef>
              <c:f>Sheet1!$A$2:$A$4</c:f>
              <c:multiLvlStrCache>
                <c:ptCount val="3"/>
                <c:lvl>
                  <c:pt idx="0">
                    <c:v>Local</c:v>
                  </c:pt>
                  <c:pt idx="1">
                    <c:v>Federated</c:v>
                  </c:pt>
                  <c:pt idx="2">
                    <c:v>Global</c:v>
                  </c:pt>
                </c:lvl>
              </c:multiLvlStrCache>
            </c:multiLvlStrRef>
          </c:cat>
          <c:val>
            <c:numRef>
              <c:f>Sheet1!$B$2:$B$4</c:f>
              <c:numCache>
                <c:formatCode>General</c:formatCode>
                <c:ptCount val="3"/>
                <c:pt idx="0">
                  <c:v>72</c:v>
                </c:pt>
                <c:pt idx="1">
                  <c:v>87</c:v>
                </c:pt>
                <c:pt idx="2">
                  <c:v>60</c:v>
                </c:pt>
              </c:numCache>
            </c:numRef>
          </c:val>
        </c:ser>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decision. Federated coordination is the preferred design direction, not execution approval. Advance means assign owners and close evidence gaps; it does not mean launch either pilot. Retain local stabilization as the controlled fallback and hold global coordination until the critical gates close. The $1.0–$1.5m figure is only an authorization ceiling. Provenance: deliverables/working/week_3/W3_strategic_options.md; W3_future_state_operating_model.md; W3_business_case.md. Evidence labels: ACG-DATA for the ceiling; ANALYST-JUDGMENT for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visibility analysis covers 55 accounts and 9,955 account-days from January through June 2026. The delay measure is a reporting-date proxy because receipt timestamps and approved cutoffs are absent. The $38.13m figure is the 30 June 14-day screen; $35m passes 138 of 168 complete windows, but no account-level mobility certification exists. The payment evidence is limited to the supplied 7,600-record extract. Manual touch and cross-border status are associated with friction; they are not proven causes. Do not add the independent repair-hour sources. Provenance: deliverables/working/week_2/W2_findings_log.md; W2_metric_contract.md; data/processed/W2_visibility_diagnostic.csv; W2_liquidity_scenarios.csv; W2_payment_diagnostic.csv; deliverables/working/week_3/W3_design_principles.md.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scores are ordinal analyst judgments, not confidence scores, value estimates, or approval readiness. The weights were fixed before scoring and sum to 100%. Federated leads the base, controls-first, speed-first, scale/value-first, and local-autonomy-first cases. This supports choosing a learning direction but cannot offset a failed gate. The seven gates are data/ownership, legal/local rights, controls/cyber, service/peak continuity, resilience/rollback, affordability/staging, and benefit recognition. Provenance: deliverables/working/week_3/W3_strategic_options.md; data/processed/W3_option_summary.csv; W3_option_weighted_scores.csv; W3_option_sensitivity.csv; src/week3_strategy.py; tests/test_week3_strategy.py.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federated model creates one governed daily decision chain while preserving explicit local rights. Group Treasury owns the common data/control spine and enterprise decisions. Regional and local teams validate restrictions and operating needs, protect payroll/tax/refunds/critical suppliers, challenge unsafe action, and use an approved contingency route. Shared Services operates standardized payment steps. IT/Data/Cyber enables source integrity, access, resilience, and rollback. Management owns controls; Internal Audit is consulted. Provenance: deliverables/working/week_3/W3_future_state_operating_model.md; W3_future_state_process_map_and_RACI.md; W3_control_inventory.csv.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accounts are a reproducible coverage-constrained design, not a launch-ready or representative sample. All ten require base readiness/control review. AC0040 alone requires enhanced review and can remain only in read-only shadow observation subject to owner approval. The goal is to replace the reporting-date proxy with governed receipt timestamps, cutoffs, and reconciliation. Four compliant weeks would complete the later technical test, but not authorize movement, value, procurement, or scale. Provenance: deliverables/working/week_3/W3_visibility_pilot_charter.md; data/processed/W3_visibility_pilot_candidates.csv; src/week3_pilot_design.py; tests/test_week3_pilot_design.py.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strata are manual-only, manual plus cross-border wire, cross-border-wire-only, and neither. They are mutually exclusive, so overlapping totals are never added. Rank issue modes separately, then match controls without replacement on payment type, region, month, and amount band where feasible. This is purposive case-control diagnosis, not a powered prevalence sample, enterprise extrapolation, or benefit sample. No root cause is established because required source documents, criticality, reason codes, and event sequences are absent. Provenance: deliverables/working/week_3/W3_payment_pilot_charter.md; data/processed/W3_payment_sample_frame.csv; W3_pilot_model_controls.csv; src/week3_pilot_design.py; tests/test_week3_pilot_design.py.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scenarios are diagnostic cases, not benefits. The downside $3,900 is independently 50% of the $7,800 portfolio sensitivity; it is not the fee total for a selected two-account cohort. Any two evidenced candidates could total $1,800–$6,000. Capacity stays in hours and is not converted to headcount or P&amp;L. Risk exposure is unknown; $0 refers only to the present recognized-value ledger entry, not zero risk. CR01–CR10 are open, so no return or funding calculation is available. Provenance: deliverables/working/week_3/W3_business_case.md; W3_assumptions_register.csv; data/processed/W3_business_case_scenarios.csv; W3_business_case_value_ledger.csv; W3_cost_evidence_requirements.csv.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falsification slide. The recommendation survives smaller diagnostic hypotheses because the option score does not include those scenario values. It does not survive failure of common ownership, integration readiness, affordability, or a critical control. Local stabilization is the immediate fallback and must preserve a minimum governed group feed. Global coordination is not an automatic next phase; it must earn reconsideration through materially stronger evidence and a separate decision. Provenance: deliverables/working/week_3/W3_business_case.md; W3_strategic_options.md; data/processed/W3_business_case_scenarios.csv; W3_option_sensitivity.csv.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packages consolidate the launch and investment gates into named closure work. Data and controls are preconditions. Legal, tax, accounting, cyber, architecture, and service specialists must answer their own questions. Finance owns admission to the value ledger; the CFO/SteerCo separately owns funding and scale. Ten cost requirements and twelve value-gate requirements are defined but incomplete. Automated model controls prevent unsafe calculations; they do not transform assumptions into evidence. Provenance: deliverables/working/week_3/W3_control_inventory.csv; W3_assumptions_register.csv; W3_future_state_operating_model.md; data/processed/W3_cost_evidence_requirements.csv; W3_business_case_controls.csv.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by repeating the opening decision with evidence attached. The 90 days are an analyst-proposed mobilization timebox, not a promise that every gate will close. Time does not override evidence: unfinished packages remain open and force an extension, redesign, or switch to local stabilization. No production pilot begins unless a separate go/no-go is granted after the relevant data, control, service, specialist, cost, and rollback gates are evidenced. Provenance: deliverables/working/week_3/W3_future_state_operating_model.md; W3_visibility_pilot_charter.md; W3_payment_pilot_charter.md; W3_business_case.md; W3_strategic_options.md.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1691640"/>
            <a:ext cx="548640" cy="73152"/>
          </a:xfrm>
          <a:prstGeom prst="rect">
            <a:avLst/>
          </a:prstGeom>
          <a:solidFill>
            <a:srgbClr val="1D4ED8"/>
          </a:solidFill>
          <a:ln w="12700">
            <a:solidFill>
              <a:srgbClr val="FFFFFF"/>
            </a:solidFill>
            <a:prstDash val="solid"/>
          </a:ln>
        </p:spPr>
      </p:sp>
      <p:sp>
        <p:nvSpPr>
          <p:cNvPr id="3" name="Text 1"/>
          <p:cNvSpPr txBox="1"/>
          <p:nvPr/>
        </p:nvSpPr>
        <p:spPr>
          <a:xfrm>
            <a:off x="457200" y="1828800"/>
            <a:ext cx="8229600" cy="1691640"/>
          </a:xfrm>
          <a:prstGeom prst="rect">
            <a:avLst/>
          </a:prstGeom>
          <a:noFill/>
          <a:ln/>
        </p:spPr>
        <p:txBody>
          <a:bodyPr wrap="square" lIns="0" tIns="0" rIns="0" bIns="0" rtlCol="0" anchor="t"/>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Advance federated design—not execution</a:t>
            </a:r>
            <a:endParaRPr lang="en-US" sz="4000" dirty="0"/>
          </a:p>
        </p:txBody>
      </p:sp>
      <p:sp>
        <p:nvSpPr>
          <p:cNvPr id="4" name="Text 2"/>
          <p:cNvSpPr txBox="1"/>
          <p:nvPr/>
        </p:nvSpPr>
        <p:spPr>
          <a:xfrm>
            <a:off x="457200" y="3611880"/>
            <a:ext cx="8229600" cy="1024128"/>
          </a:xfrm>
          <a:prstGeom prst="rect">
            <a:avLst/>
          </a:prstGeom>
          <a:noFill/>
          <a:ln/>
        </p:spPr>
        <p:txBody>
          <a:bodyPr wrap="square" lIns="0" tIns="0" rIns="0" bIns="0" rtlCol="0" anchor="t"/>
          <a:lstStyle/>
          <a:p>
            <a:pPr algn="l" indent="0" marL="0">
              <a:buNone/>
            </a:pPr>
            <a:r>
              <a:rPr lang="en-US" sz="2000" dirty="0">
                <a:solidFill>
                  <a:srgbClr val="0891B2"/>
                </a:solidFill>
                <a:latin typeface="Helvetica Neue" pitchFamily="34" charset="0"/>
                <a:ea typeface="Helvetica Neue" pitchFamily="34" charset="-122"/>
                <a:cs typeface="Helvetica Neue" pitchFamily="34" charset="-120"/>
              </a:rPr>
              <a:t>Advance the federated direction · retain local stabilization · hold global coordination</a:t>
            </a:r>
            <a:endParaRPr lang="en-US" sz="2000" dirty="0"/>
          </a:p>
        </p:txBody>
      </p:sp>
      <p:sp>
        <p:nvSpPr>
          <p:cNvPr id="5" name="Text 3"/>
          <p:cNvSpPr txBox="1"/>
          <p:nvPr/>
        </p:nvSpPr>
        <p:spPr>
          <a:xfrm>
            <a:off x="457200" y="4777740"/>
            <a:ext cx="8229600" cy="228600"/>
          </a:xfrm>
          <a:prstGeom prst="rect">
            <a:avLst/>
          </a:prstGeom>
          <a:noFill/>
          <a:ln/>
        </p:spPr>
        <p:txBody>
          <a:bodyPr wrap="square" lIns="0" tIns="0" rIns="0" bIns="0" rtlCol="0" anchor="ctr"/>
          <a:lstStyle/>
          <a:p>
            <a:pPr algn="l" indent="0" marL="0">
              <a:buNone/>
            </a:pPr>
            <a:r>
              <a:rPr lang="en-US" sz="1000" dirty="0">
                <a:solidFill>
                  <a:srgbClr val="94A3B8"/>
                </a:solidFill>
                <a:latin typeface="Helvetica Neue" pitchFamily="34" charset="0"/>
                <a:ea typeface="Helvetica Neue" pitchFamily="34" charset="-122"/>
                <a:cs typeface="Helvetica Neue" pitchFamily="34" charset="-120"/>
              </a:rPr>
              <a:t>$1.0–$1.5m ceiling only—not cost, budget, or spend authority.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evidence points to concentrated friction, not a proven benefit</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Week 2 readouts define where to investigate—and where inference must stop</a:t>
            </a:r>
            <a:endParaRPr lang="en-US" sz="1300" dirty="0"/>
          </a:p>
        </p:txBody>
      </p:sp>
      <p:sp>
        <p:nvSpPr>
          <p:cNvPr id="9" name="Text 7"/>
          <p:cNvSpPr txBox="1"/>
          <p:nvPr/>
        </p:nvSpPr>
        <p:spPr>
          <a:xfrm>
            <a:off x="457200" y="1655064"/>
            <a:ext cx="8229600" cy="219456"/>
          </a:xfrm>
          <a:prstGeom prst="rect">
            <a:avLst/>
          </a:prstGeom>
          <a:noFill/>
          <a:ln/>
        </p:spPr>
        <p:txBody>
          <a:bodyPr wrap="square" lIns="0" tIns="0" rIns="0" bIns="0" rtlCol="0" anchor="t">
            <a:normAutofit/>
          </a:bodyPr>
          <a:lstStyle/>
          <a:p>
            <a:pPr algn="l" indent="0" marL="0">
              <a:buNone/>
            </a:pPr>
            <a:r>
              <a:rPr lang="en-US" sz="1050" b="1" dirty="0">
                <a:solidFill>
                  <a:srgbClr val="111827"/>
                </a:solidFill>
                <a:latin typeface="Helvetica Neue" pitchFamily="34" charset="0"/>
                <a:ea typeface="Helvetica Neue" pitchFamily="34" charset="-122"/>
                <a:cs typeface="Helvetica Neue" pitchFamily="34" charset="-120"/>
              </a:rPr>
              <a:t>Diagnostic readout</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938528"/>
          <a:ext cx="8229600" cy="1824228"/>
        </p:xfrm>
        <a:graphic>
          <a:graphicData uri="http://schemas.openxmlformats.org/drawingml/2006/table">
            <a:tbl>
              <a:tblPr/>
              <a:tblGrid>
                <a:gridCol w="2386584"/>
                <a:gridCol w="2386584"/>
                <a:gridCol w="3456432"/>
              </a:tblGrid>
              <a:tr h="274320">
                <a:tc>
                  <a:txBody>
                    <a:bodyP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Evidence</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Supports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1000" b="1" dirty="0">
                          <a:solidFill>
                            <a:srgbClr val="FFFFFF"/>
                          </a:solidFill>
                          <a:latin typeface="Helvetica Neue" pitchFamily="34" charset="0"/>
                          <a:ea typeface="Helvetica Neue" pitchFamily="34" charset="-122"/>
                          <a:cs typeface="Helvetica Neue" pitchFamily="34" charset="-120"/>
                        </a:rPr>
                        <a:t>Does not support</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274320">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23 / 55 delayed; portal + sheet</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Source / timestamp controls</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Start-of-day performance or cause</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$38.13m 14-day screen, 30 Jun</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Mobility / buffer evidence</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Cash, surplus, transfer authority</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274320">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7,600 extract; union 2,839</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A bounded payment diagnostic</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Certified ACG-wide population</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356 exceptions; 14,939 min</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Root-cause prioritization</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60" dirty="0">
                          <a:solidFill>
                            <a:srgbClr val="111827"/>
                          </a:solidFill>
                          <a:latin typeface="Helvetica Neue" pitchFamily="34" charset="0"/>
                          <a:ea typeface="Helvetica Neue" pitchFamily="34" charset="-122"/>
                          <a:cs typeface="Helvetica Neue" pitchFamily="34" charset="-120"/>
                        </a:rPr>
                        <a:t>Cause, removal, P&amp;L, headcount</a:t>
                      </a:r>
                      <a:endParaRPr lang="en-US" sz="86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1" name="Text 8"/>
          <p:cNvSpPr txBox="1"/>
          <p:nvPr/>
        </p:nvSpPr>
        <p:spPr>
          <a:xfrm>
            <a:off x="457200" y="3817620"/>
            <a:ext cx="8229600" cy="246888"/>
          </a:xfrm>
          <a:prstGeom prst="rect">
            <a:avLst/>
          </a:prstGeom>
          <a:noFill/>
          <a:ln/>
        </p:spPr>
        <p:txBody>
          <a:bodyPr wrap="square" lIns="0" tIns="0" rIns="0" bIns="0" rtlCol="0" anchor="t">
            <a:normAutofit/>
          </a:bodyPr>
          <a:lstStyle/>
          <a:p>
            <a:pPr algn="l" indent="0" marL="0">
              <a:buNone/>
            </a:pPr>
            <a:r>
              <a:rPr lang="en-US" sz="800" i="1" dirty="0">
                <a:solidFill>
                  <a:srgbClr val="4B5563"/>
                </a:solidFill>
                <a:latin typeface="Helvetica Neue" pitchFamily="34" charset="0"/>
                <a:ea typeface="Helvetica Neue" pitchFamily="34" charset="-122"/>
                <a:cs typeface="Helvetica Neue" pitchFamily="34" charset="-120"/>
              </a:rPr>
              <a:t>Delay is a proxy, not causation; $38.13m is a screen, not cash.</a:t>
            </a:r>
            <a:endParaRPr lang="en-US" sz="800" dirty="0"/>
          </a:p>
        </p:txBody>
      </p:sp>
      <p:sp>
        <p:nvSpPr>
          <p:cNvPr id="12" name="Shape 9"/>
          <p:cNvSpPr/>
          <p:nvPr/>
        </p:nvSpPr>
        <p:spPr>
          <a:xfrm>
            <a:off x="457200" y="4375404"/>
            <a:ext cx="8229600" cy="384048"/>
          </a:xfrm>
          <a:prstGeom prst="rect">
            <a:avLst/>
          </a:prstGeom>
          <a:solidFill>
            <a:srgbClr val="FFFFFF"/>
          </a:solidFill>
          <a:ln w="6350">
            <a:solidFill>
              <a:srgbClr val="D1D5DB"/>
            </a:solidFill>
            <a:prstDash val="solid"/>
          </a:ln>
        </p:spPr>
      </p:sp>
      <p:sp>
        <p:nvSpPr>
          <p:cNvPr id="13" name="Text 10"/>
          <p:cNvSpPr txBox="1"/>
          <p:nvPr/>
        </p:nvSpPr>
        <p:spPr>
          <a:xfrm>
            <a:off x="566928" y="4457700"/>
            <a:ext cx="8010144" cy="292608"/>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The next decision is how to close evidence gaps safely—not how much value to book.</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 Findings F07–F10; W2 Metric Contract; W2 processed diagnostics</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2/10</a:t>
            </a:r>
            <a:endParaRPr lang="en-US" sz="8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Federated leads at 87—subject to seven open gates</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Directional option score; not confidence, value, or execution readiness</a:t>
            </a:r>
            <a:endParaRPr lang="en-US" sz="1300" dirty="0"/>
          </a:p>
        </p:txBody>
      </p:sp>
      <p:sp>
        <p:nvSpPr>
          <p:cNvPr id="9" name="Shape 7"/>
          <p:cNvSpPr/>
          <p:nvPr/>
        </p:nvSpPr>
        <p:spPr>
          <a:xfrm>
            <a:off x="457200" y="1691640"/>
            <a:ext cx="5925312" cy="2921508"/>
          </a:xfrm>
          <a:prstGeom prst="rect">
            <a:avLst/>
          </a:prstGeom>
          <a:solidFill>
            <a:srgbClr val="FFFFFF"/>
          </a:solidFill>
          <a:ln w="7620">
            <a:solidFill>
              <a:srgbClr val="D1D5DB"/>
            </a:solidFill>
            <a:prstDash val="solid"/>
          </a:ln>
        </p:spPr>
      </p:sp>
      <p:graphicFrame>
        <p:nvGraphicFramePr>
          <p:cNvPr id="10" name="Chart 0" descr=""/>
          <p:cNvGraphicFramePr/>
          <p:nvPr/>
        </p:nvGraphicFramePr>
        <p:xfrm>
          <a:off x="566928" y="1783080"/>
          <a:ext cx="5705856" cy="273862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793992" y="1691640"/>
            <a:ext cx="1892808" cy="1227033"/>
          </a:xfrm>
          <a:prstGeom prst="rect">
            <a:avLst/>
          </a:prstGeom>
          <a:solidFill>
            <a:srgbClr val="FFFFFF"/>
          </a:solidFill>
          <a:ln w="6985">
            <a:solidFill>
              <a:srgbClr val="D1D5DB"/>
            </a:solidFill>
            <a:prstDash val="solid"/>
          </a:ln>
        </p:spPr>
      </p:sp>
      <p:sp>
        <p:nvSpPr>
          <p:cNvPr id="12" name="Text 9"/>
          <p:cNvSpPr txBox="1"/>
          <p:nvPr/>
        </p:nvSpPr>
        <p:spPr>
          <a:xfrm>
            <a:off x="6885432" y="1783080"/>
            <a:ext cx="1709928" cy="274320"/>
          </a:xfrm>
          <a:prstGeom prst="rect">
            <a:avLst/>
          </a:prstGeom>
          <a:noFill/>
          <a:ln/>
        </p:spPr>
        <p:txBody>
          <a:bodyPr wrap="square" lIns="0" tIns="0" rIns="0" bIns="0" rtlCol="0" anchor="t">
            <a:normAutofit/>
          </a:bodyPr>
          <a:lstStyle/>
          <a:p>
            <a:pPr algn="l" indent="0" marL="0">
              <a:buNone/>
            </a:pPr>
            <a:r>
              <a:rPr lang="en-US" sz="1500" b="1" dirty="0">
                <a:solidFill>
                  <a:srgbClr val="1D4ED8"/>
                </a:solidFill>
                <a:latin typeface="Helvetica Neue" pitchFamily="34" charset="0"/>
                <a:ea typeface="Helvetica Neue" pitchFamily="34" charset="-122"/>
                <a:cs typeface="Helvetica Neue" pitchFamily="34" charset="-120"/>
              </a:rPr>
              <a:t>READOUT</a:t>
            </a:r>
            <a:endParaRPr lang="en-US" sz="1500" dirty="0"/>
          </a:p>
        </p:txBody>
      </p:sp>
      <p:sp>
        <p:nvSpPr>
          <p:cNvPr id="13" name="Text 10"/>
          <p:cNvSpPr txBox="1"/>
          <p:nvPr/>
        </p:nvSpPr>
        <p:spPr>
          <a:xfrm>
            <a:off x="6885432" y="2148840"/>
            <a:ext cx="1709928" cy="475488"/>
          </a:xfrm>
          <a:prstGeom prst="rect">
            <a:avLst/>
          </a:prstGeom>
          <a:noFill/>
          <a:ln/>
        </p:spPr>
        <p:txBody>
          <a:bodyPr wrap="square" lIns="0" tIns="0" rIns="0" bIns="0" rtlCol="0" anchor="t">
            <a:normAutofit/>
          </a:bodyPr>
          <a:lstStyle/>
          <a:p>
            <a:pPr algn="l" indent="0" marL="0">
              <a:buNone/>
            </a:pPr>
            <a:r>
              <a:rPr lang="en-US" sz="2500" b="1" dirty="0">
                <a:solidFill>
                  <a:srgbClr val="111827"/>
                </a:solidFill>
                <a:latin typeface="Helvetica Neue" pitchFamily="34" charset="0"/>
                <a:ea typeface="Helvetica Neue" pitchFamily="34" charset="-122"/>
                <a:cs typeface="Helvetica Neue" pitchFamily="34" charset="-120"/>
              </a:rPr>
              <a:t>5</a:t>
            </a:r>
            <a:endParaRPr lang="en-US" sz="2500" dirty="0"/>
          </a:p>
        </p:txBody>
      </p:sp>
      <p:sp>
        <p:nvSpPr>
          <p:cNvPr id="14" name="Text 11"/>
          <p:cNvSpPr txBox="1"/>
          <p:nvPr/>
        </p:nvSpPr>
        <p:spPr>
          <a:xfrm>
            <a:off x="6885432" y="2715768"/>
            <a:ext cx="1709928" cy="201168"/>
          </a:xfrm>
          <a:prstGeom prst="rect">
            <a:avLst/>
          </a:prstGeom>
          <a:noFill/>
          <a:ln/>
        </p:spPr>
        <p:txBody>
          <a:bodyPr wrap="square" lIns="0" tIns="0" rIns="0" bIns="0" rtlCol="0" anchor="t">
            <a:normAutofit/>
          </a:bodyPr>
          <a:lstStyle/>
          <a:p>
            <a:pPr algn="l" indent="0" marL="0">
              <a:buNone/>
            </a:pPr>
            <a:r>
              <a:rPr lang="en-US" sz="1500" dirty="0">
                <a:solidFill>
                  <a:srgbClr val="4B5563"/>
                </a:solidFill>
                <a:latin typeface="Helvetica Neue" pitchFamily="34" charset="0"/>
                <a:ea typeface="Helvetica Neue" pitchFamily="34" charset="-122"/>
                <a:cs typeface="Helvetica Neue" pitchFamily="34" charset="-120"/>
              </a:rPr>
              <a:t>Cases</a:t>
            </a:r>
            <a:endParaRPr lang="en-US" sz="1500" dirty="0"/>
          </a:p>
        </p:txBody>
      </p:sp>
      <p:sp>
        <p:nvSpPr>
          <p:cNvPr id="15" name="Shape 12"/>
          <p:cNvSpPr/>
          <p:nvPr/>
        </p:nvSpPr>
        <p:spPr>
          <a:xfrm>
            <a:off x="6793992" y="3123179"/>
            <a:ext cx="1892808" cy="420624"/>
          </a:xfrm>
          <a:prstGeom prst="rect">
            <a:avLst/>
          </a:prstGeom>
          <a:solidFill>
            <a:srgbClr val="FFFFFF"/>
          </a:solidFill>
          <a:ln w="6985">
            <a:solidFill>
              <a:srgbClr val="D1D5DB"/>
            </a:solidFill>
            <a:prstDash val="solid"/>
          </a:ln>
        </p:spPr>
      </p:sp>
      <p:sp>
        <p:nvSpPr>
          <p:cNvPr id="16" name="Shape 13"/>
          <p:cNvSpPr/>
          <p:nvPr/>
        </p:nvSpPr>
        <p:spPr>
          <a:xfrm>
            <a:off x="6793992" y="3123179"/>
            <a:ext cx="50292" cy="420624"/>
          </a:xfrm>
          <a:prstGeom prst="rect">
            <a:avLst/>
          </a:prstGeom>
          <a:solidFill>
            <a:srgbClr val="1D4ED8"/>
          </a:solidFill>
          <a:ln w="12700">
            <a:solidFill>
              <a:srgbClr val="1D4ED8"/>
            </a:solidFill>
            <a:prstDash val="solid"/>
          </a:ln>
        </p:spPr>
      </p:sp>
      <p:sp>
        <p:nvSpPr>
          <p:cNvPr id="17" name="Text 14"/>
          <p:cNvSpPr txBox="1"/>
          <p:nvPr/>
        </p:nvSpPr>
        <p:spPr>
          <a:xfrm>
            <a:off x="6940296" y="3214619"/>
            <a:ext cx="605699" cy="237744"/>
          </a:xfrm>
          <a:prstGeom prst="rect">
            <a:avLst/>
          </a:prstGeom>
          <a:noFill/>
          <a:ln/>
        </p:spPr>
        <p:txBody>
          <a:bodyPr wrap="square" lIns="0" tIns="0" rIns="0" bIns="0" rtlCol="0" anchor="ctr">
            <a:normAutofit/>
          </a:bodyPr>
          <a:lstStyle/>
          <a:p>
            <a:pPr algn="l" indent="0" marL="0">
              <a:buNone/>
            </a:pPr>
            <a:r>
              <a:rPr lang="en-US" sz="1300" b="1" dirty="0">
                <a:solidFill>
                  <a:srgbClr val="1D4ED8"/>
                </a:solidFill>
                <a:latin typeface="Helvetica Neue" pitchFamily="34" charset="0"/>
                <a:ea typeface="Helvetica Neue" pitchFamily="34" charset="-122"/>
                <a:cs typeface="Helvetica Neue" pitchFamily="34" charset="-120"/>
              </a:rPr>
              <a:t>5</a:t>
            </a:r>
            <a:endParaRPr lang="en-US" sz="1300" dirty="0"/>
          </a:p>
        </p:txBody>
      </p:sp>
      <p:sp>
        <p:nvSpPr>
          <p:cNvPr id="18" name="Text 15"/>
          <p:cNvSpPr txBox="1"/>
          <p:nvPr/>
        </p:nvSpPr>
        <p:spPr>
          <a:xfrm>
            <a:off x="7637435" y="3214619"/>
            <a:ext cx="903061" cy="292608"/>
          </a:xfrm>
          <a:prstGeom prst="rect">
            <a:avLst/>
          </a:prstGeom>
          <a:noFill/>
          <a:ln/>
        </p:spPr>
        <p:txBody>
          <a:bodyPr wrap="square" lIns="0" tIns="0" rIns="0" bIns="0" rtlCol="0" anchor="t">
            <a:normAutofit/>
          </a:bodyPr>
          <a:lstStyle/>
          <a:p>
            <a:pPr algn="l" indent="0" marL="0">
              <a:buNone/>
            </a:pPr>
            <a:r>
              <a:rPr lang="en-US" sz="1500" b="1" dirty="0">
                <a:solidFill>
                  <a:srgbClr val="111827"/>
                </a:solidFill>
                <a:latin typeface="Helvetica Neue" pitchFamily="34" charset="0"/>
                <a:ea typeface="Helvetica Neue" pitchFamily="34" charset="-122"/>
                <a:cs typeface="Helvetica Neue" pitchFamily="34" charset="-120"/>
              </a:rPr>
              <a:t>Cases</a:t>
            </a:r>
            <a:endParaRPr lang="en-US" sz="1500" dirty="0"/>
          </a:p>
        </p:txBody>
      </p:sp>
      <p:sp>
        <p:nvSpPr>
          <p:cNvPr id="19" name="Shape 16"/>
          <p:cNvSpPr/>
          <p:nvPr/>
        </p:nvSpPr>
        <p:spPr>
          <a:xfrm>
            <a:off x="6793992" y="3690107"/>
            <a:ext cx="1892808" cy="420624"/>
          </a:xfrm>
          <a:prstGeom prst="rect">
            <a:avLst/>
          </a:prstGeom>
          <a:solidFill>
            <a:srgbClr val="FFFFFF"/>
          </a:solidFill>
          <a:ln w="6985">
            <a:solidFill>
              <a:srgbClr val="D1D5DB"/>
            </a:solidFill>
            <a:prstDash val="solid"/>
          </a:ln>
        </p:spPr>
      </p:sp>
      <p:sp>
        <p:nvSpPr>
          <p:cNvPr id="20" name="Shape 17"/>
          <p:cNvSpPr/>
          <p:nvPr/>
        </p:nvSpPr>
        <p:spPr>
          <a:xfrm>
            <a:off x="6793992" y="3690107"/>
            <a:ext cx="50292" cy="420624"/>
          </a:xfrm>
          <a:prstGeom prst="rect">
            <a:avLst/>
          </a:prstGeom>
          <a:solidFill>
            <a:srgbClr val="0891B2"/>
          </a:solidFill>
          <a:ln w="12700">
            <a:solidFill>
              <a:srgbClr val="0891B2"/>
            </a:solidFill>
            <a:prstDash val="solid"/>
          </a:ln>
        </p:spPr>
      </p:sp>
      <p:sp>
        <p:nvSpPr>
          <p:cNvPr id="21" name="Text 18"/>
          <p:cNvSpPr txBox="1"/>
          <p:nvPr/>
        </p:nvSpPr>
        <p:spPr>
          <a:xfrm>
            <a:off x="6940296" y="3781547"/>
            <a:ext cx="605699" cy="237744"/>
          </a:xfrm>
          <a:prstGeom prst="rect">
            <a:avLst/>
          </a:prstGeom>
          <a:noFill/>
          <a:ln/>
        </p:spPr>
        <p:txBody>
          <a:bodyPr wrap="square" lIns="0" tIns="0" rIns="0" bIns="0" rtlCol="0" anchor="ctr">
            <a:normAutofit/>
          </a:bodyPr>
          <a:lstStyle/>
          <a:p>
            <a:pPr algn="l" indent="0" marL="0">
              <a:buNone/>
            </a:pPr>
            <a:r>
              <a:rPr lang="en-US" sz="1300" b="1" dirty="0">
                <a:solidFill>
                  <a:srgbClr val="0891B2"/>
                </a:solidFill>
                <a:latin typeface="Helvetica Neue" pitchFamily="34" charset="0"/>
                <a:ea typeface="Helvetica Neue" pitchFamily="34" charset="-122"/>
                <a:cs typeface="Helvetica Neue" pitchFamily="34" charset="-120"/>
              </a:rPr>
              <a:t>7</a:t>
            </a:r>
            <a:endParaRPr lang="en-US" sz="1300" dirty="0"/>
          </a:p>
        </p:txBody>
      </p:sp>
      <p:sp>
        <p:nvSpPr>
          <p:cNvPr id="22" name="Text 19"/>
          <p:cNvSpPr txBox="1"/>
          <p:nvPr/>
        </p:nvSpPr>
        <p:spPr>
          <a:xfrm>
            <a:off x="7637435" y="3781547"/>
            <a:ext cx="903061" cy="292608"/>
          </a:xfrm>
          <a:prstGeom prst="rect">
            <a:avLst/>
          </a:prstGeom>
          <a:noFill/>
          <a:ln/>
        </p:spPr>
        <p:txBody>
          <a:bodyPr wrap="square" lIns="0" tIns="0" rIns="0" bIns="0" rtlCol="0" anchor="t">
            <a:normAutofit/>
          </a:bodyPr>
          <a:lstStyle/>
          <a:p>
            <a:pPr algn="l" indent="0" marL="0">
              <a:buNone/>
            </a:pPr>
            <a:r>
              <a:rPr lang="en-US" sz="1500" b="1" dirty="0">
                <a:solidFill>
                  <a:srgbClr val="111827"/>
                </a:solidFill>
                <a:latin typeface="Helvetica Neue" pitchFamily="34" charset="0"/>
                <a:ea typeface="Helvetica Neue" pitchFamily="34" charset="-122"/>
                <a:cs typeface="Helvetica Neue" pitchFamily="34" charset="-120"/>
              </a:rPr>
              <a:t>Gates</a:t>
            </a:r>
            <a:endParaRPr lang="en-US" sz="1500" dirty="0"/>
          </a:p>
        </p:txBody>
      </p:sp>
      <p:sp>
        <p:nvSpPr>
          <p:cNvPr id="23" name="Shape 20"/>
          <p:cNvSpPr/>
          <p:nvPr/>
        </p:nvSpPr>
        <p:spPr>
          <a:xfrm>
            <a:off x="6793992" y="4257035"/>
            <a:ext cx="1892808" cy="420624"/>
          </a:xfrm>
          <a:prstGeom prst="rect">
            <a:avLst/>
          </a:prstGeom>
          <a:solidFill>
            <a:srgbClr val="FFFFFF"/>
          </a:solidFill>
          <a:ln w="6985">
            <a:solidFill>
              <a:srgbClr val="D1D5DB"/>
            </a:solidFill>
            <a:prstDash val="solid"/>
          </a:ln>
        </p:spPr>
      </p:sp>
      <p:sp>
        <p:nvSpPr>
          <p:cNvPr id="24" name="Shape 21"/>
          <p:cNvSpPr/>
          <p:nvPr/>
        </p:nvSpPr>
        <p:spPr>
          <a:xfrm>
            <a:off x="6793992" y="4257035"/>
            <a:ext cx="50292" cy="420624"/>
          </a:xfrm>
          <a:prstGeom prst="rect">
            <a:avLst/>
          </a:prstGeom>
          <a:solidFill>
            <a:srgbClr val="1D4ED8"/>
          </a:solidFill>
          <a:ln w="12700">
            <a:solidFill>
              <a:srgbClr val="1D4ED8"/>
            </a:solidFill>
            <a:prstDash val="solid"/>
          </a:ln>
        </p:spPr>
      </p:sp>
      <p:sp>
        <p:nvSpPr>
          <p:cNvPr id="25" name="Text 22"/>
          <p:cNvSpPr txBox="1"/>
          <p:nvPr/>
        </p:nvSpPr>
        <p:spPr>
          <a:xfrm>
            <a:off x="6940296" y="4348475"/>
            <a:ext cx="605699" cy="237744"/>
          </a:xfrm>
          <a:prstGeom prst="rect">
            <a:avLst/>
          </a:prstGeom>
          <a:noFill/>
          <a:ln/>
        </p:spPr>
        <p:txBody>
          <a:bodyPr wrap="square" lIns="0" tIns="0" rIns="0" bIns="0" rtlCol="0" anchor="ctr">
            <a:normAutofit/>
          </a:bodyPr>
          <a:lstStyle/>
          <a:p>
            <a:pPr algn="l" indent="0" marL="0">
              <a:buNone/>
            </a:pPr>
            <a:r>
              <a:rPr lang="en-US" sz="1300" b="1" dirty="0">
                <a:solidFill>
                  <a:srgbClr val="1D4ED8"/>
                </a:solidFill>
                <a:latin typeface="Helvetica Neue" pitchFamily="34" charset="0"/>
                <a:ea typeface="Helvetica Neue" pitchFamily="34" charset="-122"/>
                <a:cs typeface="Helvetica Neue" pitchFamily="34" charset="-120"/>
              </a:rPr>
              <a:t>0</a:t>
            </a:r>
            <a:endParaRPr lang="en-US" sz="1300" dirty="0"/>
          </a:p>
        </p:txBody>
      </p:sp>
      <p:sp>
        <p:nvSpPr>
          <p:cNvPr id="26" name="Text 23"/>
          <p:cNvSpPr txBox="1"/>
          <p:nvPr/>
        </p:nvSpPr>
        <p:spPr>
          <a:xfrm>
            <a:off x="7637435" y="4348475"/>
            <a:ext cx="903061" cy="292608"/>
          </a:xfrm>
          <a:prstGeom prst="rect">
            <a:avLst/>
          </a:prstGeom>
          <a:noFill/>
          <a:ln/>
        </p:spPr>
        <p:txBody>
          <a:bodyPr wrap="square" lIns="0" tIns="0" rIns="0" bIns="0" rtlCol="0" anchor="t">
            <a:normAutofit/>
          </a:bodyPr>
          <a:lstStyle/>
          <a:p>
            <a:pPr algn="l" indent="0" marL="0">
              <a:buNone/>
            </a:pPr>
            <a:r>
              <a:rPr lang="en-US" sz="1500" b="1" dirty="0">
                <a:solidFill>
                  <a:srgbClr val="111827"/>
                </a:solidFill>
                <a:latin typeface="Helvetica Neue" pitchFamily="34" charset="0"/>
                <a:ea typeface="Helvetica Neue" pitchFamily="34" charset="-122"/>
                <a:cs typeface="Helvetica Neue" pitchFamily="34" charset="-120"/>
              </a:rPr>
              <a:t>Ready</a:t>
            </a:r>
            <a:endParaRPr lang="en-US" sz="1500" dirty="0"/>
          </a:p>
        </p:txBody>
      </p:sp>
      <p:sp>
        <p:nvSpPr>
          <p:cNvPr id="27" name="Shape 24"/>
          <p:cNvSpPr/>
          <p:nvPr/>
        </p:nvSpPr>
        <p:spPr>
          <a:xfrm>
            <a:off x="457200" y="4814316"/>
            <a:ext cx="8229600" cy="18288"/>
          </a:xfrm>
          <a:prstGeom prst="rect">
            <a:avLst/>
          </a:prstGeom>
          <a:solidFill>
            <a:srgbClr val="D1D5DB"/>
          </a:solidFill>
          <a:ln w="12700">
            <a:solidFill>
              <a:srgbClr val="FFFFFF"/>
            </a:solidFill>
            <a:prstDash val="solid"/>
          </a:ln>
        </p:spPr>
      </p:sp>
      <p:sp>
        <p:nvSpPr>
          <p:cNvPr id="28" name="Text 25"/>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Strategic Options; W3 option model outputs; week3_strategy.py</a:t>
            </a:r>
            <a:endParaRPr lang="en-US" sz="800" dirty="0"/>
          </a:p>
        </p:txBody>
      </p:sp>
      <p:sp>
        <p:nvSpPr>
          <p:cNvPr id="29" name="Text 26"/>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3/10</a:t>
            </a:r>
            <a:endParaRPr lang="en-US" sz="8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One global spine can preserve local rights while tightening the decision chain</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Common standards and evidence; governed regional/local validation and execution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303569"/>
                <a:gridCol w="2133112"/>
                <a:gridCol w="2488631"/>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Decision-chain layer</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Enterprise responsibility</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Regional / local right and proof</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1 · Standards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Policy, definitions, KPI</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Calendar, restriction, purpose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 · Intake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Govern position and intake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Challenge facts; protect needs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 · Decision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Decide within authority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Block unsafe act; emergency right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4 · Execution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Shared or approved route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Execute locally; retain audit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 · Learn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Govern KPI, controls, value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Own fixes; reconcile outcome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500" b="1" spc="120" kern="0" dirty="0">
                <a:solidFill>
                  <a:srgbClr val="1D4ED8"/>
                </a:solidFill>
                <a:latin typeface="Helvetica Neue" pitchFamily="34" charset="0"/>
                <a:ea typeface="Helvetica Neue" pitchFamily="34" charset="-122"/>
                <a:cs typeface="Helvetica Neue" pitchFamily="34" charset="-120"/>
              </a:rPr>
              <a:t>READOUT</a:t>
            </a:r>
            <a:endParaRPr lang="en-US" sz="1500" dirty="0"/>
          </a:p>
        </p:txBody>
      </p:sp>
      <p:sp>
        <p:nvSpPr>
          <p:cNvPr id="13" name="Text 10"/>
          <p:cNvSpPr txBox="1"/>
          <p:nvPr/>
        </p:nvSpPr>
        <p:spPr>
          <a:xfrm>
            <a:off x="6958584" y="2240280"/>
            <a:ext cx="1581912" cy="1225296"/>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1 · Standards: Policy, definitions, KPI</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2 · Intake: Govern position and intake</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Future-State Operating Model; W3 Future-State Process Map and RACI; W3 Control Inventory</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4/10</a:t>
            </a:r>
            <a:endParaRPr lang="en-US" sz="8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Visibility readiness starts with 55-account control, then a 10-account read-only test</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The cohort tests data reliability; it does not test or value mobility</a:t>
            </a:r>
            <a:endParaRPr lang="en-US" sz="1300" dirty="0"/>
          </a:p>
        </p:txBody>
      </p:sp>
      <p:sp>
        <p:nvSpPr>
          <p:cNvPr id="9" name="Text 7"/>
          <p:cNvSpPr txBox="1"/>
          <p:nvPr/>
        </p:nvSpPr>
        <p:spPr>
          <a:xfrm>
            <a:off x="457200" y="1655064"/>
            <a:ext cx="4005072" cy="219456"/>
          </a:xfrm>
          <a:prstGeom prst="rect">
            <a:avLst/>
          </a:prstGeom>
          <a:noFill/>
          <a:ln/>
        </p:spPr>
        <p:txBody>
          <a:bodyPr wrap="square" lIns="0" tIns="0" rIns="0" bIns="0" rtlCol="0" anchor="t">
            <a:normAutofit/>
          </a:bodyPr>
          <a:lstStyle/>
          <a:p>
            <a:pPr algn="l" indent="0" marL="0">
              <a:buNone/>
            </a:pPr>
            <a:r>
              <a:rPr lang="en-US" sz="1050" b="1" dirty="0">
                <a:solidFill>
                  <a:srgbClr val="111827"/>
                </a:solidFill>
                <a:latin typeface="Helvetica Neue" pitchFamily="34" charset="0"/>
                <a:ea typeface="Helvetica Neue" pitchFamily="34" charset="-122"/>
                <a:cs typeface="Helvetica Neue" pitchFamily="34" charset="-120"/>
              </a:rPr>
              <a:t>Scope and safeguards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938528"/>
          <a:ext cx="4005072" cy="2144268"/>
        </p:xfrm>
        <a:graphic>
          <a:graphicData uri="http://schemas.openxmlformats.org/drawingml/2006/table">
            <a:tbl>
              <a:tblPr/>
              <a:tblGrid>
                <a:gridCol w="720913"/>
                <a:gridCol w="1361724"/>
                <a:gridCol w="1922435"/>
              </a:tblGrid>
              <a:tr h="256032">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Element</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Locked design</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Boundary</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Census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55 accounts / 9,955 account-days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Full source, cutoff, owner, and reconciliation contract first</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Cohort</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10 delayed accounts; 5 spreadsheet + 5 portal</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3 regions, 3 ERPs, 4 banks; purposive only</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Protected</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AC0040: APAC, Payroll, restricted</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Read-only shadow; enhanced review or substitution</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1" name="Text 8"/>
          <p:cNvSpPr txBox="1"/>
          <p:nvPr/>
        </p:nvSpPr>
        <p:spPr>
          <a:xfrm>
            <a:off x="4681728" y="1655064"/>
            <a:ext cx="4005072" cy="219456"/>
          </a:xfrm>
          <a:prstGeom prst="rect">
            <a:avLst/>
          </a:prstGeom>
          <a:noFill/>
          <a:ln/>
        </p:spPr>
        <p:txBody>
          <a:bodyPr wrap="square" lIns="0" tIns="0" rIns="0" bIns="0" rtlCol="0" anchor="t">
            <a:normAutofit/>
          </a:bodyPr>
          <a:lstStyle/>
          <a:p>
            <a:pPr algn="l" indent="0" marL="0">
              <a:buNone/>
            </a:pPr>
            <a:r>
              <a:rPr lang="en-US" sz="1050" b="1" dirty="0">
                <a:solidFill>
                  <a:srgbClr val="111827"/>
                </a:solidFill>
                <a:latin typeface="Helvetica Neue" pitchFamily="34" charset="0"/>
                <a:ea typeface="Helvetica Neue" pitchFamily="34" charset="-122"/>
                <a:cs typeface="Helvetica Neue" pitchFamily="34" charset="-120"/>
              </a:rPr>
              <a:t>Later operating-test gates</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681728" y="1938528"/>
          <a:ext cx="4005072" cy="2144268"/>
        </p:xfrm>
        <a:graphic>
          <a:graphicData uri="http://schemas.openxmlformats.org/drawingml/2006/table">
            <a:tbl>
              <a:tblPr/>
              <a:tblGrid>
                <a:gridCol w="1521927"/>
                <a:gridCol w="2483145"/>
              </a:tblGrid>
              <a:tr h="256032">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Measure</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Condition</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Comparable operation</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Minimum 4 consecutive weeks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Data</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≥95% on-time; 100% reconciled or formally explained</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Service / control</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0 defined critical failures; 0 confirmed breaches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Recovery</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Rollback rehearsed at or below 4 hours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3" name="Shape 9"/>
          <p:cNvSpPr/>
          <p:nvPr/>
        </p:nvSpPr>
        <p:spPr>
          <a:xfrm>
            <a:off x="457200" y="4375404"/>
            <a:ext cx="8229600" cy="384048"/>
          </a:xfrm>
          <a:prstGeom prst="rect">
            <a:avLst/>
          </a:prstGeom>
          <a:solidFill>
            <a:srgbClr val="FFFFFF"/>
          </a:solidFill>
          <a:ln w="6350">
            <a:solidFill>
              <a:srgbClr val="D1D5DB"/>
            </a:solidFill>
            <a:prstDash val="solid"/>
          </a:ln>
        </p:spPr>
      </p:sp>
      <p:sp>
        <p:nvSpPr>
          <p:cNvPr id="14" name="Text 10"/>
          <p:cNvSpPr txBox="1"/>
          <p:nvPr/>
        </p:nvSpPr>
        <p:spPr>
          <a:xfrm>
            <a:off x="566928" y="4457700"/>
            <a:ext cx="8010144" cy="292608"/>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No liquidity, borrowing, cash-release, fee, or capacity KPI is an acceptance measure.</a:t>
            </a:r>
            <a:endParaRPr lang="en-US" sz="1200" dirty="0"/>
          </a:p>
        </p:txBody>
      </p:sp>
      <p:sp>
        <p:nvSpPr>
          <p:cNvPr id="15"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6"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Visibility Pilot Charter; W3 visibility candidate frame; week3_pilot_design.py</a:t>
            </a:r>
            <a:endParaRPr lang="en-US" sz="800" dirty="0"/>
          </a:p>
        </p:txBody>
      </p:sp>
      <p:sp>
        <p:nvSpPr>
          <p:cNvPr id="17"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5/10</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Payment v3 uses 120 paired reviews to diagnose causes</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Four mutually exclusive strata; transparent issue modes and matching deviations</a:t>
            </a:r>
            <a:endParaRPr lang="en-US" sz="1300" dirty="0"/>
          </a:p>
        </p:txBody>
      </p:sp>
      <p:sp>
        <p:nvSpPr>
          <p:cNvPr id="9" name="Text 7"/>
          <p:cNvSpPr txBox="1"/>
          <p:nvPr/>
        </p:nvSpPr>
        <p:spPr>
          <a:xfrm>
            <a:off x="457200" y="1655064"/>
            <a:ext cx="4005072" cy="219456"/>
          </a:xfrm>
          <a:prstGeom prst="rect">
            <a:avLst/>
          </a:prstGeom>
          <a:noFill/>
          <a:ln/>
        </p:spPr>
        <p:txBody>
          <a:bodyPr wrap="square" lIns="0" tIns="0" rIns="0" bIns="0" rtlCol="0" anchor="t">
            <a:normAutofit/>
          </a:bodyPr>
          <a:lstStyle/>
          <a:p>
            <a:pPr algn="l" indent="0" marL="0">
              <a:buNone/>
            </a:pPr>
            <a:r>
              <a:rPr lang="en-US" sz="1050" b="1" dirty="0">
                <a:solidFill>
                  <a:srgbClr val="111827"/>
                </a:solidFill>
                <a:latin typeface="Helvetica Neue" pitchFamily="34" charset="0"/>
                <a:ea typeface="Helvetica Neue" pitchFamily="34" charset="-122"/>
                <a:cs typeface="Helvetica Neue" pitchFamily="34" charset="-120"/>
              </a:rPr>
              <a:t>Sample recipe per stratum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938528"/>
          <a:ext cx="4005072" cy="2144268"/>
        </p:xfrm>
        <a:graphic>
          <a:graphicData uri="http://schemas.openxmlformats.org/drawingml/2006/table">
            <a:tbl>
              <a:tblPr/>
              <a:tblGrid>
                <a:gridCol w="1441826"/>
                <a:gridCol w="560710"/>
                <a:gridCol w="2002536"/>
              </a:tblGrid>
              <a:tr h="256032">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Role</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Count</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Definition</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Exception / status issue</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8</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Exception, Repaired, or Rejected</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Late-only issue</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7</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Late flag without exception/status issue</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Non-issue control</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15</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Flag-negative supplied status Completed</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1" name="Text 8"/>
          <p:cNvSpPr txBox="1"/>
          <p:nvPr/>
        </p:nvSpPr>
        <p:spPr>
          <a:xfrm>
            <a:off x="4681728" y="1655064"/>
            <a:ext cx="4005072" cy="219456"/>
          </a:xfrm>
          <a:prstGeom prst="rect">
            <a:avLst/>
          </a:prstGeom>
          <a:noFill/>
          <a:ln/>
        </p:spPr>
        <p:txBody>
          <a:bodyPr wrap="square" lIns="0" tIns="0" rIns="0" bIns="0" rtlCol="0" anchor="t">
            <a:normAutofit/>
          </a:bodyPr>
          <a:lstStyle/>
          <a:p>
            <a:pPr algn="l" indent="0" marL="0">
              <a:buNone/>
            </a:pPr>
            <a:r>
              <a:rPr lang="en-US" sz="1050" b="1" dirty="0">
                <a:solidFill>
                  <a:srgbClr val="111827"/>
                </a:solidFill>
                <a:latin typeface="Helvetica Neue" pitchFamily="34" charset="0"/>
                <a:ea typeface="Helvetica Neue" pitchFamily="34" charset="-122"/>
                <a:cs typeface="Helvetica Neue" pitchFamily="34" charset="-120"/>
              </a:rPr>
              <a:t>Frame readout</a:t>
            </a:r>
            <a:endParaRPr lang="en-US" sz="10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81728" y="1938528"/>
          <a:ext cx="4005072" cy="2144268"/>
        </p:xfrm>
        <a:graphic>
          <a:graphicData uri="http://schemas.openxmlformats.org/drawingml/2006/table">
            <a:tbl>
              <a:tblPr/>
              <a:tblGrid>
                <a:gridCol w="1441826"/>
                <a:gridCol w="2563246"/>
              </a:tblGrid>
              <a:tr h="256032">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Readout</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950" b="1" dirty="0">
                          <a:solidFill>
                            <a:srgbClr val="FFFFFF"/>
                          </a:solidFill>
                          <a:latin typeface="Helvetica Neue" pitchFamily="34" charset="0"/>
                          <a:ea typeface="Helvetica Neue" pitchFamily="34" charset="-122"/>
                          <a:cs typeface="Helvetica Neue" pitchFamily="34" charset="-120"/>
                        </a:rPr>
                        <a:t>Result</a:t>
                      </a:r>
                      <a:endParaRPr lang="en-US" sz="95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Four strata</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30 each / 120 total</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Matching</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50 exact four-field pairs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Residual imbalance</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10 visible nearest-match deviations</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256032">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Inference</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00" dirty="0">
                          <a:solidFill>
                            <a:srgbClr val="111827"/>
                          </a:solidFill>
                          <a:latin typeface="Helvetica Neue" pitchFamily="34" charset="0"/>
                          <a:ea typeface="Helvetica Neue" pitchFamily="34" charset="-122"/>
                          <a:cs typeface="Helvetica Neue" pitchFamily="34" charset="-120"/>
                        </a:rPr>
                        <a:t>Purposive diagnosis; no prevalence or benefit</a:t>
                      </a:r>
                      <a:endParaRPr lang="en-US" sz="8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3" name="Shape 9"/>
          <p:cNvSpPr/>
          <p:nvPr/>
        </p:nvSpPr>
        <p:spPr>
          <a:xfrm>
            <a:off x="457200" y="4375404"/>
            <a:ext cx="8229600" cy="384048"/>
          </a:xfrm>
          <a:prstGeom prst="rect">
            <a:avLst/>
          </a:prstGeom>
          <a:solidFill>
            <a:srgbClr val="FFFFFF"/>
          </a:solidFill>
          <a:ln w="6350">
            <a:solidFill>
              <a:srgbClr val="D1D5DB"/>
            </a:solidFill>
            <a:prstDash val="solid"/>
          </a:ln>
        </p:spPr>
      </p:sp>
      <p:sp>
        <p:nvSpPr>
          <p:cNvPr id="14" name="Text 10"/>
          <p:cNvSpPr txBox="1"/>
          <p:nvPr/>
        </p:nvSpPr>
        <p:spPr>
          <a:xfrm>
            <a:off x="566928" y="4457700"/>
            <a:ext cx="8010144" cy="292608"/>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Choose an intervention only after evidence-based root-cause coding and a comparable baseline.</a:t>
            </a:r>
            <a:endParaRPr lang="en-US" sz="1200" dirty="0"/>
          </a:p>
        </p:txBody>
      </p:sp>
      <p:sp>
        <p:nvSpPr>
          <p:cNvPr id="15"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6"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Payment Pilot Charter; W3 payment sample frame; W3 pilot model controls</a:t>
            </a:r>
            <a:endParaRPr lang="en-US" sz="800" dirty="0"/>
          </a:p>
        </p:txBody>
      </p:sp>
      <p:sp>
        <p:nvSpPr>
          <p:cNvPr id="17"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6/10</a:t>
            </a:r>
            <a:endParaRPr lang="en-US" sz="8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Four value ledgers stay separate; recognized value remains zero</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Diagnostic quantities are not benefits and cannot be added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185062"/>
                <a:gridCol w="2014606"/>
                <a:gridCol w="1185062"/>
                <a:gridCol w="1540581"/>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Ledger</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Diagnostic quantity</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Recognized today</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Evidence gate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Cash release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$21m / $35m / $46.2m screens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VG01–VG05</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Annual P&amp;L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$3,900 / $7,800 / $7,800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VG06–VG07</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Capacity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50 / 150 / 150 hours/month</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VG08–VG10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Risk</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NOT QUANTIFIED</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 ledger entry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VG11–VG12</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500" b="1" spc="120" kern="0" dirty="0">
                <a:solidFill>
                  <a:srgbClr val="1D4ED8"/>
                </a:solidFill>
                <a:latin typeface="Helvetica Neue" pitchFamily="34" charset="0"/>
                <a:ea typeface="Helvetica Neue" pitchFamily="34" charset="-122"/>
                <a:cs typeface="Helvetica Neue" pitchFamily="34" charset="-120"/>
              </a:rPr>
              <a:t>READOUT</a:t>
            </a:r>
            <a:endParaRPr lang="en-US" sz="1500" dirty="0"/>
          </a:p>
        </p:txBody>
      </p:sp>
      <p:sp>
        <p:nvSpPr>
          <p:cNvPr id="13" name="Text 10"/>
          <p:cNvSpPr txBox="1"/>
          <p:nvPr/>
        </p:nvSpPr>
        <p:spPr>
          <a:xfrm>
            <a:off x="6958584" y="2240280"/>
            <a:ext cx="1581912" cy="1225296"/>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Cash release: $21m / $35m / $46.2m screens</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Annual P&amp;L: $3,900 / $7,800 / $7,800</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Business Case; W3 business-case outputs; W3 Assumptions Register</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7/10</a:t>
            </a:r>
            <a:endParaRPr lang="en-US" sz="8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downside preserves the direction, while ownership and affordability can force a switch</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Falsification before commitment</a:t>
            </a:r>
            <a:endParaRPr lang="en-US" sz="1300" dirty="0"/>
          </a:p>
        </p:txBody>
      </p:sp>
      <p:sp>
        <p:nvSpPr>
          <p:cNvPr id="9" name="Shape 7"/>
          <p:cNvSpPr/>
          <p:nvPr/>
        </p:nvSpPr>
        <p:spPr>
          <a:xfrm>
            <a:off x="4818888" y="1691640"/>
            <a:ext cx="3867912" cy="1811335"/>
          </a:xfrm>
          <a:prstGeom prst="rect">
            <a:avLst/>
          </a:prstGeom>
          <a:solidFill>
            <a:srgbClr val="FFFFFF"/>
          </a:solidFill>
          <a:ln w="8255">
            <a:solidFill>
              <a:srgbClr val="D1D5DB"/>
            </a:solidFill>
            <a:prstDash val="solid"/>
          </a:ln>
        </p:spPr>
      </p:sp>
      <p:sp>
        <p:nvSpPr>
          <p:cNvPr id="10" name="Shape 8"/>
          <p:cNvSpPr/>
          <p:nvPr/>
        </p:nvSpPr>
        <p:spPr>
          <a:xfrm>
            <a:off x="4818888" y="1691640"/>
            <a:ext cx="64008" cy="1811335"/>
          </a:xfrm>
          <a:prstGeom prst="rect">
            <a:avLst/>
          </a:prstGeom>
          <a:solidFill>
            <a:srgbClr val="1D4ED8"/>
          </a:solidFill>
          <a:ln w="12700">
            <a:solidFill>
              <a:srgbClr val="1D4ED8"/>
            </a:solidFill>
            <a:prstDash val="solid"/>
          </a:ln>
        </p:spPr>
      </p:sp>
      <p:sp>
        <p:nvSpPr>
          <p:cNvPr id="11" name="Text 9"/>
          <p:cNvSpPr txBox="1"/>
          <p:nvPr/>
        </p:nvSpPr>
        <p:spPr>
          <a:xfrm>
            <a:off x="4965192" y="2294031"/>
            <a:ext cx="1088136" cy="606552"/>
          </a:xfrm>
          <a:prstGeom prst="rect">
            <a:avLst/>
          </a:prstGeom>
          <a:noFill/>
          <a:ln/>
        </p:spPr>
        <p:txBody>
          <a:bodyPr wrap="square" lIns="0" tIns="0" rIns="0" bIns="0" rtlCol="0" anchor="ctr">
            <a:normAutofit/>
          </a:bodyPr>
          <a:lstStyle/>
          <a:p>
            <a:pPr algn="l" indent="0" marL="0">
              <a:buNone/>
            </a:pPr>
            <a:r>
              <a:rPr lang="en-US" sz="1500" b="1" dirty="0">
                <a:solidFill>
                  <a:srgbClr val="1D4ED8"/>
                </a:solidFill>
                <a:latin typeface="Helvetica Neue" pitchFamily="34" charset="0"/>
                <a:ea typeface="Helvetica Neue" pitchFamily="34" charset="-122"/>
                <a:cs typeface="Helvetica Neue" pitchFamily="34" charset="-120"/>
              </a:rPr>
              <a:t>Direction survives</a:t>
            </a:r>
            <a:endParaRPr lang="en-US" sz="1500" dirty="0"/>
          </a:p>
        </p:txBody>
      </p:sp>
      <p:sp>
        <p:nvSpPr>
          <p:cNvPr id="12" name="Text 10"/>
          <p:cNvSpPr txBox="1"/>
          <p:nvPr/>
        </p:nvSpPr>
        <p:spPr>
          <a:xfrm>
            <a:off x="6163056" y="1837944"/>
            <a:ext cx="2377440" cy="1518727"/>
          </a:xfrm>
          <a:prstGeom prst="rect">
            <a:avLst/>
          </a:prstGeom>
          <a:noFill/>
          <a:ln/>
        </p:spPr>
        <p:txBody>
          <a:bodyPr wrap="square" lIns="0" tIns="0" rIns="0" bIns="0" rtlCol="0" anchor="ctr">
            <a:normAutofit/>
          </a:bodyPr>
          <a:lstStyle/>
          <a:p>
            <a:pPr algn="l" indent="0" marL="0">
              <a:buNone/>
            </a:pPr>
            <a:r>
              <a:rPr lang="en-US" sz="1500" dirty="0">
                <a:solidFill>
                  <a:srgbClr val="111827"/>
                </a:solidFill>
                <a:latin typeface="Helvetica Neue" pitchFamily="34" charset="0"/>
                <a:ea typeface="Helvetica Neue" pitchFamily="34" charset="-122"/>
                <a:cs typeface="Helvetica Neue" pitchFamily="34" charset="-120"/>
              </a:rPr>
              <a:t>• $21m screen; 2 candidates; $3,900; 50 hrs/mo</a:t>
            </a:r>
            <a:endParaRPr lang="en-US" sz="1500" dirty="0"/>
          </a:p>
          <a:p>
            <a:pPr algn="l" indent="0" marL="0">
              <a:buNone/>
            </a:pPr>
            <a:r>
              <a:rPr lang="en-US" sz="1500" dirty="0">
                <a:solidFill>
                  <a:srgbClr val="111827"/>
                </a:solidFill>
                <a:latin typeface="Helvetica Neue" pitchFamily="34" charset="0"/>
                <a:ea typeface="Helvetica Neue" pitchFamily="34" charset="-122"/>
                <a:cs typeface="Helvetica Neue" pitchFamily="34" charset="-120"/>
              </a:rPr>
              <a:t>• Still fits ownership, controls, local rights</a:t>
            </a:r>
            <a:endParaRPr lang="en-US" sz="1500" dirty="0"/>
          </a:p>
          <a:p>
            <a:pPr algn="l" indent="0" marL="0">
              <a:buNone/>
            </a:pPr>
            <a:r>
              <a:rPr lang="en-US" sz="1500" dirty="0">
                <a:solidFill>
                  <a:srgbClr val="111827"/>
                </a:solidFill>
                <a:latin typeface="Helvetica Neue" pitchFamily="34" charset="0"/>
                <a:ea typeface="Helvetica Neue" pitchFamily="34" charset="-122"/>
                <a:cs typeface="Helvetica Neue" pitchFamily="34" charset="-120"/>
              </a:rPr>
              <a:t>• Evidence packages still required</a:t>
            </a:r>
            <a:endParaRPr lang="en-US" sz="1500" dirty="0"/>
          </a:p>
        </p:txBody>
      </p:sp>
      <p:sp>
        <p:nvSpPr>
          <p:cNvPr id="13" name="Shape 11"/>
          <p:cNvSpPr/>
          <p:nvPr/>
        </p:nvSpPr>
        <p:spPr>
          <a:xfrm>
            <a:off x="457200" y="1691640"/>
            <a:ext cx="3867912" cy="1811335"/>
          </a:xfrm>
          <a:prstGeom prst="rect">
            <a:avLst/>
          </a:prstGeom>
          <a:solidFill>
            <a:srgbClr val="FFFFFF"/>
          </a:solidFill>
          <a:ln w="8255">
            <a:solidFill>
              <a:srgbClr val="D1D5DB"/>
            </a:solidFill>
            <a:prstDash val="solid"/>
          </a:ln>
        </p:spPr>
      </p:sp>
      <p:sp>
        <p:nvSpPr>
          <p:cNvPr id="14" name="Shape 12"/>
          <p:cNvSpPr/>
          <p:nvPr/>
        </p:nvSpPr>
        <p:spPr>
          <a:xfrm>
            <a:off x="457200" y="1691640"/>
            <a:ext cx="64008" cy="1811335"/>
          </a:xfrm>
          <a:prstGeom prst="rect">
            <a:avLst/>
          </a:prstGeom>
          <a:solidFill>
            <a:srgbClr val="0891B2"/>
          </a:solidFill>
          <a:ln w="12700">
            <a:solidFill>
              <a:srgbClr val="0891B2"/>
            </a:solidFill>
            <a:prstDash val="solid"/>
          </a:ln>
        </p:spPr>
      </p:sp>
      <p:sp>
        <p:nvSpPr>
          <p:cNvPr id="15" name="Text 13"/>
          <p:cNvSpPr txBox="1"/>
          <p:nvPr/>
        </p:nvSpPr>
        <p:spPr>
          <a:xfrm>
            <a:off x="603504" y="2294031"/>
            <a:ext cx="1088136" cy="606552"/>
          </a:xfrm>
          <a:prstGeom prst="rect">
            <a:avLst/>
          </a:prstGeom>
          <a:noFill/>
          <a:ln/>
        </p:spPr>
        <p:txBody>
          <a:bodyPr wrap="square" lIns="0" tIns="0" rIns="0" bIns="0" rtlCol="0" anchor="ctr">
            <a:normAutofit/>
          </a:bodyPr>
          <a:lstStyle/>
          <a:p>
            <a:pPr algn="l" indent="0" marL="0">
              <a:buNone/>
            </a:pPr>
            <a:r>
              <a:rPr lang="en-US" sz="1500" b="1" dirty="0">
                <a:solidFill>
                  <a:srgbClr val="0891B2"/>
                </a:solidFill>
                <a:latin typeface="Helvetica Neue" pitchFamily="34" charset="0"/>
                <a:ea typeface="Helvetica Neue" pitchFamily="34" charset="-122"/>
                <a:cs typeface="Helvetica Neue" pitchFamily="34" charset="-120"/>
              </a:rPr>
              <a:t>Direction switches</a:t>
            </a:r>
            <a:endParaRPr lang="en-US" sz="1500" dirty="0"/>
          </a:p>
        </p:txBody>
      </p:sp>
      <p:sp>
        <p:nvSpPr>
          <p:cNvPr id="16" name="Text 14"/>
          <p:cNvSpPr txBox="1"/>
          <p:nvPr/>
        </p:nvSpPr>
        <p:spPr>
          <a:xfrm>
            <a:off x="1801368" y="1837944"/>
            <a:ext cx="2377440" cy="1518727"/>
          </a:xfrm>
          <a:prstGeom prst="rect">
            <a:avLst/>
          </a:prstGeom>
          <a:noFill/>
          <a:ln/>
        </p:spPr>
        <p:txBody>
          <a:bodyPr wrap="square" lIns="0" tIns="0" rIns="0" bIns="0" rtlCol="0" anchor="ctr">
            <a:normAutofit/>
          </a:bodyPr>
          <a:lstStyle/>
          <a:p>
            <a:pPr algn="l" indent="0" marL="0">
              <a:buNone/>
            </a:pPr>
            <a:r>
              <a:rPr lang="en-US" sz="1500" dirty="0">
                <a:solidFill>
                  <a:srgbClr val="111827"/>
                </a:solidFill>
                <a:latin typeface="Helvetica Neue" pitchFamily="34" charset="0"/>
                <a:ea typeface="Helvetica Neue" pitchFamily="34" charset="-122"/>
                <a:cs typeface="Helvetica Neue" pitchFamily="34" charset="-120"/>
              </a:rPr>
              <a:t>• Switch to local: ownership or affordability</a:t>
            </a:r>
            <a:endParaRPr lang="en-US" sz="1500" dirty="0"/>
          </a:p>
          <a:p>
            <a:pPr algn="l" indent="0" marL="0">
              <a:buNone/>
            </a:pPr>
            <a:r>
              <a:rPr lang="en-US" sz="1500" dirty="0">
                <a:solidFill>
                  <a:srgbClr val="111827"/>
                </a:solidFill>
                <a:latin typeface="Helvetica Neue" pitchFamily="34" charset="0"/>
                <a:ea typeface="Helvetica Neue" pitchFamily="34" charset="-122"/>
                <a:cs typeface="Helvetica Neue" pitchFamily="34" charset="-120"/>
              </a:rPr>
              <a:t>• Reconsider global only after gates close</a:t>
            </a:r>
            <a:endParaRPr lang="en-US" sz="1500" dirty="0"/>
          </a:p>
          <a:p>
            <a:pPr algn="l" indent="0" marL="0">
              <a:buNone/>
            </a:pPr>
            <a:r>
              <a:rPr lang="en-US" sz="1500" dirty="0">
                <a:solidFill>
                  <a:srgbClr val="111827"/>
                </a:solidFill>
                <a:latin typeface="Helvetica Neue" pitchFamily="34" charset="0"/>
                <a:ea typeface="Helvetica Neue" pitchFamily="34" charset="-122"/>
                <a:cs typeface="Helvetica Neue" pitchFamily="34" charset="-120"/>
              </a:rPr>
              <a:t>• Drop options failing a gate</a:t>
            </a:r>
            <a:endParaRPr lang="en-US" sz="1500" dirty="0"/>
          </a:p>
        </p:txBody>
      </p:sp>
      <p:sp>
        <p:nvSpPr>
          <p:cNvPr id="17" name="Shape 15"/>
          <p:cNvSpPr/>
          <p:nvPr/>
        </p:nvSpPr>
        <p:spPr>
          <a:xfrm>
            <a:off x="457200" y="3736696"/>
            <a:ext cx="8229600" cy="701162"/>
          </a:xfrm>
          <a:prstGeom prst="rect">
            <a:avLst/>
          </a:prstGeom>
          <a:solidFill>
            <a:srgbClr val="0F172A"/>
          </a:solidFill>
          <a:ln w="8255">
            <a:solidFill>
              <a:srgbClr val="0891B2"/>
            </a:solidFill>
            <a:prstDash val="solid"/>
          </a:ln>
        </p:spPr>
      </p:sp>
      <p:sp>
        <p:nvSpPr>
          <p:cNvPr id="18" name="Text 16"/>
          <p:cNvSpPr txBox="1"/>
          <p:nvPr/>
        </p:nvSpPr>
        <p:spPr>
          <a:xfrm>
            <a:off x="548640" y="3809848"/>
            <a:ext cx="8046720" cy="55485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A conditional design direction only; validated value is $0 and cost is unavailable.</a:t>
            </a:r>
            <a:endParaRPr lang="en-US" sz="1500" dirty="0"/>
          </a:p>
        </p:txBody>
      </p:sp>
      <p:sp>
        <p:nvSpPr>
          <p:cNvPr id="19" name="Shape 17"/>
          <p:cNvSpPr/>
          <p:nvPr/>
        </p:nvSpPr>
        <p:spPr>
          <a:xfrm>
            <a:off x="457200" y="4814316"/>
            <a:ext cx="8229600" cy="18288"/>
          </a:xfrm>
          <a:prstGeom prst="rect">
            <a:avLst/>
          </a:prstGeom>
          <a:solidFill>
            <a:srgbClr val="D1D5DB"/>
          </a:solidFill>
          <a:ln w="12700">
            <a:solidFill>
              <a:srgbClr val="FFFFFF"/>
            </a:solidFill>
            <a:prstDash val="solid"/>
          </a:ln>
        </p:spPr>
      </p:sp>
      <p:sp>
        <p:nvSpPr>
          <p:cNvPr id="20" name="Text 18"/>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720" dirty="0">
                <a:solidFill>
                  <a:srgbClr val="4B5563"/>
                </a:solidFill>
                <a:latin typeface="Helvetica Neue" pitchFamily="34" charset="0"/>
                <a:ea typeface="Helvetica Neue" pitchFamily="34" charset="-122"/>
                <a:cs typeface="Helvetica Neue" pitchFamily="34" charset="-120"/>
              </a:rPr>
              <a:t>Sources: W3 Business Case — manager challenge; W3 Strategic Options — switching conditions; W3 scenario and sensitivity outputs</a:t>
            </a:r>
            <a:endParaRPr lang="en-US" sz="720" dirty="0"/>
          </a:p>
        </p:txBody>
      </p:sp>
      <p:sp>
        <p:nvSpPr>
          <p:cNvPr id="21" name="Text 19"/>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8/10</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Five owner-led evidence packages now gate launch and funding</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Model controls can pass while client evidence remains open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185062"/>
                <a:gridCol w="1481328"/>
                <a:gridCol w="2547884"/>
                <a:gridCol w="711037"/>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Open package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Accountable owner(s)</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Required evidence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Status</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Data / metric</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Treasurer; CIO</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Population, source, cutoff, lineage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Local rights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Treasury; Regional; Legal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Restriction, purpose, transferability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Controls / cyber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Control owner; Cyber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Authorization, SoD, access, audit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Service / resilience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BU; Shared Services; CIO</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Critical flows, blackout, ≤4h rollback</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Cost / recognition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Finance; Procurement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CR01–CR10; VG01–VG12; attribution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BLOCKED</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500" b="1" spc="120" kern="0" dirty="0">
                <a:solidFill>
                  <a:srgbClr val="1D4ED8"/>
                </a:solidFill>
                <a:latin typeface="Helvetica Neue" pitchFamily="34" charset="0"/>
                <a:ea typeface="Helvetica Neue" pitchFamily="34" charset="-122"/>
                <a:cs typeface="Helvetica Neue" pitchFamily="34" charset="-120"/>
              </a:rPr>
              <a:t>READOUT</a:t>
            </a:r>
            <a:endParaRPr lang="en-US" sz="1500" dirty="0"/>
          </a:p>
        </p:txBody>
      </p:sp>
      <p:sp>
        <p:nvSpPr>
          <p:cNvPr id="13" name="Text 10"/>
          <p:cNvSpPr txBox="1"/>
          <p:nvPr/>
        </p:nvSpPr>
        <p:spPr>
          <a:xfrm>
            <a:off x="6958584" y="2240280"/>
            <a:ext cx="1581912" cy="1045464"/>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Data / metric: Treasurer; CIO</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Local rights: Treasury; Regional; Legal</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Control Inventory; W3 Assumptions Register; W3 cost and model-control outputs</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9/10</a:t>
            </a:r>
            <a:endParaRPr lang="en-US" sz="8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Use 90 days to make the next decision evidence-ready, then return for go/no-go</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Evidence mobilization only; time does not override an open gate</a:t>
            </a:r>
            <a:endParaRPr lang="en-US" sz="1300" dirty="0"/>
          </a:p>
        </p:txBody>
      </p:sp>
      <p:sp>
        <p:nvSpPr>
          <p:cNvPr id="9" name="Shape 7"/>
          <p:cNvSpPr/>
          <p:nvPr/>
        </p:nvSpPr>
        <p:spPr>
          <a:xfrm>
            <a:off x="457200" y="1801368"/>
            <a:ext cx="8229600" cy="561213"/>
          </a:xfrm>
          <a:prstGeom prst="rect">
            <a:avLst/>
          </a:prstGeom>
          <a:solidFill>
            <a:srgbClr val="F8FAFC"/>
          </a:solidFill>
          <a:ln w="9525">
            <a:solidFill>
              <a:srgbClr val="D1D5DB"/>
            </a:solidFill>
            <a:prstDash val="solid"/>
          </a:ln>
        </p:spPr>
      </p:sp>
      <p:sp>
        <p:nvSpPr>
          <p:cNvPr id="10" name="Shape 8"/>
          <p:cNvSpPr/>
          <p:nvPr/>
        </p:nvSpPr>
        <p:spPr>
          <a:xfrm>
            <a:off x="457200" y="1801368"/>
            <a:ext cx="73152" cy="561213"/>
          </a:xfrm>
          <a:prstGeom prst="rect">
            <a:avLst/>
          </a:prstGeom>
          <a:solidFill>
            <a:srgbClr val="1D4ED8"/>
          </a:solidFill>
          <a:ln w="12700">
            <a:solidFill>
              <a:srgbClr val="1D4ED8"/>
            </a:solidFill>
            <a:prstDash val="solid"/>
          </a:ln>
        </p:spPr>
      </p:sp>
      <p:sp>
        <p:nvSpPr>
          <p:cNvPr id="11" name="Text 9"/>
          <p:cNvSpPr txBox="1"/>
          <p:nvPr/>
        </p:nvSpPr>
        <p:spPr>
          <a:xfrm>
            <a:off x="658368" y="1947672"/>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DECISION DAY</a:t>
            </a:r>
            <a:endParaRPr lang="en-US" sz="800" dirty="0"/>
          </a:p>
        </p:txBody>
      </p:sp>
      <p:sp>
        <p:nvSpPr>
          <p:cNvPr id="12" name="Text 10"/>
          <p:cNvSpPr txBox="1"/>
          <p:nvPr/>
        </p:nvSpPr>
        <p:spPr>
          <a:xfrm>
            <a:off x="1755648" y="1892808"/>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Align and assign</a:t>
            </a:r>
            <a:endParaRPr lang="en-US" sz="1140" dirty="0"/>
          </a:p>
        </p:txBody>
      </p:sp>
      <p:sp>
        <p:nvSpPr>
          <p:cNvPr id="13" name="Text 11"/>
          <p:cNvSpPr txBox="1"/>
          <p:nvPr/>
        </p:nvSpPr>
        <p:spPr>
          <a:xfrm>
            <a:off x="3950208" y="1911096"/>
            <a:ext cx="4590288" cy="360045"/>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Confirm direction, owners, fallback, and the no-execution boundary.</a:t>
            </a:r>
            <a:endParaRPr lang="en-US" sz="880" dirty="0"/>
          </a:p>
        </p:txBody>
      </p:sp>
      <p:sp>
        <p:nvSpPr>
          <p:cNvPr id="14" name="Shape 12"/>
          <p:cNvSpPr/>
          <p:nvPr/>
        </p:nvSpPr>
        <p:spPr>
          <a:xfrm>
            <a:off x="457200" y="2508885"/>
            <a:ext cx="8229600" cy="561213"/>
          </a:xfrm>
          <a:prstGeom prst="rect">
            <a:avLst/>
          </a:prstGeom>
          <a:solidFill>
            <a:srgbClr val="FFFFFF"/>
          </a:solidFill>
          <a:ln w="9525">
            <a:solidFill>
              <a:srgbClr val="D1D5DB"/>
            </a:solidFill>
            <a:prstDash val="solid"/>
          </a:ln>
        </p:spPr>
      </p:sp>
      <p:sp>
        <p:nvSpPr>
          <p:cNvPr id="15" name="Shape 13"/>
          <p:cNvSpPr/>
          <p:nvPr/>
        </p:nvSpPr>
        <p:spPr>
          <a:xfrm>
            <a:off x="457200" y="2508885"/>
            <a:ext cx="73152" cy="561213"/>
          </a:xfrm>
          <a:prstGeom prst="rect">
            <a:avLst/>
          </a:prstGeom>
          <a:solidFill>
            <a:srgbClr val="0891B2"/>
          </a:solidFill>
          <a:ln w="12700">
            <a:solidFill>
              <a:srgbClr val="0891B2"/>
            </a:solidFill>
            <a:prstDash val="solid"/>
          </a:ln>
        </p:spPr>
      </p:sp>
      <p:sp>
        <p:nvSpPr>
          <p:cNvPr id="16" name="Text 14"/>
          <p:cNvSpPr txBox="1"/>
          <p:nvPr/>
        </p:nvSpPr>
        <p:spPr>
          <a:xfrm>
            <a:off x="658368" y="2655189"/>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DAYS 1–30</a:t>
            </a:r>
            <a:endParaRPr lang="en-US" sz="800" dirty="0"/>
          </a:p>
        </p:txBody>
      </p:sp>
      <p:sp>
        <p:nvSpPr>
          <p:cNvPr id="17" name="Text 15"/>
          <p:cNvSpPr txBox="1"/>
          <p:nvPr/>
        </p:nvSpPr>
        <p:spPr>
          <a:xfrm>
            <a:off x="1755648" y="2600325"/>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Reconcile and define</a:t>
            </a:r>
            <a:endParaRPr lang="en-US" sz="1140" dirty="0"/>
          </a:p>
        </p:txBody>
      </p:sp>
      <p:sp>
        <p:nvSpPr>
          <p:cNvPr id="18" name="Text 16"/>
          <p:cNvSpPr txBox="1"/>
          <p:nvPr/>
        </p:nvSpPr>
        <p:spPr>
          <a:xfrm>
            <a:off x="3950208" y="2618613"/>
            <a:ext cx="4590288" cy="360045"/>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Control the 55-account and 7,600-record populations; lock definitions and sources.</a:t>
            </a:r>
            <a:endParaRPr lang="en-US" sz="880" dirty="0"/>
          </a:p>
        </p:txBody>
      </p:sp>
      <p:sp>
        <p:nvSpPr>
          <p:cNvPr id="19" name="Shape 17"/>
          <p:cNvSpPr/>
          <p:nvPr/>
        </p:nvSpPr>
        <p:spPr>
          <a:xfrm>
            <a:off x="457200" y="3216402"/>
            <a:ext cx="8229600" cy="561213"/>
          </a:xfrm>
          <a:prstGeom prst="rect">
            <a:avLst/>
          </a:prstGeom>
          <a:solidFill>
            <a:srgbClr val="F8FAFC"/>
          </a:solidFill>
          <a:ln w="9525">
            <a:solidFill>
              <a:srgbClr val="D1D5DB"/>
            </a:solidFill>
            <a:prstDash val="solid"/>
          </a:ln>
        </p:spPr>
      </p:sp>
      <p:sp>
        <p:nvSpPr>
          <p:cNvPr id="20" name="Shape 18"/>
          <p:cNvSpPr/>
          <p:nvPr/>
        </p:nvSpPr>
        <p:spPr>
          <a:xfrm>
            <a:off x="457200" y="3216402"/>
            <a:ext cx="73152" cy="561213"/>
          </a:xfrm>
          <a:prstGeom prst="rect">
            <a:avLst/>
          </a:prstGeom>
          <a:solidFill>
            <a:srgbClr val="1D4ED8"/>
          </a:solidFill>
          <a:ln w="12700">
            <a:solidFill>
              <a:srgbClr val="1D4ED8"/>
            </a:solidFill>
            <a:prstDash val="solid"/>
          </a:ln>
        </p:spPr>
      </p:sp>
      <p:sp>
        <p:nvSpPr>
          <p:cNvPr id="21" name="Text 19"/>
          <p:cNvSpPr txBox="1"/>
          <p:nvPr/>
        </p:nvSpPr>
        <p:spPr>
          <a:xfrm>
            <a:off x="658368" y="3362706"/>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DAYS 31–60</a:t>
            </a:r>
            <a:endParaRPr lang="en-US" sz="800" dirty="0"/>
          </a:p>
        </p:txBody>
      </p:sp>
      <p:sp>
        <p:nvSpPr>
          <p:cNvPr id="22" name="Text 20"/>
          <p:cNvSpPr txBox="1"/>
          <p:nvPr/>
        </p:nvSpPr>
        <p:spPr>
          <a:xfrm>
            <a:off x="1755648" y="3307842"/>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Certify and cost</a:t>
            </a:r>
            <a:endParaRPr lang="en-US" sz="1140" dirty="0"/>
          </a:p>
        </p:txBody>
      </p:sp>
      <p:sp>
        <p:nvSpPr>
          <p:cNvPr id="23" name="Text 21"/>
          <p:cNvSpPr txBox="1"/>
          <p:nvPr/>
        </p:nvSpPr>
        <p:spPr>
          <a:xfrm>
            <a:off x="3950208" y="3326130"/>
            <a:ext cx="4590288" cy="360045"/>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Complete local, control, and cost review; rehearse rollback safely.</a:t>
            </a:r>
            <a:endParaRPr lang="en-US" sz="880" dirty="0"/>
          </a:p>
        </p:txBody>
      </p:sp>
      <p:sp>
        <p:nvSpPr>
          <p:cNvPr id="24" name="Shape 22"/>
          <p:cNvSpPr/>
          <p:nvPr/>
        </p:nvSpPr>
        <p:spPr>
          <a:xfrm>
            <a:off x="457200" y="3923919"/>
            <a:ext cx="8229600" cy="561213"/>
          </a:xfrm>
          <a:prstGeom prst="rect">
            <a:avLst/>
          </a:prstGeom>
          <a:solidFill>
            <a:srgbClr val="FFFFFF"/>
          </a:solidFill>
          <a:ln w="9525">
            <a:solidFill>
              <a:srgbClr val="D1D5DB"/>
            </a:solidFill>
            <a:prstDash val="solid"/>
          </a:ln>
        </p:spPr>
      </p:sp>
      <p:sp>
        <p:nvSpPr>
          <p:cNvPr id="25" name="Shape 23"/>
          <p:cNvSpPr/>
          <p:nvPr/>
        </p:nvSpPr>
        <p:spPr>
          <a:xfrm>
            <a:off x="457200" y="3923919"/>
            <a:ext cx="73152" cy="561213"/>
          </a:xfrm>
          <a:prstGeom prst="rect">
            <a:avLst/>
          </a:prstGeom>
          <a:solidFill>
            <a:srgbClr val="0891B2"/>
          </a:solidFill>
          <a:ln w="12700">
            <a:solidFill>
              <a:srgbClr val="0891B2"/>
            </a:solidFill>
            <a:prstDash val="solid"/>
          </a:ln>
        </p:spPr>
      </p:sp>
      <p:sp>
        <p:nvSpPr>
          <p:cNvPr id="26" name="Text 24"/>
          <p:cNvSpPr txBox="1"/>
          <p:nvPr/>
        </p:nvSpPr>
        <p:spPr>
          <a:xfrm>
            <a:off x="658368" y="4070223"/>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DAYS 61–90</a:t>
            </a:r>
            <a:endParaRPr lang="en-US" sz="800" dirty="0"/>
          </a:p>
        </p:txBody>
      </p:sp>
      <p:sp>
        <p:nvSpPr>
          <p:cNvPr id="27" name="Text 25"/>
          <p:cNvSpPr txBox="1"/>
          <p:nvPr/>
        </p:nvSpPr>
        <p:spPr>
          <a:xfrm>
            <a:off x="1755648" y="4015359"/>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Lock and decide</a:t>
            </a:r>
            <a:endParaRPr lang="en-US" sz="1140" dirty="0"/>
          </a:p>
        </p:txBody>
      </p:sp>
      <p:sp>
        <p:nvSpPr>
          <p:cNvPr id="28" name="Text 26"/>
          <p:cNvSpPr txBox="1"/>
          <p:nvPr/>
        </p:nvSpPr>
        <p:spPr>
          <a:xfrm>
            <a:off x="3950208" y="4033647"/>
            <a:ext cx="4590288" cy="360045"/>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Lock baselines; return with stop, extend, or a later bounded pilot.</a:t>
            </a:r>
            <a:endParaRPr lang="en-US" sz="880" dirty="0"/>
          </a:p>
        </p:txBody>
      </p:sp>
      <p:sp>
        <p:nvSpPr>
          <p:cNvPr id="29" name="Shape 27"/>
          <p:cNvSpPr/>
          <p:nvPr/>
        </p:nvSpPr>
        <p:spPr>
          <a:xfrm>
            <a:off x="457200" y="4814316"/>
            <a:ext cx="8229600" cy="18288"/>
          </a:xfrm>
          <a:prstGeom prst="rect">
            <a:avLst/>
          </a:prstGeom>
          <a:solidFill>
            <a:srgbClr val="D1D5DB"/>
          </a:solidFill>
          <a:ln w="12700">
            <a:solidFill>
              <a:srgbClr val="FFFFFF"/>
            </a:solidFill>
            <a:prstDash val="solid"/>
          </a:ln>
        </p:spPr>
      </p:sp>
      <p:sp>
        <p:nvSpPr>
          <p:cNvPr id="30" name="Text 28"/>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Future-State Operating Model; W3 pilot charters; W3 Business Case and Strategic Options</a:t>
            </a:r>
            <a:endParaRPr lang="en-US" sz="800" dirty="0"/>
          </a:p>
        </p:txBody>
      </p:sp>
      <p:sp>
        <p:nvSpPr>
          <p:cNvPr id="31" name="Text 29"/>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10/10</a:t>
            </a:r>
            <a:endParaRPr lang="en-US" sz="840" dirty="0"/>
          </a:p>
        </p:txBody>
      </p:sp>
      <p:sp>
        <p:nvSpPr>
          <p:cNvPr id="33" name="Shape 30"/>
          <p:cNvSpPr/>
          <p:nvPr/>
        </p:nvSpPr>
        <p:spPr>
          <a:xfrm>
            <a:off x="457200" y="4338828"/>
            <a:ext cx="8229600" cy="402336"/>
          </a:xfrm>
          <a:prstGeom prst="rect">
            <a:avLst/>
          </a:prstGeom>
          <a:solidFill>
            <a:srgbClr val="FFFFFF"/>
          </a:solidFill>
          <a:ln w="6985">
            <a:solidFill>
              <a:srgbClr val="D1D5DB"/>
            </a:solidFill>
            <a:prstDash val="solid"/>
          </a:ln>
        </p:spPr>
      </p:sp>
      <p:sp>
        <p:nvSpPr>
          <p:cNvPr id="34" name="Shape 31"/>
          <p:cNvSpPr/>
          <p:nvPr/>
        </p:nvSpPr>
        <p:spPr>
          <a:xfrm>
            <a:off x="457200" y="4338828"/>
            <a:ext cx="50292" cy="402336"/>
          </a:xfrm>
          <a:prstGeom prst="rect">
            <a:avLst/>
          </a:prstGeom>
          <a:solidFill>
            <a:srgbClr val="1D4ED8"/>
          </a:solidFill>
          <a:ln w="12700">
            <a:solidFill>
              <a:srgbClr val="1D4ED8"/>
            </a:solidFill>
            <a:prstDash val="solid"/>
          </a:ln>
        </p:spPr>
      </p:sp>
      <p:sp>
        <p:nvSpPr>
          <p:cNvPr id="35" name="Text 32"/>
          <p:cNvSpPr txBox="1"/>
          <p:nvPr/>
        </p:nvSpPr>
        <p:spPr>
          <a:xfrm>
            <a:off x="585216" y="4393692"/>
            <a:ext cx="7973568" cy="292608"/>
          </a:xfrm>
          <a:prstGeom prst="rect">
            <a:avLst/>
          </a:prstGeom>
          <a:noFill/>
          <a:ln/>
        </p:spPr>
        <p:txBody>
          <a:bodyPr wrap="square" lIns="0" tIns="0" rIns="0" bIns="0" rtlCol="0" anchor="ctr">
            <a:normAutofit/>
          </a:bodyPr>
          <a:lstStyle/>
          <a:p>
            <a:pPr algn="l" indent="0" marL="0">
              <a:buNone/>
            </a:pPr>
            <a:r>
              <a:rPr lang="en-US" sz="920" b="1" dirty="0">
                <a:solidFill>
                  <a:srgbClr val="111827"/>
                </a:solidFill>
                <a:latin typeface="Helvetica Neue" pitchFamily="34" charset="0"/>
                <a:ea typeface="Helvetica Neue" pitchFamily="34" charset="-122"/>
                <a:cs typeface="Helvetica Neue" pitchFamily="34" charset="-120"/>
              </a:rPr>
              <a:t>Decisions now: endorse direction · assign owners · approve the evidence timebox. All launch, spend, value, and scale decisions are reserved.</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Northstar — Week 3 Interim Steering Review</dc:title>
  <dc:subject>Choose a direction for evidence mobilization; do not authorize execution</dc:subject>
  <dc:creator>PptxGenJS</dc:creator>
  <cp:lastModifiedBy>PptxGenJS</cp:lastModifiedBy>
  <cp:revision>1</cp:revision>
  <dcterms:created xsi:type="dcterms:W3CDTF">2026-08-19T08:11:33Z</dcterms:created>
  <dcterms:modified xsi:type="dcterms:W3CDTF">2026-08-19T08:11:33Z</dcterms:modified>
</cp:coreProperties>
</file>