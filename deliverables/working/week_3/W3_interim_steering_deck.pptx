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score</c:v>
                </c:pt>
              </c:strCache>
            </c:strRef>
          </c:tx>
          <c:dPt>
            <c:idx val="0"/>
            <c:spPr>
              <a:solidFill>
                <a:srgbClr val="2E7180"/>
              </a:solidFill>
              <a:ln>
                <a:noFill/>
              </a:ln>
            </c:spPr>
          </c:dPt>
          <c:dPt>
            <c:idx val="1"/>
            <c:spPr>
              <a:solidFill>
                <a:srgbClr val="1F515C"/>
              </a:solidFill>
              <a:ln>
                <a:noFill/>
              </a:ln>
            </c:spPr>
          </c:dPt>
          <c:dPt>
            <c:idx val="2"/>
            <c:spPr>
              <a:solidFill>
                <a:srgbClr val="A2A6AA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Local</c:v>
                </c:pt>
                <c:pt idx="1">
                  <c:v>Federated</c:v>
                </c:pt>
                <c:pt idx="2">
                  <c:v>Global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87</c:v>
                </c:pt>
                <c:pt idx="2">
                  <c:v>60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1D2D3D"/>
                  </a:solidFill>
                  <a:latin typeface="Barlow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0D1"/>
            </a:solidFill>
          </a:ln>
        </c:spPr>
        <c:txPr>
          <a:bodyPr/>
          <a:lstStyle/>
          <a:p>
            <a:pPr>
              <a:defRPr sz="850">
                <a:solidFill>
                  <a:srgbClr val="1D1F20"/>
                </a:solidFill>
                <a:latin typeface="Barlow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E1E1E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A2A6AA"/>
                </a:solidFill>
                <a:latin typeface="Barlow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PROJECT NORTHSTAR — WEEK 3 INTERIM STEERING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01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Advance federated design—not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16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282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16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282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29044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28702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29044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28702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20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29083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33400" y="14605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6256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87</a:t>
            </a:r>
            <a:r>
              <a:rPr sz="1000" b="1">
                <a:solidFill>
                  <a:srgbClr val="1D1F20"/>
                </a:solidFill>
                <a:latin typeface="Barlow"/>
              </a:rPr>
              <a:t>  federated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2108200"/>
            <a:ext cx="248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Against 72 local and 60 global. A design direction, not confidence, value, or readiness.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5000" y="1397000"/>
            <a:ext cx="7620" cy="14351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327400" y="14605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RECOGNIZED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7400" y="16256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$0</a:t>
            </a:r>
            <a:r>
              <a:rPr sz="1000" b="1">
                <a:solidFill>
                  <a:srgbClr val="1D1F20"/>
                </a:solidFill>
                <a:latin typeface="Barlow"/>
              </a:rPr>
              <a:t>  today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27400" y="2108200"/>
            <a:ext cx="1422400" cy="165100"/>
          </a:xfrm>
          <a:prstGeom prst="rect">
            <a:avLst/>
          </a:prstGeom>
          <a:solidFill>
            <a:srgbClr val="F3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0900" y="2146300"/>
            <a:ext cx="2362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spc="120">
                <a:solidFill>
                  <a:srgbClr val="8A5E1E"/>
                </a:solidFill>
                <a:latin typeface="Barlow"/>
              </a:rPr>
              <a:t>RISK NOT QUANTIFIED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7400" y="2336800"/>
            <a:ext cx="24892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Cash, P&amp;L, and capacity each recognize nothing. Cost, ROI, NPV, and payback are unavailable.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69000" y="1397000"/>
            <a:ext cx="7620" cy="14351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21400" y="14605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EVIDENCE 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1400" y="16256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7</a:t>
            </a:r>
            <a:r>
              <a:rPr sz="1000" b="1">
                <a:solidFill>
                  <a:srgbClr val="1D1F20"/>
                </a:solidFill>
                <a:latin typeface="Barlow"/>
              </a:rPr>
              <a:t>  open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1400" y="2108200"/>
            <a:ext cx="248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Every execution-evidence gate remains open. None is closed by this pack.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3136900"/>
            <a:ext cx="330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DECISIONS REQUESTED TODAY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33782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81000" y="33972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100" y="33718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Endorse federated coordination as the provisional direction, with local stabilization as the fallback.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36703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81000" y="36893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3100" y="36639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Confirm accountable owners for data, mobility, payments, controls, service, cost, and benefits.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39624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81000" y="39814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100" y="39560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Approve a 90-day evidence timebox and reserve every launch, spend, value, and scale decision.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GOVERNING MESSAGE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ACG has enough evidence to choose a design direction—not enough to authorize execution or book value.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strategic options; W3 future-state operating model; W3 business case; W3 decision log.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DIAGNOSTIC CARRY-FORWARD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02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The evidence points to concentrated friction, not a proven benefit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Week 2 readouts define where to investigate—and where inference must stop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DIAGNOSTIC READOUT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2336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6400" y="1778000"/>
            <a:ext cx="22555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SUPPORTS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778000"/>
            <a:ext cx="32308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DOES NOT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2006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23 / 55 accounts delayed; portal and spreadsheet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6400" y="2006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Targeting source and timestamp controls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006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Start-of-day performance, or a cause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336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387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$38.13m 14-day liquidity screen at 30 June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6400" y="2387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Testing mobility and buffer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2387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Cash, surplus, or transfer authority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2717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2768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7,600-record extract; 2,839-record priority union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400" y="2768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Bounding a payment diagnostic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768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 certified ACG-wide population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3098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8000" y="3149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356 exceptions; 14,939 repair minutes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46400" y="3149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Prioritizing root-cause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149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Cause, removal, P&amp;L, or headcount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810000"/>
            <a:ext cx="8382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Reporting-date delay is a proxy, and association is not causation. $38.13m is a screen, not cash.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IMPLICATION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The next decision is how to close evidence gaps safely—not how much value to book.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W2 findings F07–F11; W2 metric contract; W2 processed diagnostics.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STRATEGIC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03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Federated leads at 87—subject to seven open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Directional option score; not confidence, value, or execution readiness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3682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7111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3682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07111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69392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69392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44399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WEIGHTED SCORE / 100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57200" y="1752600"/>
          <a:ext cx="4541520" cy="1981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53721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063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721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4063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410200" y="1447800"/>
            <a:ext cx="33528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410200" y="3810000"/>
            <a:ext cx="33528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537200" y="1562100"/>
            <a:ext cx="3098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READOUT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7200" y="1803400"/>
            <a:ext cx="31750" cy="508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689600" y="1765300"/>
            <a:ext cx="533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D2D3D"/>
                </a:solidFill>
                <a:latin typeface="Barlow Condense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1816100"/>
            <a:ext cx="23114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D1F20"/>
                </a:solidFill>
                <a:latin typeface="Barlow"/>
              </a:rPr>
              <a:t>Declared sensitivity cases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A2A6AA"/>
                </a:solidFill>
                <a:latin typeface="Barlow"/>
              </a:rPr>
              <a:t>Federated leads every case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37200" y="2413000"/>
            <a:ext cx="31750" cy="508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689600" y="2374900"/>
            <a:ext cx="533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D2D3D"/>
                </a:solidFill>
                <a:latin typeface="Barlow Condense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2425700"/>
            <a:ext cx="23114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D1F20"/>
                </a:solidFill>
                <a:latin typeface="Barlow"/>
              </a:rPr>
              <a:t>Non-compensating gates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A2A6AA"/>
                </a:solidFill>
                <a:latin typeface="Barlow"/>
              </a:rPr>
              <a:t>All remain open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37200" y="3022600"/>
            <a:ext cx="31750" cy="508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689600" y="2984500"/>
            <a:ext cx="533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D2D3D"/>
                </a:solidFill>
                <a:latin typeface="Barlow Condensed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35300"/>
            <a:ext cx="23114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D1F20"/>
                </a:solidFill>
                <a:latin typeface="Barlow"/>
              </a:rPr>
              <a:t>Execution-ready options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A2A6AA"/>
                </a:solidFill>
                <a:latin typeface="Barlow"/>
              </a:rPr>
              <a:t>Design discussion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ASK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Advance federated detailed design, retain local stabilization as the fallback, and hold global coordination pending evidence.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strategic options; W3 option model outputs; src/week3_strategy.py.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FUTURE-STATE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One global spine can preserve local rights while tightening the decision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Common standards and evidence; governed regional and local validation and execution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DECISION 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6160" y="1778000"/>
            <a:ext cx="29057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ENTERPRISE RESPONSIBILITY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778000"/>
            <a:ext cx="32308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REGIONAL / LOCAL RIGHT AND PROOF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20066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 ·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96160" y="20066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Treasury sets policy, definitions, and 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0066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Local calendar, restriction, and purpose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3241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3749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2 · Position / intake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96160" y="23749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Govern position and payment intake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23749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Challenge facts; protect critical needs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2692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27432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 ·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96160" y="27432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Decide within delegated authority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7432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Block unsafe action; use emergency right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3060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8000" y="31115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4 · Execution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96160" y="31115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Shared or approved enterprise route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1115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Execute locally; retain status and audit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3429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34798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 · Learn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96160" y="34798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Govern KPI, controls, and value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4798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Own corrective action; reconcile outcome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This is a decision-rights model—not a platform, bank, vendor, or final-architecture selection.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future-state operating model; W3 process map and RACI; W3 control inventory.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VISIBILITY PILOT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Visibility readiness starts with 55-account control, then a 10-account read-only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The cohort tests data reliability; it does not test cash mobility or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196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538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96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4538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SCOPE AND SAFEGUARDS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892302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1902" y="1778000"/>
            <a:ext cx="272719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LOCKED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20066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Census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1902" y="20066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55 accounts across 9,955 account-days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2387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8000" y="24384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Cohort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1902" y="24384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 accounts: 5 spreadsheet, 5 portal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8000" y="28194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8000" y="28702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1902" y="28702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 / 10 require base control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3251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33020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Protected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1902" y="33020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AC0040 only: APAC, payroll, restricted; read-only shadow, substitution documented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482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6824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6482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6824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46863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6863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133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LATER OPERATING-TEST GATES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3300" y="1778000"/>
            <a:ext cx="119811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MEASURE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3018" y="1778000"/>
            <a:ext cx="2421382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CONDITION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133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13300" y="20066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Comparable operation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13018" y="20066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Minimum four consecutive weeks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13300" y="2387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813300" y="24384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Data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13018" y="24384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≥ 95% on-time; 100% reconciled or explained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13300" y="28194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813300" y="28702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Service /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13018" y="28702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Zero defined critical failures; zero confirmed breaches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13300" y="3251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813300" y="33020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Recovery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13018" y="33020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Rollback rehearsed at or below four hours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No liquidity, borrowing, cash-release, fee, or capacity KPI is an acceptance measure for this design.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visibility pilot charter; W3 visibility candidate frame; src/week3_pilot_design.py.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PAYMENT PILOT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Payment v3 uses 120 paired reviews to diagnose causes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Four mutually exclusive strata; transparent issue modes and matching deviations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196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538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96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4538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SAMPLE RECIPE PER STRATUM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58038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89988" y="1778000"/>
            <a:ext cx="43357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5166" y="1778000"/>
            <a:ext cx="1503934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DEFINITION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2006600"/>
            <a:ext cx="15803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Exception / status 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89988" y="2006600"/>
            <a:ext cx="433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25166" y="2006600"/>
            <a:ext cx="1503934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Exception, repaired, or rejected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362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413000"/>
            <a:ext cx="15803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Late-only issue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89988" y="2413000"/>
            <a:ext cx="433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25166" y="2413000"/>
            <a:ext cx="1503934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Late flag without exception or status issue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2768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2819400"/>
            <a:ext cx="15803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Non-issue 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89988" y="2819400"/>
            <a:ext cx="433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25166" y="2819400"/>
            <a:ext cx="1503934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Flag-negative; supplied status Completed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482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6824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6482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6824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6863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46863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8133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FRAME READOUT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3300" y="1778000"/>
            <a:ext cx="1503934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READOUT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8834" y="1778000"/>
            <a:ext cx="2115566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RESULT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133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813300" y="20066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Four strata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8834" y="20066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30 each; 120 records total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13300" y="2387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813300" y="24384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Matching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8834" y="24384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50 exact four-field pairs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813300" y="28194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813300" y="28702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Residual imbalance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18834" y="28702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 visible nearest-match deviations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13300" y="3251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13300" y="33020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Inference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18834" y="33020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Purposive diagnosis; no prevalence or benefit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ASK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Choose an intervention only after evidence-based root-cause coding and a comparable baseline.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payment pilot charter; W3 payment sample frame; W3 pilot model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VALIDATION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07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Four value ledgers stay separate; recognized value remains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Diagnostic quantities are not benefits and cannot be added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VALUE LEDGERS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4427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2320" y="1778000"/>
            <a:ext cx="28244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DIAGNOSTIC QUANTITY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8400" y="17780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RECOGNIZED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1778000"/>
            <a:ext cx="176784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EVIDENCE GATE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20066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 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2320" y="20066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$21m / $35m / $46.2m screens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8400" y="20066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20066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VG01–VG05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23876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8000" y="24384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Annual P&amp;L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2320" y="24384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$3,900 / $7,800 / $7,800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8400" y="24384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59" y="24384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VG06–VG07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819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8702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Capacity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2320" y="28702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50 / 150 / 150 hours per 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78400" y="28702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28702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VG08–VG10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3251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33020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2320" y="33020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Exposure and value NOT QUANTIFIED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78400" y="33020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$0 ledger entry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59" y="33020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VG11–VG12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Actual implementation cost, ROI, NPV, payback, and a funding recommendation are unavailable.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business case; W3 business-case outputs; W3 assumptions register.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FALSIFICATION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08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631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The downside preserves the direction, while ownership and affordability can force a switch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242568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Falsification before commitment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196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538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96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4538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DIRECTION SURVIVES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000" y="1841500"/>
            <a:ext cx="31750" cy="381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0400" y="180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$21m screen, two closure candidates, $3,900 independent sensitivity, and 50 hours per month.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2476500"/>
            <a:ext cx="31750" cy="381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0400" y="2438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Federated still supports common ownership, controls, local rights, and reversible learning.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3111500"/>
            <a:ext cx="31750" cy="381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0400" y="307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The same evidence packages remain necessary at lower diagnostic quantities.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482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6824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46482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6824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6863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6863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8133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DIRECTION SWITCHES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13300" y="1841500"/>
            <a:ext cx="31750" cy="3810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965700" y="180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Use local stabilization if ownership, minimum integration readiness, or affordability fails.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13300" y="2476500"/>
            <a:ext cx="31750" cy="3810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965700" y="2438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Reconsider global only after legal, architecture, resilience, cost, mobility, and rollback close.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13300" y="3111500"/>
            <a:ext cx="31750" cy="3810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965700" y="307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Remove or redesign any option that fails a critical gate.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VERDICT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The recommendation survives only as a conditional design direction; validated value remains $0 and cost remains unavailable.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business case manager challenge; W3 strategic options switching conditions; W3 scenario and sensitivity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EVIDENCE AND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09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Five owner-led evidence packages now gate launch and funding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Model controls can pass while client evidence remains open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OPEN PACKAGES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524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OPEN PACKAGE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3600" y="1778000"/>
            <a:ext cx="18491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ACCOUNTABLE OWNER(S)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84320" y="1778000"/>
            <a:ext cx="34747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REQUIRED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0640" y="1778000"/>
            <a:ext cx="8737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STATUS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20066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Data / metric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3600" y="20066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Treasurer; CIO enables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84320" y="20066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Population, source, cutoff, definition, lineage, 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0640" y="20066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23241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8000" y="23749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Local rights / mobility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33600" y="23749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Treasury; Regional; Legal and Tax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4320" y="23749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Restriction, purpose, buffers, transferability,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0640" y="23749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692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7432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Controls / cyber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33600" y="27432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 owner; CIO and Cyber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4320" y="27432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Authorization, SoD, access, audit, duplicate, sanctions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0640" y="27432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3060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31115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Service / resilience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33600" y="31115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BU and Regional; Shared Services; CIO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84320" y="31115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Critical flows, blackout, monitoring, ≤ 4h rollback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60640" y="31115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8000" y="3429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8000" y="34798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Cost / recognition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3600" y="34798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Finance; Procurement; functions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84320" y="34798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CR01–CR10; VG01–VG12; timing, attribution, realization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0640" y="34798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BLOCKED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 model-control pass validates fail-closed model behavior—not evidence-gate closure.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control inventory; W3 assumptions register; W3 cost and model control outputs.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NEXT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10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Use 90 days to make the next decision evidence-ready, then return for go/no-go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Evidence mobilization only; time does not override an open 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4732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DECISION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6510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Align and assign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5113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Confirm direction, accountable owners, local fallback, and the no-execution boundary.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000" y="19685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81000" y="20320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3400" y="20447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1–30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22098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Reconcile and define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0701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 the 55-account and 7,600-record populations; lock definitions, sources, calendars, and gaps.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000" y="25273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81000" y="25908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3400" y="26035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31–60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86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Certify and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6289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Complete local, control, and architecture review, CR01–CR10 ranges, and safe-environment rollback rehearsal.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000" y="30861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81000" y="3149600"/>
            <a:ext cx="31750" cy="4318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3400" y="31623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61–90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33274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Lock and 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1877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Lock baselines and target rules; return with stop, extend-evidence, or a later bounded-pilot recommendation.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DECISIONS NOW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Endorse the direction · assign owners · approve the evidence timebox · reserve all launch, spend, value, and scale decisions.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future-state operating model; W3 pilot charters; W3 business case and strategic options.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