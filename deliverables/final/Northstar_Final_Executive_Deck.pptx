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Same-day account-days (%)</c:v>
                </c:pt>
              </c:strCache>
            </c:strRef>
          </c:tx>
          <c:spPr>
            <a:solidFill>
              <a:srgbClr val="0F172A"/>
            </a:solidFill>
            <a:effectLst/>
          </c:spPr>
          <c:invertIfNegative val="0"/>
          <c:dLbls>
            <c:numFmt formatCode="#,##0" sourceLinked="0"/>
            <c:txPr>
              <a:bodyPr/>
              <a:lstStyle/>
              <a:p>
                <a:pPr>
                  <a:defRPr b="0" i="0" strike="noStrike" sz="1200" u="none">
                    <a:solidFill>
                      <a:srgbClr val="4B5563"/>
                    </a:solidFill>
                    <a:latin typeface="Arial"/>
                  </a:defRPr>
                </a:pPr>
              </a:p>
            </c:txPr>
            <c:showLegendKey val="0"/>
            <c:showVal val="0"/>
            <c:showCatName val="0"/>
            <c:showSerName val="0"/>
            <c:showPercent val="0"/>
            <c:showBubbleSize val="0"/>
            <c:showLeaderLines val="0"/>
          </c:dLbls>
          <c:dPt>
            <c:idx val="0"/>
            <c:invertIfNegative val="0"/>
            <c:bubble3D val="0"/>
            <c:spPr>
              <a:solidFill>
                <a:srgbClr val="0F172A"/>
              </a:solidFill>
              <a:effectLst/>
            </c:spPr>
          </c:dPt>
          <c:dPt>
            <c:idx val="1"/>
            <c:invertIfNegative val="0"/>
            <c:bubble3D val="0"/>
            <c:spPr>
              <a:solidFill>
                <a:srgbClr val="1D4ED8"/>
              </a:solidFill>
              <a:effectLst/>
            </c:spPr>
          </c:dPt>
          <c:dPt>
            <c:idx val="2"/>
            <c:invertIfNegative val="0"/>
            <c:bubble3D val="0"/>
            <c:spPr>
              <a:solidFill>
                <a:srgbClr val="0891B2"/>
              </a:solidFill>
              <a:effectLst/>
            </c:spPr>
          </c:dPt>
          <c:dPt>
            <c:idx val="3"/>
            <c:invertIfNegative val="0"/>
            <c:bubble3D val="0"/>
            <c:spPr>
              <a:solidFill>
                <a:srgbClr val="4B5563"/>
              </a:solidFill>
              <a:effectLst/>
            </c:spPr>
          </c:dPt>
          <c:cat>
            <c:multiLvlStrRef>
              <c:f>Sheet1!$A$2:$A$5</c:f>
              <c:multiLvlStrCache>
                <c:ptCount val="4"/>
                <c:lvl>
                  <c:pt idx="0">
                    <c:v>API</c:v>
                  </c:pt>
                  <c:pt idx="1">
                    <c:v>Host-to-host</c:v>
                  </c:pt>
                  <c:pt idx="2">
                    <c:v>Portal</c:v>
                  </c:pt>
                  <c:pt idx="3">
                    <c:v>Spreadsheet</c:v>
                  </c:pt>
                </c:lvl>
              </c:multiLvlStrCache>
            </c:multiLvlStrRef>
          </c:cat>
          <c:val>
            <c:numRef>
              <c:f>Sheet1!$B$2:$B$5</c:f>
              <c:numCache>
                <c:formatCode>General</c:formatCode>
                <c:ptCount val="4"/>
                <c:pt idx="0">
                  <c:v>100</c:v>
                </c:pt>
                <c:pt idx="1">
                  <c:v>100</c:v>
                </c:pt>
                <c:pt idx="2">
                  <c:v>0</c:v>
                </c:pt>
                <c:pt idx="3">
                  <c:v>0</c:v>
                </c:pt>
              </c:numCache>
            </c:numRef>
          </c:val>
        </c:ser>
        <c:dLbls>
          <c:numFmt formatCode="#,##0" sourceLinked="0"/>
          <c:txPr>
            <a:bodyPr/>
            <a:lstStyle/>
            <a:p>
              <a:pPr>
                <a:defRPr b="0" i="0" strike="noStrike" sz="1200" u="none">
                  <a:solidFill>
                    <a:srgbClr val="4B5563"/>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4B5563"/>
            </a:solidFill>
            <a:prstDash val="solid"/>
            <a:round/>
          </a:ln>
        </c:spPr>
        <c:txPr>
          <a:bodyPr/>
          <a:lstStyle/>
          <a:p>
            <a:pPr>
              <a:defRPr sz="800" b="0" i="0" u="none" strike="noStrike">
                <a:solidFill>
                  <a:srgbClr val="4B5563"/>
                </a:solidFill>
                <a:latin typeface="Helvetica Neue"/>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1D5DB"/>
              </a:solidFill>
              <a:prstDash val="solid"/>
              <a:round/>
            </a:ln>
          </c:spPr>
        </c:majorGridlines>
        <c:numFmt formatCode="General" sourceLinked="0"/>
        <c:majorTickMark val="out"/>
        <c:minorTickMark val="none"/>
        <c:tickLblPos val="nextTo"/>
        <c:spPr>
          <a:ln w="12700" cap="flat">
            <a:solidFill>
              <a:srgbClr val="4B5563"/>
            </a:solidFill>
            <a:prstDash val="solid"/>
            <a:round/>
          </a:ln>
        </c:spPr>
        <c:txPr>
          <a:bodyPr/>
          <a:lstStyle/>
          <a:p>
            <a:pPr>
              <a:defRPr sz="800" b="0" i="0" u="none" strike="noStrike">
                <a:solidFill>
                  <a:srgbClr val="4B5563"/>
                </a:solidFill>
                <a:latin typeface="Helvetica Neue"/>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Complete windows meeting threshold (%)</c:v>
                </c:pt>
              </c:strCache>
            </c:strRef>
          </c:tx>
          <c:spPr>
            <a:solidFill>
              <a:srgbClr val="0F172A"/>
            </a:solidFill>
            <a:effectLst/>
          </c:spPr>
          <c:invertIfNegative val="0"/>
          <c:dLbls>
            <c:numFmt formatCode="#,##0" sourceLinked="0"/>
            <c:txPr>
              <a:bodyPr/>
              <a:lstStyle/>
              <a:p>
                <a:pPr>
                  <a:defRPr b="0" i="0" strike="noStrike" sz="1200" u="none">
                    <a:solidFill>
                      <a:srgbClr val="4B5563"/>
                    </a:solidFill>
                    <a:latin typeface="Arial"/>
                  </a:defRPr>
                </a:pPr>
              </a:p>
            </c:txPr>
            <c:showLegendKey val="0"/>
            <c:showVal val="0"/>
            <c:showCatName val="0"/>
            <c:showSerName val="0"/>
            <c:showPercent val="0"/>
            <c:showBubbleSize val="0"/>
            <c:showLeaderLines val="0"/>
          </c:dLbls>
          <c:dPt>
            <c:idx val="0"/>
            <c:invertIfNegative val="0"/>
            <c:bubble3D val="0"/>
            <c:spPr>
              <a:solidFill>
                <a:srgbClr val="0F172A"/>
              </a:solidFill>
              <a:effectLst/>
            </c:spPr>
          </c:dPt>
          <c:dPt>
            <c:idx val="1"/>
            <c:invertIfNegative val="0"/>
            <c:bubble3D val="0"/>
            <c:spPr>
              <a:solidFill>
                <a:srgbClr val="1D4ED8"/>
              </a:solidFill>
              <a:effectLst/>
            </c:spPr>
          </c:dPt>
          <c:dPt>
            <c:idx val="2"/>
            <c:invertIfNegative val="0"/>
            <c:bubble3D val="0"/>
            <c:spPr>
              <a:solidFill>
                <a:srgbClr val="0891B2"/>
              </a:solidFill>
              <a:effectLst/>
            </c:spPr>
          </c:dPt>
          <c:cat>
            <c:multiLvlStrRef>
              <c:f>Sheet1!$A$2:$A$4</c:f>
              <c:multiLvlStrCache>
                <c:ptCount val="3"/>
                <c:lvl>
                  <c:pt idx="0">
                    <c:v>$21m downside</c:v>
                  </c:pt>
                  <c:pt idx="1">
                    <c:v>$35m base</c:v>
                  </c:pt>
                  <c:pt idx="2">
                    <c:v>$46.2m upper</c:v>
                  </c:pt>
                </c:lvl>
              </c:multiLvlStrCache>
            </c:multiLvlStrRef>
          </c:cat>
          <c:val>
            <c:numRef>
              <c:f>Sheet1!$B$2:$B$4</c:f>
              <c:numCache>
                <c:formatCode>General</c:formatCode>
                <c:ptCount val="3"/>
                <c:pt idx="0">
                  <c:v>100</c:v>
                </c:pt>
                <c:pt idx="1">
                  <c:v>82.14</c:v>
                </c:pt>
                <c:pt idx="2">
                  <c:v>0</c:v>
                </c:pt>
              </c:numCache>
            </c:numRef>
          </c:val>
        </c:ser>
        <c:dLbls>
          <c:numFmt formatCode="#,##0" sourceLinked="0"/>
          <c:txPr>
            <a:bodyPr/>
            <a:lstStyle/>
            <a:p>
              <a:pPr>
                <a:defRPr b="0" i="0" strike="noStrike" sz="1200" u="none">
                  <a:solidFill>
                    <a:srgbClr val="4B5563"/>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4B5563"/>
            </a:solidFill>
            <a:prstDash val="solid"/>
            <a:round/>
          </a:ln>
        </c:spPr>
        <c:txPr>
          <a:bodyPr/>
          <a:lstStyle/>
          <a:p>
            <a:pPr>
              <a:defRPr sz="800" b="0" i="0" u="none" strike="noStrike">
                <a:solidFill>
                  <a:srgbClr val="4B5563"/>
                </a:solidFill>
                <a:latin typeface="Helvetica Neue"/>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1D5DB"/>
              </a:solidFill>
              <a:prstDash val="solid"/>
              <a:round/>
            </a:ln>
          </c:spPr>
        </c:majorGridlines>
        <c:numFmt formatCode="General" sourceLinked="0"/>
        <c:majorTickMark val="out"/>
        <c:minorTickMark val="none"/>
        <c:tickLblPos val="nextTo"/>
        <c:spPr>
          <a:ln w="12700" cap="flat">
            <a:solidFill>
              <a:srgbClr val="4B5563"/>
            </a:solidFill>
            <a:prstDash val="solid"/>
            <a:round/>
          </a:ln>
        </c:spPr>
        <c:txPr>
          <a:bodyPr/>
          <a:lstStyle/>
          <a:p>
            <a:pPr>
              <a:defRPr sz="800" b="0" i="0" u="none" strike="noStrike">
                <a:solidFill>
                  <a:srgbClr val="4B5563"/>
                </a:solidFill>
                <a:latin typeface="Helvetica Neue"/>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Weighted score</c:v>
                </c:pt>
              </c:strCache>
            </c:strRef>
          </c:tx>
          <c:spPr>
            <a:solidFill>
              <a:srgbClr val="0F172A"/>
            </a:solidFill>
            <a:effectLst/>
          </c:spPr>
          <c:invertIfNegative val="0"/>
          <c:dLbls>
            <c:numFmt formatCode="#,##0" sourceLinked="0"/>
            <c:txPr>
              <a:bodyPr/>
              <a:lstStyle/>
              <a:p>
                <a:pPr>
                  <a:defRPr b="0" i="0" strike="noStrike" sz="1200" u="none">
                    <a:solidFill>
                      <a:srgbClr val="4B5563"/>
                    </a:solidFill>
                    <a:latin typeface="Arial"/>
                  </a:defRPr>
                </a:pPr>
              </a:p>
            </c:txPr>
            <c:showLegendKey val="0"/>
            <c:showVal val="0"/>
            <c:showCatName val="0"/>
            <c:showSerName val="0"/>
            <c:showPercent val="0"/>
            <c:showBubbleSize val="0"/>
            <c:showLeaderLines val="0"/>
          </c:dLbls>
          <c:dPt>
            <c:idx val="0"/>
            <c:invertIfNegative val="0"/>
            <c:bubble3D val="0"/>
            <c:spPr>
              <a:solidFill>
                <a:srgbClr val="0F172A"/>
              </a:solidFill>
              <a:effectLst/>
            </c:spPr>
          </c:dPt>
          <c:dPt>
            <c:idx val="1"/>
            <c:invertIfNegative val="0"/>
            <c:bubble3D val="0"/>
            <c:spPr>
              <a:solidFill>
                <a:srgbClr val="1D4ED8"/>
              </a:solidFill>
              <a:effectLst/>
            </c:spPr>
          </c:dPt>
          <c:dPt>
            <c:idx val="2"/>
            <c:invertIfNegative val="0"/>
            <c:bubble3D val="0"/>
            <c:spPr>
              <a:solidFill>
                <a:srgbClr val="0891B2"/>
              </a:solidFill>
              <a:effectLst/>
            </c:spPr>
          </c:dPt>
          <c:cat>
            <c:multiLvlStrRef>
              <c:f>Sheet1!$A$2:$A$4</c:f>
              <c:multiLvlStrCache>
                <c:ptCount val="3"/>
                <c:lvl>
                  <c:pt idx="0">
                    <c:v>Federated</c:v>
                  </c:pt>
                  <c:pt idx="1">
                    <c:v>Local</c:v>
                  </c:pt>
                  <c:pt idx="2">
                    <c:v>Global</c:v>
                  </c:pt>
                </c:lvl>
              </c:multiLvlStrCache>
            </c:multiLvlStrRef>
          </c:cat>
          <c:val>
            <c:numRef>
              <c:f>Sheet1!$B$2:$B$4</c:f>
              <c:numCache>
                <c:formatCode>General</c:formatCode>
                <c:ptCount val="3"/>
                <c:pt idx="0">
                  <c:v>87</c:v>
                </c:pt>
                <c:pt idx="1">
                  <c:v>72</c:v>
                </c:pt>
                <c:pt idx="2">
                  <c:v>60</c:v>
                </c:pt>
              </c:numCache>
            </c:numRef>
          </c:val>
        </c:ser>
        <c:dLbls>
          <c:numFmt formatCode="#,##0" sourceLinked="0"/>
          <c:txPr>
            <a:bodyPr/>
            <a:lstStyle/>
            <a:p>
              <a:pPr>
                <a:defRPr b="0" i="0" strike="noStrike" sz="1200" u="none">
                  <a:solidFill>
                    <a:srgbClr val="4B5563"/>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4B5563"/>
            </a:solidFill>
            <a:prstDash val="solid"/>
            <a:round/>
          </a:ln>
        </c:spPr>
        <c:txPr>
          <a:bodyPr/>
          <a:lstStyle/>
          <a:p>
            <a:pPr>
              <a:defRPr sz="800" b="0" i="0" u="none" strike="noStrike">
                <a:solidFill>
                  <a:srgbClr val="4B5563"/>
                </a:solidFill>
                <a:latin typeface="Helvetica Neue"/>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1D5DB"/>
              </a:solidFill>
              <a:prstDash val="solid"/>
              <a:round/>
            </a:ln>
          </c:spPr>
        </c:majorGridlines>
        <c:numFmt formatCode="General" sourceLinked="0"/>
        <c:majorTickMark val="out"/>
        <c:minorTickMark val="none"/>
        <c:tickLblPos val="nextTo"/>
        <c:spPr>
          <a:ln w="12700" cap="flat">
            <a:solidFill>
              <a:srgbClr val="4B5563"/>
            </a:solidFill>
            <a:prstDash val="solid"/>
            <a:round/>
          </a:ln>
        </c:spPr>
        <c:txPr>
          <a:bodyPr/>
          <a:lstStyle/>
          <a:p>
            <a:pPr>
              <a:defRPr sz="800" b="0" i="0" u="none" strike="noStrike">
                <a:solidFill>
                  <a:srgbClr val="4B5563"/>
                </a:solidFill>
                <a:latin typeface="Helvetica Neue"/>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requested: authorize evidence mobilization, named owners, G0–G6 gates, and the explicit fallback. Day 90 returns for a separate stop / extend / bounded-pilot decision. Nothing in this deck authorizes production change, cash movement, account closure, labor action, procurement, spend, benefit recognition, or scale. Classification: Confidential — simulated client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conclusion loop. The diagnostic numbers create urgency and direction but not investment authority. Visibility is a calendar-date proxy. Payment metrics are within the supplied extract. The option score is analyst judgment. Zero recognized value is an evidence-control status, not a claim of zero opportunity or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failures form the system map for the rest of the deck. The slide does not claim that technology is unimportant; it places integration behind a governed operating model. Stakeholder statements are corroborating context,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source-method concentration makes the first intervention testable: controlled source, receipt timestamp, balance type, owner, and exception. It does not prove that the method itself is causal; method can proxy for entity, bank, process, or data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$35m screen passes 138 of 168 complete windows. The slide avoids the word available. An account enters a funding decision only after current source, restriction, buffer, local/service context, timing, economics, authority, and Finance evidence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Manual-touch records have higher exception and late-release rates than non-manual records, but association is not causality. The 120-record frame contains four mutually exclusive cohorts and is designed for root-cause evidence, not prevalence, enterprise extrapolation, or a benefit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maturity implication is qualitative: the operating model is fragmented across the four root-cause domains. The deck does not claim technology is causal. It assigns technology as an enabler after ownership, source, process, service, and control rules are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eight principles are client service, daily evidence, federated decision rights, standardization with exceptions, control, resilient staged integration, data ownership, and scalable acquisition readiness. This slide groups them into four board-level design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option criteria and weights were locked before scoring. Scores are analyst judgment and do not include diagnostic benefit quantities. Global coordination remains on hold until legal/local, architecture, cyber/resilience, service, cost, mobility, and rollback evidence materially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addresses local concerns by making context and emergency rights explicit instead of informal. One accountable owner remains required per activity. Global policy ownership does not transfer every execution step to headquarters.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I01, I07 and I06 start together because controlled data, value governance and decision rights are dependencies for all other work. Account rationalization ranks last because its direct fee case is modest, although it can progress quickly and safely with per-account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one-time planning amount fits the $1.0–$1.5m disclosed ceiling; the high case exceeds it by $215k. The base recurring amount is $281k per year and needs separate budget approval. ROI, NPV and payback remain unavailable because recognized benefits and actual cost/timing inputs are absent.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dependency-led. Any delay in critical evidence moves later dates right without weakening the gate. North America production routing or approval-workflow change cannot occur in the confirmed eight-week Q4 freeze and requires Rachel Kim's sign-off; exact dates remain open. Month 5 is the earliest realistic NA production planning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system separates workstream management from gate authority. Finance Benefits admits value. Management control owners approve control design. Internal Audit remains independent. A program cannot remain indefinitely amber: G2 and G3 require an explicit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same answer as slide 1, now supported by evidence. The decision should state what is approved, what is not approved, the owners, conditions, fallback, and date of the next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combines the required definitions, data-quality limitations, and methods. Full formulas, exclusions, source paths, alternative definitions, and tests are in the Week 2 metric contract and analysis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compact detailed-analysis and sensitivity appendix. Rejected alternatives are explicit: immediate global coordination, indefinite local-only remediation, bulk account closure, automatic payment automation, and premature labor or benefit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register and assumptions register are part of the final evidence pack. Public material is context only. The rebuild chain runs from source datasets through documented Python outputs and fail-closed tests to the deck, memo, roadmap, KPI dictionary, and benefits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57200" y="1691640"/>
            <a:ext cx="548640" cy="73152"/>
          </a:xfrm>
          <a:prstGeom prst="rect">
            <a:avLst/>
          </a:prstGeom>
          <a:solidFill>
            <a:srgbClr val="1D4ED8"/>
          </a:solidFill>
          <a:ln w="12700">
            <a:solidFill>
              <a:srgbClr val="FFFFFF"/>
            </a:solidFill>
            <a:prstDash val="solid"/>
          </a:ln>
        </p:spPr>
      </p:sp>
      <p:sp>
        <p:nvSpPr>
          <p:cNvPr id="3" name="Text 1"/>
          <p:cNvSpPr txBox="1"/>
          <p:nvPr/>
        </p:nvSpPr>
        <p:spPr>
          <a:xfrm>
            <a:off x="457200" y="1828800"/>
            <a:ext cx="8229600" cy="1691640"/>
          </a:xfrm>
          <a:prstGeom prst="rect">
            <a:avLst/>
          </a:prstGeom>
          <a:noFill/>
          <a:ln/>
        </p:spPr>
        <p:txBody>
          <a:bodyPr wrap="square" lIns="0" tIns="0" rIns="0" bIns="0" rtlCol="0" anchor="t"/>
          <a:lstStyle/>
          <a:p>
            <a:pPr algn="l" indent="0" marL="0">
              <a:buNone/>
            </a:pPr>
            <a:r>
              <a:rPr lang="en-US" sz="4000" b="1" dirty="0">
                <a:solidFill>
                  <a:srgbClr val="FFFFFF"/>
                </a:solidFill>
                <a:latin typeface="Helvetica Neue" pitchFamily="34" charset="0"/>
                <a:ea typeface="Helvetica Neue" pitchFamily="34" charset="-122"/>
                <a:cs typeface="Helvetica Neue" pitchFamily="34" charset="-120"/>
              </a:rPr>
              <a:t>Authorize 90 days to make the next treasury decision</a:t>
            </a:r>
            <a:endParaRPr lang="en-US" sz="4000" dirty="0"/>
          </a:p>
        </p:txBody>
      </p:sp>
      <p:sp>
        <p:nvSpPr>
          <p:cNvPr id="4" name="Text 2"/>
          <p:cNvSpPr txBox="1"/>
          <p:nvPr/>
        </p:nvSpPr>
        <p:spPr>
          <a:xfrm>
            <a:off x="457200" y="3611880"/>
            <a:ext cx="8229600" cy="1024128"/>
          </a:xfrm>
          <a:prstGeom prst="rect">
            <a:avLst/>
          </a:prstGeom>
          <a:noFill/>
          <a:ln/>
        </p:spPr>
        <p:txBody>
          <a:bodyPr wrap="square" lIns="0" tIns="0" rIns="0" bIns="0" rtlCol="0" anchor="t"/>
          <a:lstStyle/>
          <a:p>
            <a:pPr algn="l" indent="0" marL="0">
              <a:buNone/>
            </a:pPr>
            <a:r>
              <a:rPr lang="en-US" sz="2000" dirty="0">
                <a:solidFill>
                  <a:srgbClr val="0891B2"/>
                </a:solidFill>
                <a:latin typeface="Helvetica Neue" pitchFamily="34" charset="0"/>
                <a:ea typeface="Helvetica Neue" pitchFamily="34" charset="-122"/>
                <a:cs typeface="Helvetica Neue" pitchFamily="34" charset="-120"/>
              </a:rPr>
              <a:t>Federated coordination · local-stabilization fallback · no production or funding authorization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ACG has enough evidence to choose a direction—not enough to approve value or production</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The first commitment is ownership and controlled evidence</a:t>
            </a:r>
            <a:endParaRPr lang="en-US" sz="1300" dirty="0"/>
          </a:p>
        </p:txBody>
      </p:sp>
      <p:sp>
        <p:nvSpPr>
          <p:cNvPr id="9" name="Shape 7"/>
          <p:cNvSpPr/>
          <p:nvPr/>
        </p:nvSpPr>
        <p:spPr>
          <a:xfrm>
            <a:off x="457200" y="1691640"/>
            <a:ext cx="2468880" cy="2884932"/>
          </a:xfrm>
          <a:prstGeom prst="rect">
            <a:avLst/>
          </a:prstGeom>
          <a:solidFill>
            <a:srgbClr val="0F172A"/>
          </a:solidFill>
          <a:ln w="7620">
            <a:solidFill>
              <a:srgbClr val="0F172A"/>
            </a:solidFill>
            <a:prstDash val="solid"/>
          </a:ln>
        </p:spPr>
      </p:sp>
      <p:sp>
        <p:nvSpPr>
          <p:cNvPr id="10" name="Shape 8"/>
          <p:cNvSpPr/>
          <p:nvPr/>
        </p:nvSpPr>
        <p:spPr>
          <a:xfrm>
            <a:off x="457200" y="1691640"/>
            <a:ext cx="68580" cy="2884932"/>
          </a:xfrm>
          <a:prstGeom prst="rect">
            <a:avLst/>
          </a:prstGeom>
          <a:solidFill>
            <a:srgbClr val="1D4ED8"/>
          </a:solidFill>
          <a:ln w="12700">
            <a:solidFill>
              <a:srgbClr val="1D4ED8"/>
            </a:solidFill>
            <a:prstDash val="solid"/>
          </a:ln>
        </p:spPr>
      </p:sp>
      <p:sp>
        <p:nvSpPr>
          <p:cNvPr id="11" name="Text 9"/>
          <p:cNvSpPr txBox="1"/>
          <p:nvPr/>
        </p:nvSpPr>
        <p:spPr>
          <a:xfrm>
            <a:off x="654710" y="1889150"/>
            <a:ext cx="2073859" cy="807781"/>
          </a:xfrm>
          <a:prstGeom prst="rect">
            <a:avLst/>
          </a:prstGeom>
          <a:noFill/>
          <a:ln/>
        </p:spPr>
        <p:txBody>
          <a:bodyPr wrap="square" lIns="0" tIns="0" rIns="0" bIns="0" rtlCol="0" anchor="t">
            <a:normAutofit/>
          </a:bodyPr>
          <a:lstStyle/>
          <a:p>
            <a:pPr algn="l" indent="0" marL="0">
              <a:buNone/>
            </a:pPr>
            <a:r>
              <a:rPr lang="en-US" sz="3400" b="1" dirty="0">
                <a:solidFill>
                  <a:srgbClr val="1D4ED8"/>
                </a:solidFill>
                <a:latin typeface="Helvetica Neue" pitchFamily="34" charset="0"/>
                <a:ea typeface="Helvetica Neue" pitchFamily="34" charset="-122"/>
                <a:cs typeface="Helvetica Neue" pitchFamily="34" charset="-120"/>
              </a:rPr>
              <a:t>58.18%</a:t>
            </a:r>
            <a:endParaRPr lang="en-US" sz="3400" dirty="0"/>
          </a:p>
        </p:txBody>
      </p:sp>
      <p:sp>
        <p:nvSpPr>
          <p:cNvPr id="12" name="Text 10"/>
          <p:cNvSpPr txBox="1"/>
          <p:nvPr/>
        </p:nvSpPr>
        <p:spPr>
          <a:xfrm>
            <a:off x="654710" y="2806659"/>
            <a:ext cx="2073859" cy="672084"/>
          </a:xfrm>
          <a:prstGeom prst="rect">
            <a:avLst/>
          </a:prstGeom>
          <a:noFill/>
          <a:ln/>
        </p:spPr>
        <p:txBody>
          <a:bodyPr wrap="square" lIns="0" tIns="0" rIns="0" bIns="0" rtlCol="0" anchor="t">
            <a:normAutofit/>
          </a:bodyPr>
          <a:lstStyle/>
          <a:p>
            <a:pPr algn="l" indent="0" marL="0">
              <a:buNone/>
            </a:pPr>
            <a:r>
              <a:rPr lang="en-US" sz="1200" b="1" dirty="0">
                <a:solidFill>
                  <a:srgbClr val="FFFFFF"/>
                </a:solidFill>
                <a:latin typeface="Helvetica Neue" pitchFamily="34" charset="0"/>
                <a:ea typeface="Helvetica Neue" pitchFamily="34" charset="-122"/>
                <a:cs typeface="Helvetica Neue" pitchFamily="34" charset="-120"/>
              </a:rPr>
              <a:t>same-day proxy visibility · 5,792 / 9,955 account-days</a:t>
            </a:r>
            <a:endParaRPr lang="en-US" sz="1200" dirty="0"/>
          </a:p>
        </p:txBody>
      </p:sp>
      <p:sp>
        <p:nvSpPr>
          <p:cNvPr id="13" name="Shape 11"/>
          <p:cNvSpPr/>
          <p:nvPr/>
        </p:nvSpPr>
        <p:spPr>
          <a:xfrm>
            <a:off x="3337560" y="1691640"/>
            <a:ext cx="5349240" cy="836630"/>
          </a:xfrm>
          <a:prstGeom prst="rect">
            <a:avLst/>
          </a:prstGeom>
          <a:solidFill>
            <a:srgbClr val="FFFFFF"/>
          </a:solidFill>
          <a:ln w="7620">
            <a:solidFill>
              <a:srgbClr val="D1D5DB"/>
            </a:solidFill>
            <a:prstDash val="solid"/>
          </a:ln>
        </p:spPr>
      </p:sp>
      <p:sp>
        <p:nvSpPr>
          <p:cNvPr id="14" name="Shape 12"/>
          <p:cNvSpPr/>
          <p:nvPr/>
        </p:nvSpPr>
        <p:spPr>
          <a:xfrm>
            <a:off x="3337560" y="1691640"/>
            <a:ext cx="54864" cy="836630"/>
          </a:xfrm>
          <a:prstGeom prst="rect">
            <a:avLst/>
          </a:prstGeom>
          <a:solidFill>
            <a:srgbClr val="0891B2"/>
          </a:solidFill>
          <a:ln w="12700">
            <a:solidFill>
              <a:srgbClr val="0891B2"/>
            </a:solidFill>
            <a:prstDash val="solid"/>
          </a:ln>
        </p:spPr>
      </p:sp>
      <p:sp>
        <p:nvSpPr>
          <p:cNvPr id="15" name="Text 13"/>
          <p:cNvSpPr txBox="1"/>
          <p:nvPr/>
        </p:nvSpPr>
        <p:spPr>
          <a:xfrm>
            <a:off x="3502152" y="1801368"/>
            <a:ext cx="1417320" cy="617174"/>
          </a:xfrm>
          <a:prstGeom prst="rect">
            <a:avLst/>
          </a:prstGeom>
          <a:noFill/>
          <a:ln/>
        </p:spPr>
        <p:txBody>
          <a:bodyPr wrap="square" lIns="0" tIns="0" rIns="0" bIns="0" rtlCol="0" anchor="ctr">
            <a:normAutofit/>
          </a:bodyPr>
          <a:lstStyle/>
          <a:p>
            <a:pPr algn="l" indent="0" marL="0">
              <a:buNone/>
            </a:pPr>
            <a:r>
              <a:rPr lang="en-US" sz="2200" b="1" dirty="0">
                <a:solidFill>
                  <a:srgbClr val="0891B2"/>
                </a:solidFill>
                <a:latin typeface="Helvetica Neue" pitchFamily="34" charset="0"/>
                <a:ea typeface="Helvetica Neue" pitchFamily="34" charset="-122"/>
                <a:cs typeface="Helvetica Neue" pitchFamily="34" charset="-120"/>
              </a:rPr>
              <a:t>6.30%</a:t>
            </a:r>
            <a:endParaRPr lang="en-US" sz="2200" dirty="0"/>
          </a:p>
        </p:txBody>
      </p:sp>
      <p:sp>
        <p:nvSpPr>
          <p:cNvPr id="16" name="Text 14"/>
          <p:cNvSpPr txBox="1"/>
          <p:nvPr/>
        </p:nvSpPr>
        <p:spPr>
          <a:xfrm>
            <a:off x="5010912" y="1801368"/>
            <a:ext cx="3511296" cy="496824"/>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payment exceptions · 479 / 7,600 supplied records</a:t>
            </a:r>
            <a:endParaRPr lang="en-US" sz="1200" dirty="0"/>
          </a:p>
        </p:txBody>
      </p:sp>
      <p:sp>
        <p:nvSpPr>
          <p:cNvPr id="17" name="Shape 15"/>
          <p:cNvSpPr/>
          <p:nvPr/>
        </p:nvSpPr>
        <p:spPr>
          <a:xfrm>
            <a:off x="3337560" y="2715791"/>
            <a:ext cx="5349240" cy="836630"/>
          </a:xfrm>
          <a:prstGeom prst="rect">
            <a:avLst/>
          </a:prstGeom>
          <a:solidFill>
            <a:srgbClr val="FFFFFF"/>
          </a:solidFill>
          <a:ln w="7620">
            <a:solidFill>
              <a:srgbClr val="D1D5DB"/>
            </a:solidFill>
            <a:prstDash val="solid"/>
          </a:ln>
        </p:spPr>
      </p:sp>
      <p:sp>
        <p:nvSpPr>
          <p:cNvPr id="18" name="Shape 16"/>
          <p:cNvSpPr/>
          <p:nvPr/>
        </p:nvSpPr>
        <p:spPr>
          <a:xfrm>
            <a:off x="3337560" y="2715791"/>
            <a:ext cx="54864" cy="836630"/>
          </a:xfrm>
          <a:prstGeom prst="rect">
            <a:avLst/>
          </a:prstGeom>
          <a:solidFill>
            <a:srgbClr val="1D4ED8"/>
          </a:solidFill>
          <a:ln w="12700">
            <a:solidFill>
              <a:srgbClr val="1D4ED8"/>
            </a:solidFill>
            <a:prstDash val="solid"/>
          </a:ln>
        </p:spPr>
      </p:sp>
      <p:sp>
        <p:nvSpPr>
          <p:cNvPr id="19" name="Text 17"/>
          <p:cNvSpPr txBox="1"/>
          <p:nvPr/>
        </p:nvSpPr>
        <p:spPr>
          <a:xfrm>
            <a:off x="3502152" y="2825519"/>
            <a:ext cx="1417320" cy="617174"/>
          </a:xfrm>
          <a:prstGeom prst="rect">
            <a:avLst/>
          </a:prstGeom>
          <a:noFill/>
          <a:ln/>
        </p:spPr>
        <p:txBody>
          <a:bodyPr wrap="square" lIns="0" tIns="0" rIns="0" bIns="0" rtlCol="0" anchor="ctr">
            <a:normAutofit/>
          </a:bodyPr>
          <a:lstStyle/>
          <a:p>
            <a:pPr algn="l" indent="0" marL="0">
              <a:buNone/>
            </a:pPr>
            <a:r>
              <a:rPr lang="en-US" sz="2200" b="1" dirty="0">
                <a:solidFill>
                  <a:srgbClr val="1D4ED8"/>
                </a:solidFill>
                <a:latin typeface="Helvetica Neue" pitchFamily="34" charset="0"/>
                <a:ea typeface="Helvetica Neue" pitchFamily="34" charset="-122"/>
                <a:cs typeface="Helvetica Neue" pitchFamily="34" charset="-120"/>
              </a:rPr>
              <a:t>87</a:t>
            </a:r>
            <a:endParaRPr lang="en-US" sz="2200" dirty="0"/>
          </a:p>
        </p:txBody>
      </p:sp>
      <p:sp>
        <p:nvSpPr>
          <p:cNvPr id="20" name="Text 18"/>
          <p:cNvSpPr txBox="1"/>
          <p:nvPr/>
        </p:nvSpPr>
        <p:spPr>
          <a:xfrm>
            <a:off x="5010912" y="2825519"/>
            <a:ext cx="3511296" cy="496824"/>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federated option score · vs 72 local / 60 global</a:t>
            </a:r>
            <a:endParaRPr lang="en-US" sz="1200" dirty="0"/>
          </a:p>
        </p:txBody>
      </p:sp>
      <p:sp>
        <p:nvSpPr>
          <p:cNvPr id="21" name="Shape 19"/>
          <p:cNvSpPr/>
          <p:nvPr/>
        </p:nvSpPr>
        <p:spPr>
          <a:xfrm>
            <a:off x="3337560" y="3739942"/>
            <a:ext cx="5349240" cy="836630"/>
          </a:xfrm>
          <a:prstGeom prst="rect">
            <a:avLst/>
          </a:prstGeom>
          <a:solidFill>
            <a:srgbClr val="FFFFFF"/>
          </a:solidFill>
          <a:ln w="7620">
            <a:solidFill>
              <a:srgbClr val="D1D5DB"/>
            </a:solidFill>
            <a:prstDash val="solid"/>
          </a:ln>
        </p:spPr>
      </p:sp>
      <p:sp>
        <p:nvSpPr>
          <p:cNvPr id="22" name="Shape 20"/>
          <p:cNvSpPr/>
          <p:nvPr/>
        </p:nvSpPr>
        <p:spPr>
          <a:xfrm>
            <a:off x="3337560" y="3739942"/>
            <a:ext cx="54864" cy="836630"/>
          </a:xfrm>
          <a:prstGeom prst="rect">
            <a:avLst/>
          </a:prstGeom>
          <a:solidFill>
            <a:srgbClr val="0891B2"/>
          </a:solidFill>
          <a:ln w="12700">
            <a:solidFill>
              <a:srgbClr val="0891B2"/>
            </a:solidFill>
            <a:prstDash val="solid"/>
          </a:ln>
        </p:spPr>
      </p:sp>
      <p:sp>
        <p:nvSpPr>
          <p:cNvPr id="23" name="Text 21"/>
          <p:cNvSpPr txBox="1"/>
          <p:nvPr/>
        </p:nvSpPr>
        <p:spPr>
          <a:xfrm>
            <a:off x="3502152" y="3849670"/>
            <a:ext cx="1417320" cy="617174"/>
          </a:xfrm>
          <a:prstGeom prst="rect">
            <a:avLst/>
          </a:prstGeom>
          <a:noFill/>
          <a:ln/>
        </p:spPr>
        <p:txBody>
          <a:bodyPr wrap="square" lIns="0" tIns="0" rIns="0" bIns="0" rtlCol="0" anchor="ctr">
            <a:normAutofit/>
          </a:bodyPr>
          <a:lstStyle/>
          <a:p>
            <a:pPr algn="l" indent="0" marL="0">
              <a:buNone/>
            </a:pPr>
            <a:r>
              <a:rPr lang="en-US" sz="2200" b="1" dirty="0">
                <a:solidFill>
                  <a:srgbClr val="0891B2"/>
                </a:solidFill>
                <a:latin typeface="Helvetica Neue" pitchFamily="34" charset="0"/>
                <a:ea typeface="Helvetica Neue" pitchFamily="34" charset="-122"/>
                <a:cs typeface="Helvetica Neue" pitchFamily="34" charset="-120"/>
              </a:rPr>
              <a:t>$0</a:t>
            </a:r>
            <a:endParaRPr lang="en-US" sz="2200" dirty="0"/>
          </a:p>
        </p:txBody>
      </p:sp>
      <p:sp>
        <p:nvSpPr>
          <p:cNvPr id="24" name="Text 22"/>
          <p:cNvSpPr txBox="1"/>
          <p:nvPr/>
        </p:nvSpPr>
        <p:spPr>
          <a:xfrm>
            <a:off x="5010912" y="3849670"/>
            <a:ext cx="3511296" cy="496824"/>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recognized value today · cash, P&amp;L, capacity</a:t>
            </a:r>
            <a:endParaRPr lang="en-US" sz="1200" dirty="0"/>
          </a:p>
        </p:txBody>
      </p:sp>
      <p:sp>
        <p:nvSpPr>
          <p:cNvPr id="25" name="Shape 23"/>
          <p:cNvSpPr/>
          <p:nvPr/>
        </p:nvSpPr>
        <p:spPr>
          <a:xfrm>
            <a:off x="457200" y="4814316"/>
            <a:ext cx="8229600" cy="18288"/>
          </a:xfrm>
          <a:prstGeom prst="rect">
            <a:avLst/>
          </a:prstGeom>
          <a:solidFill>
            <a:srgbClr val="D1D5DB"/>
          </a:solidFill>
          <a:ln w="12700">
            <a:solidFill>
              <a:srgbClr val="FFFFFF"/>
            </a:solidFill>
            <a:prstDash val="solid"/>
          </a:ln>
        </p:spPr>
      </p:sp>
      <p:sp>
        <p:nvSpPr>
          <p:cNvPr id="26" name="Text 24"/>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W2 visibility/payment diagnostics; W3 option/value models</a:t>
            </a:r>
            <a:endParaRPr lang="en-US" sz="800" dirty="0"/>
          </a:p>
        </p:txBody>
      </p:sp>
      <p:sp>
        <p:nvSpPr>
          <p:cNvPr id="27" name="Text 25"/>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2/18</a:t>
            </a:r>
            <a:endParaRPr lang="en-US" sz="8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Four linked failures explain ACG's treasury problem</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The recommendation must fix ownership, evidence, control, and service together</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925312" cy="2921508"/>
        </p:xfrm>
        <a:graphic>
          <a:graphicData uri="http://schemas.openxmlformats.org/drawingml/2006/table">
            <a:tbl>
              <a:tblPr/>
              <a:tblGrid>
                <a:gridCol w="1244316"/>
                <a:gridCol w="2014606"/>
                <a:gridCol w="2666390"/>
              </a:tblGrid>
              <a:tr h="310896">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Failure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Evidence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Management implication</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Visibility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58.18%; 2,534 ≥2d</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Own source, cutoff, reconciliation, exception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Liquidity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$21m/$35m/$46.2m</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Certify mobility, buffers, economics before action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Payment operation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31.51% manual touch; 6.30% exceptions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Prove causes; standardize safely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Operating model</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Local practices; three ERPs; no enterprise TMS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Federated policy/data/control spine with local rights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10" name="Shape 7"/>
          <p:cNvSpPr/>
          <p:nvPr/>
        </p:nvSpPr>
        <p:spPr>
          <a:xfrm>
            <a:off x="6793992" y="1691640"/>
            <a:ext cx="1892808" cy="2921508"/>
          </a:xfrm>
          <a:prstGeom prst="rect">
            <a:avLst/>
          </a:prstGeom>
          <a:solidFill>
            <a:srgbClr val="FFFFFF"/>
          </a:solidFill>
          <a:ln w="8255">
            <a:solidFill>
              <a:srgbClr val="D1D5DB"/>
            </a:solidFill>
            <a:prstDash val="solid"/>
          </a:ln>
        </p:spPr>
      </p:sp>
      <p:sp>
        <p:nvSpPr>
          <p:cNvPr id="11" name="Shape 8"/>
          <p:cNvSpPr/>
          <p:nvPr/>
        </p:nvSpPr>
        <p:spPr>
          <a:xfrm>
            <a:off x="6793992" y="1691640"/>
            <a:ext cx="64008" cy="2921508"/>
          </a:xfrm>
          <a:prstGeom prst="rect">
            <a:avLst/>
          </a:prstGeom>
          <a:solidFill>
            <a:srgbClr val="0891B2"/>
          </a:solidFill>
          <a:ln w="12700">
            <a:solidFill>
              <a:srgbClr val="0891B2"/>
            </a:solidFill>
            <a:prstDash val="solid"/>
          </a:ln>
        </p:spPr>
      </p:sp>
      <p:sp>
        <p:nvSpPr>
          <p:cNvPr id="12" name="Text 9"/>
          <p:cNvSpPr txBox="1"/>
          <p:nvPr/>
        </p:nvSpPr>
        <p:spPr>
          <a:xfrm>
            <a:off x="6958584" y="1837944"/>
            <a:ext cx="1581912" cy="310896"/>
          </a:xfrm>
          <a:prstGeom prst="rect">
            <a:avLst/>
          </a:prstGeom>
          <a:noFill/>
          <a:ln/>
        </p:spPr>
        <p:txBody>
          <a:bodyPr wrap="square" lIns="0" tIns="0" rIns="0" bIns="0" rtlCol="0" anchor="t">
            <a:normAutofit/>
          </a:bodyPr>
          <a:lstStyle/>
          <a:p>
            <a:pPr algn="l" indent="0" marL="0">
              <a:buNone/>
            </a:pPr>
            <a:r>
              <a:rPr lang="en-US" sz="1200" b="1" spc="120" kern="0" dirty="0">
                <a:solidFill>
                  <a:srgbClr val="1D4ED8"/>
                </a:solidFill>
                <a:latin typeface="Helvetica Neue" pitchFamily="34" charset="0"/>
                <a:ea typeface="Helvetica Neue" pitchFamily="34" charset="-122"/>
                <a:cs typeface="Helvetica Neue" pitchFamily="34" charset="-120"/>
              </a:rPr>
              <a:t>READOUT</a:t>
            </a:r>
            <a:endParaRPr lang="en-US" sz="1200" dirty="0"/>
          </a:p>
        </p:txBody>
      </p:sp>
      <p:sp>
        <p:nvSpPr>
          <p:cNvPr id="13" name="Text 10"/>
          <p:cNvSpPr txBox="1"/>
          <p:nvPr/>
        </p:nvSpPr>
        <p:spPr>
          <a:xfrm>
            <a:off x="6958584" y="2240280"/>
            <a:ext cx="1581912" cy="865632"/>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Visibility: 58.18%; 2,534 ≥2d</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Liquidity: $21m/$35m/$46.2m</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W2 diagnostic report; W3 future-state operating model</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3/18</a:t>
            </a:r>
            <a:endParaRPr lang="en-US" sz="8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Portal and spreadsheet sources explain every delayed account-day in the supplied pattern</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Automated sources are same-day under the proxy; manual sources are not</a:t>
            </a:r>
            <a:endParaRPr lang="en-US" sz="1300" dirty="0"/>
          </a:p>
        </p:txBody>
      </p:sp>
      <p:sp>
        <p:nvSpPr>
          <p:cNvPr id="9" name="Shape 7"/>
          <p:cNvSpPr/>
          <p:nvPr/>
        </p:nvSpPr>
        <p:spPr>
          <a:xfrm>
            <a:off x="457200" y="1691640"/>
            <a:ext cx="5925312" cy="2921508"/>
          </a:xfrm>
          <a:prstGeom prst="rect">
            <a:avLst/>
          </a:prstGeom>
          <a:solidFill>
            <a:srgbClr val="FFFFFF"/>
          </a:solidFill>
          <a:ln w="7620">
            <a:solidFill>
              <a:srgbClr val="D1D5DB"/>
            </a:solidFill>
            <a:prstDash val="solid"/>
          </a:ln>
        </p:spPr>
      </p:sp>
      <p:graphicFrame>
        <p:nvGraphicFramePr>
          <p:cNvPr id="10" name="Chart 0" descr=""/>
          <p:cNvGraphicFramePr/>
          <p:nvPr/>
        </p:nvGraphicFramePr>
        <p:xfrm>
          <a:off x="566928" y="1783080"/>
          <a:ext cx="5705856" cy="273862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6793992" y="1691640"/>
            <a:ext cx="1892808" cy="1227033"/>
          </a:xfrm>
          <a:prstGeom prst="rect">
            <a:avLst/>
          </a:prstGeom>
          <a:solidFill>
            <a:srgbClr val="FFFFFF"/>
          </a:solidFill>
          <a:ln w="6985">
            <a:solidFill>
              <a:srgbClr val="D1D5DB"/>
            </a:solidFill>
            <a:prstDash val="solid"/>
          </a:ln>
        </p:spPr>
      </p:sp>
      <p:sp>
        <p:nvSpPr>
          <p:cNvPr id="12" name="Text 9"/>
          <p:cNvSpPr txBox="1"/>
          <p:nvPr/>
        </p:nvSpPr>
        <p:spPr>
          <a:xfrm>
            <a:off x="6885432" y="1783080"/>
            <a:ext cx="1709928" cy="274320"/>
          </a:xfrm>
          <a:prstGeom prst="rect">
            <a:avLst/>
          </a:prstGeom>
          <a:noFill/>
          <a:ln/>
        </p:spPr>
        <p:txBody>
          <a:bodyPr wrap="square" lIns="0" tIns="0" rIns="0" bIns="0" rtlCol="0" anchor="t">
            <a:normAutofit/>
          </a:bodyPr>
          <a:lstStyle/>
          <a:p>
            <a:pPr algn="l" indent="0" marL="0">
              <a:buNone/>
            </a:pPr>
            <a:r>
              <a:rPr lang="en-US" sz="1200" b="1" dirty="0">
                <a:solidFill>
                  <a:srgbClr val="1D4ED8"/>
                </a:solidFill>
                <a:latin typeface="Helvetica Neue" pitchFamily="34" charset="0"/>
                <a:ea typeface="Helvetica Neue" pitchFamily="34" charset="-122"/>
                <a:cs typeface="Helvetica Neue" pitchFamily="34" charset="-120"/>
              </a:rPr>
              <a:t>READOUT</a:t>
            </a:r>
            <a:endParaRPr lang="en-US" sz="1200" dirty="0"/>
          </a:p>
        </p:txBody>
      </p:sp>
      <p:sp>
        <p:nvSpPr>
          <p:cNvPr id="13" name="Text 10"/>
          <p:cNvSpPr txBox="1"/>
          <p:nvPr/>
        </p:nvSpPr>
        <p:spPr>
          <a:xfrm>
            <a:off x="6885432" y="2148840"/>
            <a:ext cx="1709928" cy="678393"/>
          </a:xfrm>
          <a:prstGeom prst="rect">
            <a:avLst/>
          </a:prstGeom>
          <a:noFill/>
          <a:ln/>
        </p:spPr>
        <p:txBody>
          <a:bodyPr wrap="square" lIns="0" tIns="0" rIns="0" bIns="0" rtlCol="0" anchor="t">
            <a:normAutofit/>
          </a:bodyPr>
          <a:lstStyle/>
          <a:p>
            <a:pPr algn="l" indent="0" marL="0">
              <a:buNone/>
            </a:pPr>
            <a:r>
              <a:rPr lang="en-US" sz="1200" dirty="0">
                <a:solidFill>
                  <a:srgbClr val="4B5563"/>
                </a:solidFill>
                <a:latin typeface="Helvetica Neue" pitchFamily="34" charset="0"/>
                <a:ea typeface="Helvetica Neue" pitchFamily="34" charset="-122"/>
                <a:cs typeface="Helvetica Neue" pitchFamily="34" charset="-120"/>
              </a:rPr>
              <a:t>23 manual sources · 58.18% proxy · calendar-date only</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W2_visibility_diagnostic.csv · Jan–Jun 2026</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4/18</a:t>
            </a:r>
            <a:endParaRPr lang="en-US" sz="8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The liquidity analysis defines a certification agenda—not a cash-release claim</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14-day screen pass rates fall from 100% to 0% as the threshold rises</a:t>
            </a:r>
            <a:endParaRPr lang="en-US" sz="1300" dirty="0"/>
          </a:p>
        </p:txBody>
      </p:sp>
      <p:sp>
        <p:nvSpPr>
          <p:cNvPr id="9" name="Shape 7"/>
          <p:cNvSpPr/>
          <p:nvPr/>
        </p:nvSpPr>
        <p:spPr>
          <a:xfrm>
            <a:off x="457200" y="1691640"/>
            <a:ext cx="5925312" cy="2921508"/>
          </a:xfrm>
          <a:prstGeom prst="rect">
            <a:avLst/>
          </a:prstGeom>
          <a:solidFill>
            <a:srgbClr val="FFFFFF"/>
          </a:solidFill>
          <a:ln w="7620">
            <a:solidFill>
              <a:srgbClr val="D1D5DB"/>
            </a:solidFill>
            <a:prstDash val="solid"/>
          </a:ln>
        </p:spPr>
      </p:sp>
      <p:graphicFrame>
        <p:nvGraphicFramePr>
          <p:cNvPr id="10" name="Chart 0" descr=""/>
          <p:cNvGraphicFramePr/>
          <p:nvPr/>
        </p:nvGraphicFramePr>
        <p:xfrm>
          <a:off x="566928" y="1783080"/>
          <a:ext cx="5705856" cy="273862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6793992" y="1691640"/>
            <a:ext cx="1892808" cy="1227033"/>
          </a:xfrm>
          <a:prstGeom prst="rect">
            <a:avLst/>
          </a:prstGeom>
          <a:solidFill>
            <a:srgbClr val="FFFFFF"/>
          </a:solidFill>
          <a:ln w="6985">
            <a:solidFill>
              <a:srgbClr val="D1D5DB"/>
            </a:solidFill>
            <a:prstDash val="solid"/>
          </a:ln>
        </p:spPr>
      </p:sp>
      <p:sp>
        <p:nvSpPr>
          <p:cNvPr id="12" name="Text 9"/>
          <p:cNvSpPr txBox="1"/>
          <p:nvPr/>
        </p:nvSpPr>
        <p:spPr>
          <a:xfrm>
            <a:off x="6885432" y="1783080"/>
            <a:ext cx="1709928" cy="274320"/>
          </a:xfrm>
          <a:prstGeom prst="rect">
            <a:avLst/>
          </a:prstGeom>
          <a:noFill/>
          <a:ln/>
        </p:spPr>
        <p:txBody>
          <a:bodyPr wrap="square" lIns="0" tIns="0" rIns="0" bIns="0" rtlCol="0" anchor="t">
            <a:normAutofit/>
          </a:bodyPr>
          <a:lstStyle/>
          <a:p>
            <a:pPr algn="l" indent="0" marL="0">
              <a:buNone/>
            </a:pPr>
            <a:r>
              <a:rPr lang="en-US" sz="1200" b="1" dirty="0">
                <a:solidFill>
                  <a:srgbClr val="1D4ED8"/>
                </a:solidFill>
                <a:latin typeface="Helvetica Neue" pitchFamily="34" charset="0"/>
                <a:ea typeface="Helvetica Neue" pitchFamily="34" charset="-122"/>
                <a:cs typeface="Helvetica Neue" pitchFamily="34" charset="-120"/>
              </a:rPr>
              <a:t>READOUT</a:t>
            </a:r>
            <a:endParaRPr lang="en-US" sz="1200" dirty="0"/>
          </a:p>
        </p:txBody>
      </p:sp>
      <p:sp>
        <p:nvSpPr>
          <p:cNvPr id="13" name="Text 10"/>
          <p:cNvSpPr txBox="1"/>
          <p:nvPr/>
        </p:nvSpPr>
        <p:spPr>
          <a:xfrm>
            <a:off x="6885432" y="2148840"/>
            <a:ext cx="1709928" cy="678393"/>
          </a:xfrm>
          <a:prstGeom prst="rect">
            <a:avLst/>
          </a:prstGeom>
          <a:noFill/>
          <a:ln/>
        </p:spPr>
        <p:txBody>
          <a:bodyPr wrap="square" lIns="0" tIns="0" rIns="0" bIns="0" rtlCol="0" anchor="t">
            <a:normAutofit/>
          </a:bodyPr>
          <a:lstStyle/>
          <a:p>
            <a:pPr algn="l" indent="0" marL="0">
              <a:buNone/>
            </a:pPr>
            <a:r>
              <a:rPr lang="en-US" sz="1200" dirty="0">
                <a:solidFill>
                  <a:srgbClr val="4B5563"/>
                </a:solidFill>
                <a:latin typeface="Helvetica Neue" pitchFamily="34" charset="0"/>
                <a:ea typeface="Helvetica Neue" pitchFamily="34" charset="-122"/>
                <a:cs typeface="Helvetica Neue" pitchFamily="34" charset="-120"/>
              </a:rPr>
              <a:t>168 windows · $0 recognized cash · VG01–VG05 open</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W2_liquidity_thresholds.csv; W3 business case</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5/18</a:t>
            </a:r>
            <a:endParaRPr lang="en-US" sz="8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Payment friction is material enough to diagnose—and too weakly evidenced to automate broadly</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Within the supplied 7,600-record extract</a:t>
            </a:r>
            <a:endParaRPr lang="en-US" sz="1300" dirty="0"/>
          </a:p>
        </p:txBody>
      </p:sp>
      <p:sp>
        <p:nvSpPr>
          <p:cNvPr id="9" name="Shape 7"/>
          <p:cNvSpPr/>
          <p:nvPr/>
        </p:nvSpPr>
        <p:spPr>
          <a:xfrm>
            <a:off x="457200" y="1691640"/>
            <a:ext cx="2468880" cy="2884932"/>
          </a:xfrm>
          <a:prstGeom prst="rect">
            <a:avLst/>
          </a:prstGeom>
          <a:solidFill>
            <a:srgbClr val="0F172A"/>
          </a:solidFill>
          <a:ln w="7620">
            <a:solidFill>
              <a:srgbClr val="0F172A"/>
            </a:solidFill>
            <a:prstDash val="solid"/>
          </a:ln>
        </p:spPr>
      </p:sp>
      <p:sp>
        <p:nvSpPr>
          <p:cNvPr id="10" name="Shape 8"/>
          <p:cNvSpPr/>
          <p:nvPr/>
        </p:nvSpPr>
        <p:spPr>
          <a:xfrm>
            <a:off x="457200" y="1691640"/>
            <a:ext cx="68580" cy="2884932"/>
          </a:xfrm>
          <a:prstGeom prst="rect">
            <a:avLst/>
          </a:prstGeom>
          <a:solidFill>
            <a:srgbClr val="1D4ED8"/>
          </a:solidFill>
          <a:ln w="12700">
            <a:solidFill>
              <a:srgbClr val="1D4ED8"/>
            </a:solidFill>
            <a:prstDash val="solid"/>
          </a:ln>
        </p:spPr>
      </p:sp>
      <p:sp>
        <p:nvSpPr>
          <p:cNvPr id="11" name="Text 9"/>
          <p:cNvSpPr txBox="1"/>
          <p:nvPr/>
        </p:nvSpPr>
        <p:spPr>
          <a:xfrm>
            <a:off x="654710" y="1889150"/>
            <a:ext cx="2073859" cy="807781"/>
          </a:xfrm>
          <a:prstGeom prst="rect">
            <a:avLst/>
          </a:prstGeom>
          <a:noFill/>
          <a:ln/>
        </p:spPr>
        <p:txBody>
          <a:bodyPr wrap="square" lIns="0" tIns="0" rIns="0" bIns="0" rtlCol="0" anchor="t">
            <a:normAutofit/>
          </a:bodyPr>
          <a:lstStyle/>
          <a:p>
            <a:pPr algn="l" indent="0" marL="0">
              <a:buNone/>
            </a:pPr>
            <a:r>
              <a:rPr lang="en-US" sz="3400" b="1" dirty="0">
                <a:solidFill>
                  <a:srgbClr val="1D4ED8"/>
                </a:solidFill>
                <a:latin typeface="Helvetica Neue" pitchFamily="34" charset="0"/>
                <a:ea typeface="Helvetica Neue" pitchFamily="34" charset="-122"/>
                <a:cs typeface="Helvetica Neue" pitchFamily="34" charset="-120"/>
              </a:rPr>
              <a:t>31.51%</a:t>
            </a:r>
            <a:endParaRPr lang="en-US" sz="3400" dirty="0"/>
          </a:p>
        </p:txBody>
      </p:sp>
      <p:sp>
        <p:nvSpPr>
          <p:cNvPr id="12" name="Text 10"/>
          <p:cNvSpPr txBox="1"/>
          <p:nvPr/>
        </p:nvSpPr>
        <p:spPr>
          <a:xfrm>
            <a:off x="654710" y="2806659"/>
            <a:ext cx="2073859" cy="496824"/>
          </a:xfrm>
          <a:prstGeom prst="rect">
            <a:avLst/>
          </a:prstGeom>
          <a:noFill/>
          <a:ln/>
        </p:spPr>
        <p:txBody>
          <a:bodyPr wrap="square" lIns="0" tIns="0" rIns="0" bIns="0" rtlCol="0" anchor="t">
            <a:normAutofit/>
          </a:bodyPr>
          <a:lstStyle/>
          <a:p>
            <a:pPr algn="l" indent="0" marL="0">
              <a:buNone/>
            </a:pPr>
            <a:r>
              <a:rPr lang="en-US" sz="1200" b="1" dirty="0">
                <a:solidFill>
                  <a:srgbClr val="FFFFFF"/>
                </a:solidFill>
                <a:latin typeface="Helvetica Neue" pitchFamily="34" charset="0"/>
                <a:ea typeface="Helvetica Neue" pitchFamily="34" charset="-122"/>
                <a:cs typeface="Helvetica Neue" pitchFamily="34" charset="-120"/>
              </a:rPr>
              <a:t>manual-touch rate · 2,395 records</a:t>
            </a:r>
            <a:endParaRPr lang="en-US" sz="1200" dirty="0"/>
          </a:p>
        </p:txBody>
      </p:sp>
      <p:sp>
        <p:nvSpPr>
          <p:cNvPr id="13" name="Shape 11"/>
          <p:cNvSpPr/>
          <p:nvPr/>
        </p:nvSpPr>
        <p:spPr>
          <a:xfrm>
            <a:off x="3337560" y="1691640"/>
            <a:ext cx="5349240" cy="836630"/>
          </a:xfrm>
          <a:prstGeom prst="rect">
            <a:avLst/>
          </a:prstGeom>
          <a:solidFill>
            <a:srgbClr val="FFFFFF"/>
          </a:solidFill>
          <a:ln w="7620">
            <a:solidFill>
              <a:srgbClr val="D1D5DB"/>
            </a:solidFill>
            <a:prstDash val="solid"/>
          </a:ln>
        </p:spPr>
      </p:sp>
      <p:sp>
        <p:nvSpPr>
          <p:cNvPr id="14" name="Shape 12"/>
          <p:cNvSpPr/>
          <p:nvPr/>
        </p:nvSpPr>
        <p:spPr>
          <a:xfrm>
            <a:off x="3337560" y="1691640"/>
            <a:ext cx="54864" cy="836630"/>
          </a:xfrm>
          <a:prstGeom prst="rect">
            <a:avLst/>
          </a:prstGeom>
          <a:solidFill>
            <a:srgbClr val="0891B2"/>
          </a:solidFill>
          <a:ln w="12700">
            <a:solidFill>
              <a:srgbClr val="0891B2"/>
            </a:solidFill>
            <a:prstDash val="solid"/>
          </a:ln>
        </p:spPr>
      </p:sp>
      <p:sp>
        <p:nvSpPr>
          <p:cNvPr id="15" name="Text 13"/>
          <p:cNvSpPr txBox="1"/>
          <p:nvPr/>
        </p:nvSpPr>
        <p:spPr>
          <a:xfrm>
            <a:off x="3502152" y="1801368"/>
            <a:ext cx="1417320" cy="617174"/>
          </a:xfrm>
          <a:prstGeom prst="rect">
            <a:avLst/>
          </a:prstGeom>
          <a:noFill/>
          <a:ln/>
        </p:spPr>
        <p:txBody>
          <a:bodyPr wrap="square" lIns="0" tIns="0" rIns="0" bIns="0" rtlCol="0" anchor="ctr">
            <a:normAutofit/>
          </a:bodyPr>
          <a:lstStyle/>
          <a:p>
            <a:pPr algn="l" indent="0" marL="0">
              <a:buNone/>
            </a:pPr>
            <a:r>
              <a:rPr lang="en-US" sz="2200" b="1" dirty="0">
                <a:solidFill>
                  <a:srgbClr val="0891B2"/>
                </a:solidFill>
                <a:latin typeface="Helvetica Neue" pitchFamily="34" charset="0"/>
                <a:ea typeface="Helvetica Neue" pitchFamily="34" charset="-122"/>
                <a:cs typeface="Helvetica Neue" pitchFamily="34" charset="-120"/>
              </a:rPr>
              <a:t>6.30%</a:t>
            </a:r>
            <a:endParaRPr lang="en-US" sz="2200" dirty="0"/>
          </a:p>
        </p:txBody>
      </p:sp>
      <p:sp>
        <p:nvSpPr>
          <p:cNvPr id="16" name="Text 14"/>
          <p:cNvSpPr txBox="1"/>
          <p:nvPr/>
        </p:nvSpPr>
        <p:spPr>
          <a:xfrm>
            <a:off x="5010912" y="1801368"/>
            <a:ext cx="3511296" cy="321564"/>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exception rate · 479 records</a:t>
            </a:r>
            <a:endParaRPr lang="en-US" sz="1200" dirty="0"/>
          </a:p>
        </p:txBody>
      </p:sp>
      <p:sp>
        <p:nvSpPr>
          <p:cNvPr id="17" name="Shape 15"/>
          <p:cNvSpPr/>
          <p:nvPr/>
        </p:nvSpPr>
        <p:spPr>
          <a:xfrm>
            <a:off x="3337560" y="2715791"/>
            <a:ext cx="5349240" cy="836630"/>
          </a:xfrm>
          <a:prstGeom prst="rect">
            <a:avLst/>
          </a:prstGeom>
          <a:solidFill>
            <a:srgbClr val="FFFFFF"/>
          </a:solidFill>
          <a:ln w="7620">
            <a:solidFill>
              <a:srgbClr val="D1D5DB"/>
            </a:solidFill>
            <a:prstDash val="solid"/>
          </a:ln>
        </p:spPr>
      </p:sp>
      <p:sp>
        <p:nvSpPr>
          <p:cNvPr id="18" name="Shape 16"/>
          <p:cNvSpPr/>
          <p:nvPr/>
        </p:nvSpPr>
        <p:spPr>
          <a:xfrm>
            <a:off x="3337560" y="2715791"/>
            <a:ext cx="54864" cy="836630"/>
          </a:xfrm>
          <a:prstGeom prst="rect">
            <a:avLst/>
          </a:prstGeom>
          <a:solidFill>
            <a:srgbClr val="1D4ED8"/>
          </a:solidFill>
          <a:ln w="12700">
            <a:solidFill>
              <a:srgbClr val="1D4ED8"/>
            </a:solidFill>
            <a:prstDash val="solid"/>
          </a:ln>
        </p:spPr>
      </p:sp>
      <p:sp>
        <p:nvSpPr>
          <p:cNvPr id="19" name="Text 17"/>
          <p:cNvSpPr txBox="1"/>
          <p:nvPr/>
        </p:nvSpPr>
        <p:spPr>
          <a:xfrm>
            <a:off x="3502152" y="2825519"/>
            <a:ext cx="1417320" cy="617174"/>
          </a:xfrm>
          <a:prstGeom prst="rect">
            <a:avLst/>
          </a:prstGeom>
          <a:noFill/>
          <a:ln/>
        </p:spPr>
        <p:txBody>
          <a:bodyPr wrap="square" lIns="0" tIns="0" rIns="0" bIns="0" rtlCol="0" anchor="ctr">
            <a:normAutofit/>
          </a:bodyPr>
          <a:lstStyle/>
          <a:p>
            <a:pPr algn="l" indent="0" marL="0">
              <a:buNone/>
            </a:pPr>
            <a:r>
              <a:rPr lang="en-US" sz="2200" b="1" dirty="0">
                <a:solidFill>
                  <a:srgbClr val="1D4ED8"/>
                </a:solidFill>
                <a:latin typeface="Helvetica Neue" pitchFamily="34" charset="0"/>
                <a:ea typeface="Helvetica Neue" pitchFamily="34" charset="-122"/>
                <a:cs typeface="Helvetica Neue" pitchFamily="34" charset="-120"/>
              </a:rPr>
              <a:t>5.00%</a:t>
            </a:r>
            <a:endParaRPr lang="en-US" sz="2200" dirty="0"/>
          </a:p>
        </p:txBody>
      </p:sp>
      <p:sp>
        <p:nvSpPr>
          <p:cNvPr id="20" name="Text 18"/>
          <p:cNvSpPr txBox="1"/>
          <p:nvPr/>
        </p:nvSpPr>
        <p:spPr>
          <a:xfrm>
            <a:off x="5010912" y="2825519"/>
            <a:ext cx="3511296" cy="321564"/>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late-release rate · 380 records</a:t>
            </a:r>
            <a:endParaRPr lang="en-US" sz="1200" dirty="0"/>
          </a:p>
        </p:txBody>
      </p:sp>
      <p:sp>
        <p:nvSpPr>
          <p:cNvPr id="21" name="Shape 19"/>
          <p:cNvSpPr/>
          <p:nvPr/>
        </p:nvSpPr>
        <p:spPr>
          <a:xfrm>
            <a:off x="3337560" y="3739942"/>
            <a:ext cx="5349240" cy="836630"/>
          </a:xfrm>
          <a:prstGeom prst="rect">
            <a:avLst/>
          </a:prstGeom>
          <a:solidFill>
            <a:srgbClr val="FFFFFF"/>
          </a:solidFill>
          <a:ln w="7620">
            <a:solidFill>
              <a:srgbClr val="D1D5DB"/>
            </a:solidFill>
            <a:prstDash val="solid"/>
          </a:ln>
        </p:spPr>
      </p:sp>
      <p:sp>
        <p:nvSpPr>
          <p:cNvPr id="22" name="Shape 20"/>
          <p:cNvSpPr/>
          <p:nvPr/>
        </p:nvSpPr>
        <p:spPr>
          <a:xfrm>
            <a:off x="3337560" y="3739942"/>
            <a:ext cx="54864" cy="836630"/>
          </a:xfrm>
          <a:prstGeom prst="rect">
            <a:avLst/>
          </a:prstGeom>
          <a:solidFill>
            <a:srgbClr val="0891B2"/>
          </a:solidFill>
          <a:ln w="12700">
            <a:solidFill>
              <a:srgbClr val="0891B2"/>
            </a:solidFill>
            <a:prstDash val="solid"/>
          </a:ln>
        </p:spPr>
      </p:sp>
      <p:sp>
        <p:nvSpPr>
          <p:cNvPr id="23" name="Text 21"/>
          <p:cNvSpPr txBox="1"/>
          <p:nvPr/>
        </p:nvSpPr>
        <p:spPr>
          <a:xfrm>
            <a:off x="3502152" y="3849670"/>
            <a:ext cx="1417320" cy="617174"/>
          </a:xfrm>
          <a:prstGeom prst="rect">
            <a:avLst/>
          </a:prstGeom>
          <a:noFill/>
          <a:ln/>
        </p:spPr>
        <p:txBody>
          <a:bodyPr wrap="square" lIns="0" tIns="0" rIns="0" bIns="0" rtlCol="0" anchor="ctr">
            <a:normAutofit/>
          </a:bodyPr>
          <a:lstStyle/>
          <a:p>
            <a:pPr algn="l" indent="0" marL="0">
              <a:buNone/>
            </a:pPr>
            <a:r>
              <a:rPr lang="en-US" sz="2200" b="1" dirty="0">
                <a:solidFill>
                  <a:srgbClr val="0891B2"/>
                </a:solidFill>
                <a:latin typeface="Helvetica Neue" pitchFamily="34" charset="0"/>
                <a:ea typeface="Helvetica Neue" pitchFamily="34" charset="-122"/>
                <a:cs typeface="Helvetica Neue" pitchFamily="34" charset="-120"/>
              </a:rPr>
              <a:t>10.34%</a:t>
            </a:r>
            <a:endParaRPr lang="en-US" sz="2200" dirty="0"/>
          </a:p>
        </p:txBody>
      </p:sp>
      <p:sp>
        <p:nvSpPr>
          <p:cNvPr id="24" name="Text 22"/>
          <p:cNvSpPr txBox="1"/>
          <p:nvPr/>
        </p:nvSpPr>
        <p:spPr>
          <a:xfrm>
            <a:off x="5010912" y="3849670"/>
            <a:ext cx="3511296" cy="321564"/>
          </a:xfrm>
          <a:prstGeom prst="rect">
            <a:avLst/>
          </a:prstGeom>
          <a:noFill/>
          <a:ln/>
        </p:spPr>
        <p:txBody>
          <a:bodyPr wrap="square" lIns="0" tIns="0" rIns="0" bIns="0" rtlCol="0" anchor="t">
            <a:normAutofit/>
          </a:bodyPr>
          <a:lstStyle/>
          <a:p>
            <a:pPr algn="l" indent="0" marL="0">
              <a:buNone/>
            </a:pPr>
            <a:r>
              <a:rPr lang="en-US" sz="1200" b="1" dirty="0">
                <a:solidFill>
                  <a:srgbClr val="111827"/>
                </a:solidFill>
                <a:latin typeface="Helvetica Neue" pitchFamily="34" charset="0"/>
                <a:ea typeface="Helvetica Neue" pitchFamily="34" charset="-122"/>
                <a:cs typeface="Helvetica Neue" pitchFamily="34" charset="-120"/>
              </a:rPr>
              <a:t>cross-border · 786 records</a:t>
            </a:r>
            <a:endParaRPr lang="en-US" sz="1200" dirty="0"/>
          </a:p>
        </p:txBody>
      </p:sp>
      <p:sp>
        <p:nvSpPr>
          <p:cNvPr id="25" name="Shape 23"/>
          <p:cNvSpPr/>
          <p:nvPr/>
        </p:nvSpPr>
        <p:spPr>
          <a:xfrm>
            <a:off x="457200" y="4814316"/>
            <a:ext cx="8229600" cy="18288"/>
          </a:xfrm>
          <a:prstGeom prst="rect">
            <a:avLst/>
          </a:prstGeom>
          <a:solidFill>
            <a:srgbClr val="D1D5DB"/>
          </a:solidFill>
          <a:ln w="12700">
            <a:solidFill>
              <a:srgbClr val="FFFFFF"/>
            </a:solidFill>
            <a:prstDash val="solid"/>
          </a:ln>
        </p:spPr>
      </p:sp>
      <p:sp>
        <p:nvSpPr>
          <p:cNvPr id="26" name="Text 24"/>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W2_payment_diagnostic.csv; W3 payment pilot charter</a:t>
            </a:r>
            <a:endParaRPr lang="en-US" sz="800" dirty="0"/>
          </a:p>
        </p:txBody>
      </p:sp>
      <p:sp>
        <p:nvSpPr>
          <p:cNvPr id="27" name="Text 25"/>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6/18</a:t>
            </a:r>
            <a:endParaRPr lang="en-US" sz="8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The root causes sit upstream of the visible symptoms</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Each root cause requires an owner and an observable control</a:t>
            </a:r>
            <a:endParaRPr lang="en-US" sz="1300" dirty="0"/>
          </a:p>
        </p:txBody>
      </p:sp>
      <p:sp>
        <p:nvSpPr>
          <p:cNvPr id="9" name="Shape 7"/>
          <p:cNvSpPr/>
          <p:nvPr/>
        </p:nvSpPr>
        <p:spPr>
          <a:xfrm>
            <a:off x="457200" y="1691640"/>
            <a:ext cx="3785616" cy="993313"/>
          </a:xfrm>
          <a:prstGeom prst="rect">
            <a:avLst/>
          </a:prstGeom>
          <a:solidFill>
            <a:srgbClr val="FFFFFF"/>
          </a:solidFill>
          <a:ln w="8255">
            <a:solidFill>
              <a:srgbClr val="D1D5DB"/>
            </a:solidFill>
            <a:prstDash val="solid"/>
          </a:ln>
        </p:spPr>
      </p:sp>
      <p:sp>
        <p:nvSpPr>
          <p:cNvPr id="10" name="Shape 8"/>
          <p:cNvSpPr/>
          <p:nvPr/>
        </p:nvSpPr>
        <p:spPr>
          <a:xfrm>
            <a:off x="457200" y="1691640"/>
            <a:ext cx="64008" cy="993313"/>
          </a:xfrm>
          <a:prstGeom prst="rect">
            <a:avLst/>
          </a:prstGeom>
          <a:solidFill>
            <a:srgbClr val="1D4ED8"/>
          </a:solidFill>
          <a:ln w="12700">
            <a:solidFill>
              <a:srgbClr val="1D4ED8"/>
            </a:solidFill>
            <a:prstDash val="solid"/>
          </a:ln>
        </p:spPr>
      </p:sp>
      <p:sp>
        <p:nvSpPr>
          <p:cNvPr id="11" name="Text 9"/>
          <p:cNvSpPr txBox="1"/>
          <p:nvPr/>
        </p:nvSpPr>
        <p:spPr>
          <a:xfrm>
            <a:off x="3739896" y="1847088"/>
            <a:ext cx="347472" cy="292608"/>
          </a:xfrm>
          <a:prstGeom prst="rect">
            <a:avLst/>
          </a:prstGeom>
          <a:noFill/>
          <a:ln/>
        </p:spPr>
        <p:txBody>
          <a:bodyPr wrap="square" lIns="0" tIns="0" rIns="0" bIns="0" rtlCol="0" anchor="t">
            <a:normAutofit/>
          </a:bodyPr>
          <a:lstStyle/>
          <a:p>
            <a:pPr algn="r" indent="0" marL="0">
              <a:buNone/>
            </a:pPr>
            <a:r>
              <a:rPr lang="en-US" sz="1250" b="1" dirty="0">
                <a:solidFill>
                  <a:srgbClr val="1D4ED8"/>
                </a:solidFill>
                <a:latin typeface="Helvetica Neue" pitchFamily="34" charset="0"/>
                <a:ea typeface="Helvetica Neue" pitchFamily="34" charset="-122"/>
                <a:cs typeface="Helvetica Neue" pitchFamily="34" charset="-120"/>
              </a:rPr>
              <a:t>01</a:t>
            </a:r>
            <a:endParaRPr lang="en-US" sz="1250" dirty="0"/>
          </a:p>
        </p:txBody>
      </p:sp>
      <p:sp>
        <p:nvSpPr>
          <p:cNvPr id="12" name="Text 10"/>
          <p:cNvSpPr txBox="1"/>
          <p:nvPr/>
        </p:nvSpPr>
        <p:spPr>
          <a:xfrm>
            <a:off x="612648" y="1847088"/>
            <a:ext cx="3054096" cy="292608"/>
          </a:xfrm>
          <a:prstGeom prst="rect">
            <a:avLst/>
          </a:prstGeom>
          <a:noFill/>
          <a:ln/>
        </p:spPr>
        <p:txBody>
          <a:bodyPr wrap="square" lIns="0" tIns="0" rIns="0" bIns="0" rtlCol="0" anchor="t">
            <a:normAutofit/>
          </a:bodyPr>
          <a:lstStyle/>
          <a:p>
            <a:pPr algn="l" indent="0" marL="0">
              <a:buNone/>
            </a:pPr>
            <a:r>
              <a:rPr lang="en-US" sz="1250" b="1" dirty="0">
                <a:solidFill>
                  <a:srgbClr val="1D4ED8"/>
                </a:solidFill>
                <a:latin typeface="Helvetica Neue" pitchFamily="34" charset="0"/>
                <a:ea typeface="Helvetica Neue" pitchFamily="34" charset="-122"/>
                <a:cs typeface="Helvetica Neue" pitchFamily="34" charset="-120"/>
              </a:rPr>
              <a:t>Ownership is split</a:t>
            </a:r>
            <a:endParaRPr lang="en-US" sz="1250" dirty="0"/>
          </a:p>
        </p:txBody>
      </p:sp>
      <p:sp>
        <p:nvSpPr>
          <p:cNvPr id="13" name="Text 11"/>
          <p:cNvSpPr txBox="1"/>
          <p:nvPr/>
        </p:nvSpPr>
        <p:spPr>
          <a:xfrm>
            <a:off x="612648" y="2231136"/>
            <a:ext cx="3474720" cy="271272"/>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Data · mobility · value</a:t>
            </a:r>
            <a:endParaRPr lang="en-US" sz="1200" dirty="0"/>
          </a:p>
        </p:txBody>
      </p:sp>
      <p:sp>
        <p:nvSpPr>
          <p:cNvPr id="14" name="Shape 12"/>
          <p:cNvSpPr/>
          <p:nvPr/>
        </p:nvSpPr>
        <p:spPr>
          <a:xfrm>
            <a:off x="4901184" y="1691640"/>
            <a:ext cx="3785616" cy="993313"/>
          </a:xfrm>
          <a:prstGeom prst="rect">
            <a:avLst/>
          </a:prstGeom>
          <a:solidFill>
            <a:srgbClr val="FFFFFF"/>
          </a:solidFill>
          <a:ln w="8255">
            <a:solidFill>
              <a:srgbClr val="D1D5DB"/>
            </a:solidFill>
            <a:prstDash val="solid"/>
          </a:ln>
        </p:spPr>
      </p:sp>
      <p:sp>
        <p:nvSpPr>
          <p:cNvPr id="15" name="Shape 13"/>
          <p:cNvSpPr/>
          <p:nvPr/>
        </p:nvSpPr>
        <p:spPr>
          <a:xfrm>
            <a:off x="4901184" y="1691640"/>
            <a:ext cx="64008" cy="993313"/>
          </a:xfrm>
          <a:prstGeom prst="rect">
            <a:avLst/>
          </a:prstGeom>
          <a:solidFill>
            <a:srgbClr val="0891B2"/>
          </a:solidFill>
          <a:ln w="12700">
            <a:solidFill>
              <a:srgbClr val="0891B2"/>
            </a:solidFill>
            <a:prstDash val="solid"/>
          </a:ln>
        </p:spPr>
      </p:sp>
      <p:sp>
        <p:nvSpPr>
          <p:cNvPr id="16" name="Text 14"/>
          <p:cNvSpPr txBox="1"/>
          <p:nvPr/>
        </p:nvSpPr>
        <p:spPr>
          <a:xfrm>
            <a:off x="8183880" y="1847088"/>
            <a:ext cx="347472" cy="292608"/>
          </a:xfrm>
          <a:prstGeom prst="rect">
            <a:avLst/>
          </a:prstGeom>
          <a:noFill/>
          <a:ln/>
        </p:spPr>
        <p:txBody>
          <a:bodyPr wrap="square" lIns="0" tIns="0" rIns="0" bIns="0" rtlCol="0" anchor="t">
            <a:normAutofit/>
          </a:bodyPr>
          <a:lstStyle/>
          <a:p>
            <a:pPr algn="r" indent="0" marL="0">
              <a:buNone/>
            </a:pPr>
            <a:r>
              <a:rPr lang="en-US" sz="1250" b="1" dirty="0">
                <a:solidFill>
                  <a:srgbClr val="0891B2"/>
                </a:solidFill>
                <a:latin typeface="Helvetica Neue" pitchFamily="34" charset="0"/>
                <a:ea typeface="Helvetica Neue" pitchFamily="34" charset="-122"/>
                <a:cs typeface="Helvetica Neue" pitchFamily="34" charset="-120"/>
              </a:rPr>
              <a:t>02</a:t>
            </a:r>
            <a:endParaRPr lang="en-US" sz="1250" dirty="0"/>
          </a:p>
        </p:txBody>
      </p:sp>
      <p:sp>
        <p:nvSpPr>
          <p:cNvPr id="17" name="Text 15"/>
          <p:cNvSpPr txBox="1"/>
          <p:nvPr/>
        </p:nvSpPr>
        <p:spPr>
          <a:xfrm>
            <a:off x="5056632" y="1847088"/>
            <a:ext cx="3054096" cy="292608"/>
          </a:xfrm>
          <a:prstGeom prst="rect">
            <a:avLst/>
          </a:prstGeom>
          <a:noFill/>
          <a:ln/>
        </p:spPr>
        <p:txBody>
          <a:bodyPr wrap="square" lIns="0" tIns="0" rIns="0" bIns="0" rtlCol="0" anchor="t">
            <a:normAutofit/>
          </a:bodyPr>
          <a:lstStyle/>
          <a:p>
            <a:pPr algn="l" indent="0" marL="0">
              <a:buNone/>
            </a:pPr>
            <a:r>
              <a:rPr lang="en-US" sz="1250" b="1" dirty="0">
                <a:solidFill>
                  <a:srgbClr val="0891B2"/>
                </a:solidFill>
                <a:latin typeface="Helvetica Neue" pitchFamily="34" charset="0"/>
                <a:ea typeface="Helvetica Neue" pitchFamily="34" charset="-122"/>
                <a:cs typeface="Helvetica Neue" pitchFamily="34" charset="-120"/>
              </a:rPr>
              <a:t>Data is incomplete</a:t>
            </a:r>
            <a:endParaRPr lang="en-US" sz="1250" dirty="0"/>
          </a:p>
        </p:txBody>
      </p:sp>
      <p:sp>
        <p:nvSpPr>
          <p:cNvPr id="18" name="Text 16"/>
          <p:cNvSpPr txBox="1"/>
          <p:nvPr/>
        </p:nvSpPr>
        <p:spPr>
          <a:xfrm>
            <a:off x="5056632" y="2231136"/>
            <a:ext cx="3474720" cy="271272"/>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Lineage · timestamps · populations</a:t>
            </a:r>
            <a:endParaRPr lang="en-US" sz="1200" dirty="0"/>
          </a:p>
        </p:txBody>
      </p:sp>
      <p:sp>
        <p:nvSpPr>
          <p:cNvPr id="19" name="Shape 17"/>
          <p:cNvSpPr/>
          <p:nvPr/>
        </p:nvSpPr>
        <p:spPr>
          <a:xfrm>
            <a:off x="457200" y="2918673"/>
            <a:ext cx="3785616" cy="876452"/>
          </a:xfrm>
          <a:prstGeom prst="rect">
            <a:avLst/>
          </a:prstGeom>
          <a:solidFill>
            <a:srgbClr val="FFFFFF"/>
          </a:solidFill>
          <a:ln w="8255">
            <a:solidFill>
              <a:srgbClr val="D1D5DB"/>
            </a:solidFill>
            <a:prstDash val="solid"/>
          </a:ln>
        </p:spPr>
      </p:sp>
      <p:sp>
        <p:nvSpPr>
          <p:cNvPr id="20" name="Shape 18"/>
          <p:cNvSpPr/>
          <p:nvPr/>
        </p:nvSpPr>
        <p:spPr>
          <a:xfrm>
            <a:off x="457200" y="2918673"/>
            <a:ext cx="64008" cy="876452"/>
          </a:xfrm>
          <a:prstGeom prst="rect">
            <a:avLst/>
          </a:prstGeom>
          <a:solidFill>
            <a:srgbClr val="1D4ED8"/>
          </a:solidFill>
          <a:ln w="12700">
            <a:solidFill>
              <a:srgbClr val="1D4ED8"/>
            </a:solidFill>
            <a:prstDash val="solid"/>
          </a:ln>
        </p:spPr>
      </p:sp>
      <p:sp>
        <p:nvSpPr>
          <p:cNvPr id="21" name="Text 19"/>
          <p:cNvSpPr txBox="1"/>
          <p:nvPr/>
        </p:nvSpPr>
        <p:spPr>
          <a:xfrm>
            <a:off x="612648" y="3106964"/>
            <a:ext cx="1018093" cy="499872"/>
          </a:xfrm>
          <a:prstGeom prst="rect">
            <a:avLst/>
          </a:prstGeom>
          <a:noFill/>
          <a:ln/>
        </p:spPr>
        <p:txBody>
          <a:bodyPr wrap="square" lIns="0" tIns="0" rIns="0" bIns="0" rtlCol="0" anchor="ctr">
            <a:normAutofit/>
          </a:bodyPr>
          <a:lstStyle/>
          <a:p>
            <a:pPr algn="l" indent="0" marL="0">
              <a:buNone/>
            </a:pPr>
            <a:r>
              <a:rPr lang="en-US" sz="1200" b="1" dirty="0">
                <a:solidFill>
                  <a:srgbClr val="1D4ED8"/>
                </a:solidFill>
                <a:latin typeface="Helvetica Neue" pitchFamily="34" charset="0"/>
                <a:ea typeface="Helvetica Neue" pitchFamily="34" charset="-122"/>
                <a:cs typeface="Helvetica Neue" pitchFamily="34" charset="-120"/>
              </a:rPr>
              <a:t>Process &amp; service</a:t>
            </a:r>
            <a:endParaRPr lang="en-US" sz="1200" dirty="0"/>
          </a:p>
        </p:txBody>
      </p:sp>
      <p:sp>
        <p:nvSpPr>
          <p:cNvPr id="22" name="Text 20"/>
          <p:cNvSpPr txBox="1"/>
          <p:nvPr/>
        </p:nvSpPr>
        <p:spPr>
          <a:xfrm>
            <a:off x="1703893" y="3014000"/>
            <a:ext cx="2383475" cy="685800"/>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Variable intake, cutoffs, repair loops and emergency practice.</a:t>
            </a:r>
            <a:endParaRPr lang="en-US" sz="1200" dirty="0"/>
          </a:p>
        </p:txBody>
      </p:sp>
      <p:sp>
        <p:nvSpPr>
          <p:cNvPr id="23" name="Shape 21"/>
          <p:cNvSpPr/>
          <p:nvPr/>
        </p:nvSpPr>
        <p:spPr>
          <a:xfrm>
            <a:off x="4901184" y="2918673"/>
            <a:ext cx="3785616" cy="876452"/>
          </a:xfrm>
          <a:prstGeom prst="rect">
            <a:avLst/>
          </a:prstGeom>
          <a:solidFill>
            <a:srgbClr val="FFFFFF"/>
          </a:solidFill>
          <a:ln w="8255">
            <a:solidFill>
              <a:srgbClr val="D1D5DB"/>
            </a:solidFill>
            <a:prstDash val="solid"/>
          </a:ln>
        </p:spPr>
      </p:sp>
      <p:sp>
        <p:nvSpPr>
          <p:cNvPr id="24" name="Shape 22"/>
          <p:cNvSpPr/>
          <p:nvPr/>
        </p:nvSpPr>
        <p:spPr>
          <a:xfrm>
            <a:off x="4901184" y="2918673"/>
            <a:ext cx="64008" cy="876452"/>
          </a:xfrm>
          <a:prstGeom prst="rect">
            <a:avLst/>
          </a:prstGeom>
          <a:solidFill>
            <a:srgbClr val="0891B2"/>
          </a:solidFill>
          <a:ln w="12700">
            <a:solidFill>
              <a:srgbClr val="0891B2"/>
            </a:solidFill>
            <a:prstDash val="solid"/>
          </a:ln>
        </p:spPr>
      </p:sp>
      <p:sp>
        <p:nvSpPr>
          <p:cNvPr id="25" name="Text 23"/>
          <p:cNvSpPr txBox="1"/>
          <p:nvPr/>
        </p:nvSpPr>
        <p:spPr>
          <a:xfrm>
            <a:off x="5056632" y="3106964"/>
            <a:ext cx="1018093" cy="499872"/>
          </a:xfrm>
          <a:prstGeom prst="rect">
            <a:avLst/>
          </a:prstGeom>
          <a:noFill/>
          <a:ln/>
        </p:spPr>
        <p:txBody>
          <a:bodyPr wrap="square" lIns="0" tIns="0" rIns="0" bIns="0" rtlCol="0" anchor="ctr">
            <a:normAutofit/>
          </a:bodyPr>
          <a:lstStyle/>
          <a:p>
            <a:pPr algn="l" indent="0" marL="0">
              <a:buNone/>
            </a:pPr>
            <a:r>
              <a:rPr lang="en-US" sz="1200" b="1" dirty="0">
                <a:solidFill>
                  <a:srgbClr val="0891B2"/>
                </a:solidFill>
                <a:latin typeface="Helvetica Neue" pitchFamily="34" charset="0"/>
                <a:ea typeface="Helvetica Neue" pitchFamily="34" charset="-122"/>
                <a:cs typeface="Helvetica Neue" pitchFamily="34" charset="-120"/>
              </a:rPr>
              <a:t>Control &amp; technology</a:t>
            </a:r>
            <a:endParaRPr lang="en-US" sz="1200" dirty="0"/>
          </a:p>
        </p:txBody>
      </p:sp>
      <p:sp>
        <p:nvSpPr>
          <p:cNvPr id="26" name="Text 24"/>
          <p:cNvSpPr txBox="1"/>
          <p:nvPr/>
        </p:nvSpPr>
        <p:spPr>
          <a:xfrm>
            <a:off x="6147877" y="3103916"/>
            <a:ext cx="2383475" cy="505968"/>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Access · SoD · audit · resilience tests</a:t>
            </a:r>
            <a:endParaRPr lang="en-US" sz="1200" dirty="0"/>
          </a:p>
        </p:txBody>
      </p:sp>
      <p:sp>
        <p:nvSpPr>
          <p:cNvPr id="27" name="Shape 25"/>
          <p:cNvSpPr/>
          <p:nvPr/>
        </p:nvSpPr>
        <p:spPr>
          <a:xfrm>
            <a:off x="457200" y="4028846"/>
            <a:ext cx="8229600" cy="584302"/>
          </a:xfrm>
          <a:prstGeom prst="rect">
            <a:avLst/>
          </a:prstGeom>
          <a:solidFill>
            <a:srgbClr val="0F172A"/>
          </a:solidFill>
          <a:ln w="8255">
            <a:solidFill>
              <a:srgbClr val="1D4ED8"/>
            </a:solidFill>
            <a:prstDash val="solid"/>
          </a:ln>
        </p:spPr>
      </p:sp>
      <p:sp>
        <p:nvSpPr>
          <p:cNvPr id="28" name="Text 26"/>
          <p:cNvSpPr txBox="1"/>
          <p:nvPr/>
        </p:nvSpPr>
        <p:spPr>
          <a:xfrm>
            <a:off x="566928" y="4148785"/>
            <a:ext cx="8010144" cy="3444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elvetica Neue" pitchFamily="34" charset="0"/>
                <a:ea typeface="Helvetica Neue" pitchFamily="34" charset="-122"/>
                <a:cs typeface="Helvetica Neue" pitchFamily="34" charset="-120"/>
              </a:rPr>
              <a:t>Do not automate an undefined process or centralize an uncertified decision right.</a:t>
            </a:r>
            <a:endParaRPr lang="en-US" sz="1200" dirty="0"/>
          </a:p>
        </p:txBody>
      </p:sp>
      <p:sp>
        <p:nvSpPr>
          <p:cNvPr id="29" name="Shape 27"/>
          <p:cNvSpPr/>
          <p:nvPr/>
        </p:nvSpPr>
        <p:spPr>
          <a:xfrm>
            <a:off x="457200" y="4814316"/>
            <a:ext cx="8229600" cy="18288"/>
          </a:xfrm>
          <a:prstGeom prst="rect">
            <a:avLst/>
          </a:prstGeom>
          <a:solidFill>
            <a:srgbClr val="D1D5DB"/>
          </a:solidFill>
          <a:ln w="12700">
            <a:solidFill>
              <a:srgbClr val="FFFFFF"/>
            </a:solidFill>
            <a:prstDash val="solid"/>
          </a:ln>
        </p:spPr>
      </p:sp>
      <p:sp>
        <p:nvSpPr>
          <p:cNvPr id="30" name="Text 28"/>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W2 process/RACI and maturity heatmap; stakeholder pack</a:t>
            </a:r>
            <a:endParaRPr lang="en-US" sz="800" dirty="0"/>
          </a:p>
        </p:txBody>
      </p:sp>
      <p:sp>
        <p:nvSpPr>
          <p:cNvPr id="31" name="Text 29"/>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7/18</a:t>
            </a:r>
            <a:endParaRPr lang="en-US" sz="8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911096"/>
          </a:xfrm>
          <a:prstGeom prst="rect">
            <a:avLst/>
          </a:prstGeom>
          <a:solidFill>
            <a:srgbClr val="0F172A"/>
          </a:solidFill>
          <a:ln w="12700">
            <a:solidFill>
              <a:srgbClr val="FFFFFF"/>
            </a:solidFill>
            <a:prstDash val="solid"/>
          </a:ln>
        </p:spPr>
      </p:sp>
      <p:sp>
        <p:nvSpPr>
          <p:cNvPr id="6" name="Shape 4"/>
          <p:cNvSpPr/>
          <p:nvPr/>
        </p:nvSpPr>
        <p:spPr>
          <a:xfrm>
            <a:off x="0" y="19110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13716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Eight design principles resolve the tension between enterprise control and local responsiveness</a:t>
            </a:r>
            <a:endParaRPr lang="en-US" sz="2400" dirty="0"/>
          </a:p>
        </p:txBody>
      </p:sp>
      <p:sp>
        <p:nvSpPr>
          <p:cNvPr id="8" name="Text 6"/>
          <p:cNvSpPr txBox="1"/>
          <p:nvPr/>
        </p:nvSpPr>
        <p:spPr>
          <a:xfrm>
            <a:off x="457200" y="15087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Critical gates remain non-compensating</a:t>
            </a:r>
            <a:endParaRPr lang="en-US" sz="1300" dirty="0"/>
          </a:p>
        </p:txBody>
      </p:sp>
      <p:sp>
        <p:nvSpPr>
          <p:cNvPr id="9" name="Shape 7"/>
          <p:cNvSpPr/>
          <p:nvPr/>
        </p:nvSpPr>
        <p:spPr>
          <a:xfrm>
            <a:off x="457200" y="2148840"/>
            <a:ext cx="3785616" cy="837865"/>
          </a:xfrm>
          <a:prstGeom prst="rect">
            <a:avLst/>
          </a:prstGeom>
          <a:solidFill>
            <a:srgbClr val="FFFFFF"/>
          </a:solidFill>
          <a:ln w="8255">
            <a:solidFill>
              <a:srgbClr val="D1D5DB"/>
            </a:solidFill>
            <a:prstDash val="solid"/>
          </a:ln>
        </p:spPr>
      </p:sp>
      <p:sp>
        <p:nvSpPr>
          <p:cNvPr id="10" name="Shape 8"/>
          <p:cNvSpPr/>
          <p:nvPr/>
        </p:nvSpPr>
        <p:spPr>
          <a:xfrm>
            <a:off x="457200" y="2148840"/>
            <a:ext cx="64008" cy="837865"/>
          </a:xfrm>
          <a:prstGeom prst="rect">
            <a:avLst/>
          </a:prstGeom>
          <a:solidFill>
            <a:srgbClr val="1D4ED8"/>
          </a:solidFill>
          <a:ln w="12700">
            <a:solidFill>
              <a:srgbClr val="1D4ED8"/>
            </a:solidFill>
            <a:prstDash val="solid"/>
          </a:ln>
        </p:spPr>
      </p:sp>
      <p:sp>
        <p:nvSpPr>
          <p:cNvPr id="11" name="Text 9"/>
          <p:cNvSpPr txBox="1"/>
          <p:nvPr/>
        </p:nvSpPr>
        <p:spPr>
          <a:xfrm>
            <a:off x="612648" y="2317836"/>
            <a:ext cx="1018093" cy="499872"/>
          </a:xfrm>
          <a:prstGeom prst="rect">
            <a:avLst/>
          </a:prstGeom>
          <a:noFill/>
          <a:ln/>
        </p:spPr>
        <p:txBody>
          <a:bodyPr wrap="square" lIns="0" tIns="0" rIns="0" bIns="0" rtlCol="0" anchor="ctr">
            <a:normAutofit/>
          </a:bodyPr>
          <a:lstStyle/>
          <a:p>
            <a:pPr algn="l" indent="0" marL="0">
              <a:buNone/>
            </a:pPr>
            <a:r>
              <a:rPr lang="en-US" sz="1200" b="1" dirty="0">
                <a:solidFill>
                  <a:srgbClr val="1D4ED8"/>
                </a:solidFill>
                <a:latin typeface="Helvetica Neue" pitchFamily="34" charset="0"/>
                <a:ea typeface="Helvetica Neue" pitchFamily="34" charset="-122"/>
                <a:cs typeface="Helvetica Neue" pitchFamily="34" charset="-120"/>
              </a:rPr>
              <a:t>Enterprise spine</a:t>
            </a:r>
            <a:endParaRPr lang="en-US" sz="1200" dirty="0"/>
          </a:p>
        </p:txBody>
      </p:sp>
      <p:sp>
        <p:nvSpPr>
          <p:cNvPr id="12" name="Text 10"/>
          <p:cNvSpPr txBox="1"/>
          <p:nvPr/>
        </p:nvSpPr>
        <p:spPr>
          <a:xfrm>
            <a:off x="1703893" y="2224872"/>
            <a:ext cx="2383475" cy="685800"/>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Daily evidence · global ownership · common policy · controlled metrics</a:t>
            </a:r>
            <a:endParaRPr lang="en-US" sz="1200" dirty="0"/>
          </a:p>
        </p:txBody>
      </p:sp>
      <p:sp>
        <p:nvSpPr>
          <p:cNvPr id="13" name="Shape 11"/>
          <p:cNvSpPr/>
          <p:nvPr/>
        </p:nvSpPr>
        <p:spPr>
          <a:xfrm>
            <a:off x="4901184" y="2148840"/>
            <a:ext cx="3785616" cy="837865"/>
          </a:xfrm>
          <a:prstGeom prst="rect">
            <a:avLst/>
          </a:prstGeom>
          <a:solidFill>
            <a:srgbClr val="FFFFFF"/>
          </a:solidFill>
          <a:ln w="8255">
            <a:solidFill>
              <a:srgbClr val="D1D5DB"/>
            </a:solidFill>
            <a:prstDash val="solid"/>
          </a:ln>
        </p:spPr>
      </p:sp>
      <p:sp>
        <p:nvSpPr>
          <p:cNvPr id="14" name="Shape 12"/>
          <p:cNvSpPr/>
          <p:nvPr/>
        </p:nvSpPr>
        <p:spPr>
          <a:xfrm>
            <a:off x="4901184" y="2148840"/>
            <a:ext cx="64008" cy="837865"/>
          </a:xfrm>
          <a:prstGeom prst="rect">
            <a:avLst/>
          </a:prstGeom>
          <a:solidFill>
            <a:srgbClr val="0891B2"/>
          </a:solidFill>
          <a:ln w="12700">
            <a:solidFill>
              <a:srgbClr val="0891B2"/>
            </a:solidFill>
            <a:prstDash val="solid"/>
          </a:ln>
        </p:spPr>
      </p:sp>
      <p:sp>
        <p:nvSpPr>
          <p:cNvPr id="15" name="Text 13"/>
          <p:cNvSpPr txBox="1"/>
          <p:nvPr/>
        </p:nvSpPr>
        <p:spPr>
          <a:xfrm>
            <a:off x="5056632" y="2317836"/>
            <a:ext cx="1018093" cy="499872"/>
          </a:xfrm>
          <a:prstGeom prst="rect">
            <a:avLst/>
          </a:prstGeom>
          <a:noFill/>
          <a:ln/>
        </p:spPr>
        <p:txBody>
          <a:bodyPr wrap="square" lIns="0" tIns="0" rIns="0" bIns="0" rtlCol="0" anchor="ctr">
            <a:normAutofit/>
          </a:bodyPr>
          <a:lstStyle/>
          <a:p>
            <a:pPr algn="l" indent="0" marL="0">
              <a:buNone/>
            </a:pPr>
            <a:r>
              <a:rPr lang="en-US" sz="1200" b="1" dirty="0">
                <a:solidFill>
                  <a:srgbClr val="0891B2"/>
                </a:solidFill>
                <a:latin typeface="Helvetica Neue" pitchFamily="34" charset="0"/>
                <a:ea typeface="Helvetica Neue" pitchFamily="34" charset="-122"/>
                <a:cs typeface="Helvetica Neue" pitchFamily="34" charset="-120"/>
              </a:rPr>
              <a:t>Local rights</a:t>
            </a:r>
            <a:endParaRPr lang="en-US" sz="1200" dirty="0"/>
          </a:p>
        </p:txBody>
      </p:sp>
      <p:sp>
        <p:nvSpPr>
          <p:cNvPr id="16" name="Text 14"/>
          <p:cNvSpPr txBox="1"/>
          <p:nvPr/>
        </p:nvSpPr>
        <p:spPr>
          <a:xfrm>
            <a:off x="6147877" y="2314788"/>
            <a:ext cx="2383475" cy="505968"/>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Certified context · local rights · visible exceptions</a:t>
            </a:r>
            <a:endParaRPr lang="en-US" sz="1200" dirty="0"/>
          </a:p>
        </p:txBody>
      </p:sp>
      <p:sp>
        <p:nvSpPr>
          <p:cNvPr id="17" name="Shape 15"/>
          <p:cNvSpPr/>
          <p:nvPr/>
        </p:nvSpPr>
        <p:spPr>
          <a:xfrm>
            <a:off x="457200" y="3183849"/>
            <a:ext cx="3785616" cy="739292"/>
          </a:xfrm>
          <a:prstGeom prst="rect">
            <a:avLst/>
          </a:prstGeom>
          <a:solidFill>
            <a:srgbClr val="FFFFFF"/>
          </a:solidFill>
          <a:ln w="8255">
            <a:solidFill>
              <a:srgbClr val="D1D5DB"/>
            </a:solidFill>
            <a:prstDash val="solid"/>
          </a:ln>
        </p:spPr>
      </p:sp>
      <p:sp>
        <p:nvSpPr>
          <p:cNvPr id="18" name="Shape 16"/>
          <p:cNvSpPr/>
          <p:nvPr/>
        </p:nvSpPr>
        <p:spPr>
          <a:xfrm>
            <a:off x="457200" y="3183849"/>
            <a:ext cx="64008" cy="739292"/>
          </a:xfrm>
          <a:prstGeom prst="rect">
            <a:avLst/>
          </a:prstGeom>
          <a:solidFill>
            <a:srgbClr val="1D4ED8"/>
          </a:solidFill>
          <a:ln w="12700">
            <a:solidFill>
              <a:srgbClr val="1D4ED8"/>
            </a:solidFill>
            <a:prstDash val="solid"/>
          </a:ln>
        </p:spPr>
      </p:sp>
      <p:sp>
        <p:nvSpPr>
          <p:cNvPr id="19" name="Text 17"/>
          <p:cNvSpPr txBox="1"/>
          <p:nvPr/>
        </p:nvSpPr>
        <p:spPr>
          <a:xfrm>
            <a:off x="612648" y="3303560"/>
            <a:ext cx="1018093" cy="499872"/>
          </a:xfrm>
          <a:prstGeom prst="rect">
            <a:avLst/>
          </a:prstGeom>
          <a:noFill/>
          <a:ln/>
        </p:spPr>
        <p:txBody>
          <a:bodyPr wrap="square" lIns="0" tIns="0" rIns="0" bIns="0" rtlCol="0" anchor="ctr">
            <a:normAutofit/>
          </a:bodyPr>
          <a:lstStyle/>
          <a:p>
            <a:pPr algn="l" indent="0" marL="0">
              <a:buNone/>
            </a:pPr>
            <a:r>
              <a:rPr lang="en-US" sz="1200" b="1" dirty="0">
                <a:solidFill>
                  <a:srgbClr val="1D4ED8"/>
                </a:solidFill>
                <a:latin typeface="Helvetica Neue" pitchFamily="34" charset="0"/>
                <a:ea typeface="Helvetica Neue" pitchFamily="34" charset="-122"/>
                <a:cs typeface="Helvetica Neue" pitchFamily="34" charset="-120"/>
              </a:rPr>
              <a:t>Control by design</a:t>
            </a:r>
            <a:endParaRPr lang="en-US" sz="1200" dirty="0"/>
          </a:p>
        </p:txBody>
      </p:sp>
      <p:sp>
        <p:nvSpPr>
          <p:cNvPr id="20" name="Text 18"/>
          <p:cNvSpPr txBox="1"/>
          <p:nvPr/>
        </p:nvSpPr>
        <p:spPr>
          <a:xfrm>
            <a:off x="1703893" y="3220425"/>
            <a:ext cx="2383475" cy="666140"/>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SoD · access · audit · reconciliation · service · resilience · rollback</a:t>
            </a:r>
            <a:endParaRPr lang="en-US" sz="1200" dirty="0"/>
          </a:p>
        </p:txBody>
      </p:sp>
      <p:sp>
        <p:nvSpPr>
          <p:cNvPr id="21" name="Shape 19"/>
          <p:cNvSpPr/>
          <p:nvPr/>
        </p:nvSpPr>
        <p:spPr>
          <a:xfrm>
            <a:off x="4901184" y="3183849"/>
            <a:ext cx="3785616" cy="739292"/>
          </a:xfrm>
          <a:prstGeom prst="rect">
            <a:avLst/>
          </a:prstGeom>
          <a:solidFill>
            <a:srgbClr val="FFFFFF"/>
          </a:solidFill>
          <a:ln w="8255">
            <a:solidFill>
              <a:srgbClr val="D1D5DB"/>
            </a:solidFill>
            <a:prstDash val="solid"/>
          </a:ln>
        </p:spPr>
      </p:sp>
      <p:sp>
        <p:nvSpPr>
          <p:cNvPr id="22" name="Shape 20"/>
          <p:cNvSpPr/>
          <p:nvPr/>
        </p:nvSpPr>
        <p:spPr>
          <a:xfrm>
            <a:off x="4901184" y="3183849"/>
            <a:ext cx="64008" cy="739292"/>
          </a:xfrm>
          <a:prstGeom prst="rect">
            <a:avLst/>
          </a:prstGeom>
          <a:solidFill>
            <a:srgbClr val="0891B2"/>
          </a:solidFill>
          <a:ln w="12700">
            <a:solidFill>
              <a:srgbClr val="0891B2"/>
            </a:solidFill>
            <a:prstDash val="solid"/>
          </a:ln>
        </p:spPr>
      </p:sp>
      <p:sp>
        <p:nvSpPr>
          <p:cNvPr id="23" name="Text 21"/>
          <p:cNvSpPr txBox="1"/>
          <p:nvPr/>
        </p:nvSpPr>
        <p:spPr>
          <a:xfrm>
            <a:off x="5056632" y="3303560"/>
            <a:ext cx="1018093" cy="499872"/>
          </a:xfrm>
          <a:prstGeom prst="rect">
            <a:avLst/>
          </a:prstGeom>
          <a:noFill/>
          <a:ln/>
        </p:spPr>
        <p:txBody>
          <a:bodyPr wrap="square" lIns="0" tIns="0" rIns="0" bIns="0" rtlCol="0" anchor="ctr">
            <a:normAutofit/>
          </a:bodyPr>
          <a:lstStyle/>
          <a:p>
            <a:pPr algn="l" indent="0" marL="0">
              <a:buNone/>
            </a:pPr>
            <a:r>
              <a:rPr lang="en-US" sz="1200" b="1" dirty="0">
                <a:solidFill>
                  <a:srgbClr val="0891B2"/>
                </a:solidFill>
                <a:latin typeface="Helvetica Neue" pitchFamily="34" charset="0"/>
                <a:ea typeface="Helvetica Neue" pitchFamily="34" charset="-122"/>
                <a:cs typeface="Helvetica Neue" pitchFamily="34" charset="-120"/>
              </a:rPr>
              <a:t>Staged and reversible</a:t>
            </a:r>
            <a:endParaRPr lang="en-US" sz="1200" dirty="0"/>
          </a:p>
        </p:txBody>
      </p:sp>
      <p:sp>
        <p:nvSpPr>
          <p:cNvPr id="24" name="Text 22"/>
          <p:cNvSpPr txBox="1"/>
          <p:nvPr/>
        </p:nvSpPr>
        <p:spPr>
          <a:xfrm>
            <a:off x="6147877" y="3220425"/>
            <a:ext cx="2383475" cy="666140"/>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Existing ERPs · bounded cohorts · gates · rollback · local fallback</a:t>
            </a:r>
            <a:endParaRPr lang="en-US" sz="1200" dirty="0"/>
          </a:p>
        </p:txBody>
      </p:sp>
      <p:sp>
        <p:nvSpPr>
          <p:cNvPr id="25" name="Shape 23"/>
          <p:cNvSpPr/>
          <p:nvPr/>
        </p:nvSpPr>
        <p:spPr>
          <a:xfrm>
            <a:off x="457200" y="4120286"/>
            <a:ext cx="8229600" cy="492862"/>
          </a:xfrm>
          <a:prstGeom prst="rect">
            <a:avLst/>
          </a:prstGeom>
          <a:solidFill>
            <a:srgbClr val="0F172A"/>
          </a:solidFill>
          <a:ln w="8255">
            <a:solidFill>
              <a:srgbClr val="1D4ED8"/>
            </a:solidFill>
            <a:prstDash val="solid"/>
          </a:ln>
        </p:spPr>
      </p:sp>
      <p:sp>
        <p:nvSpPr>
          <p:cNvPr id="26" name="Text 24"/>
          <p:cNvSpPr txBox="1"/>
          <p:nvPr/>
        </p:nvSpPr>
        <p:spPr>
          <a:xfrm>
            <a:off x="566928" y="4194505"/>
            <a:ext cx="8010144" cy="3444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elvetica Neue" pitchFamily="34" charset="0"/>
                <a:ea typeface="Helvetica Neue" pitchFamily="34" charset="-122"/>
                <a:cs typeface="Helvetica Neue" pitchFamily="34" charset="-120"/>
              </a:rPr>
              <a:t>Any failed critical gate blocks the affected decision; value cannot compensate.</a:t>
            </a:r>
            <a:endParaRPr lang="en-US" sz="1200" dirty="0"/>
          </a:p>
        </p:txBody>
      </p:sp>
      <p:sp>
        <p:nvSpPr>
          <p:cNvPr id="27" name="Shape 25"/>
          <p:cNvSpPr/>
          <p:nvPr/>
        </p:nvSpPr>
        <p:spPr>
          <a:xfrm>
            <a:off x="457200" y="4814316"/>
            <a:ext cx="8229600" cy="18288"/>
          </a:xfrm>
          <a:prstGeom prst="rect">
            <a:avLst/>
          </a:prstGeom>
          <a:solidFill>
            <a:srgbClr val="D1D5DB"/>
          </a:solidFill>
          <a:ln w="12700">
            <a:solidFill>
              <a:srgbClr val="FFFFFF"/>
            </a:solidFill>
            <a:prstDash val="solid"/>
          </a:ln>
        </p:spPr>
      </p:sp>
      <p:sp>
        <p:nvSpPr>
          <p:cNvPr id="28" name="Text 26"/>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design principles and operating model</a:t>
            </a:r>
            <a:endParaRPr lang="en-US" sz="800" dirty="0"/>
          </a:p>
        </p:txBody>
      </p:sp>
      <p:sp>
        <p:nvSpPr>
          <p:cNvPr id="29" name="Text 27"/>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8/18</a:t>
            </a:r>
            <a:endParaRPr lang="en-US" sz="8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Federated coordination offers the best balance with a local fallback</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Weighted option score / 100; scores select direction, not execution readiness</a:t>
            </a:r>
            <a:endParaRPr lang="en-US" sz="1300" dirty="0"/>
          </a:p>
        </p:txBody>
      </p:sp>
      <p:sp>
        <p:nvSpPr>
          <p:cNvPr id="9" name="Shape 7"/>
          <p:cNvSpPr/>
          <p:nvPr/>
        </p:nvSpPr>
        <p:spPr>
          <a:xfrm>
            <a:off x="457200" y="1691640"/>
            <a:ext cx="5925312" cy="2921508"/>
          </a:xfrm>
          <a:prstGeom prst="rect">
            <a:avLst/>
          </a:prstGeom>
          <a:solidFill>
            <a:srgbClr val="FFFFFF"/>
          </a:solidFill>
          <a:ln w="7620">
            <a:solidFill>
              <a:srgbClr val="D1D5DB"/>
            </a:solidFill>
            <a:prstDash val="solid"/>
          </a:ln>
        </p:spPr>
      </p:sp>
      <p:graphicFrame>
        <p:nvGraphicFramePr>
          <p:cNvPr id="10" name="Chart 0" descr=""/>
          <p:cNvGraphicFramePr/>
          <p:nvPr/>
        </p:nvGraphicFramePr>
        <p:xfrm>
          <a:off x="566928" y="1783080"/>
          <a:ext cx="5705856" cy="2738628"/>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6793992" y="1691640"/>
            <a:ext cx="1892808" cy="1227033"/>
          </a:xfrm>
          <a:prstGeom prst="rect">
            <a:avLst/>
          </a:prstGeom>
          <a:solidFill>
            <a:srgbClr val="FFFFFF"/>
          </a:solidFill>
          <a:ln w="6985">
            <a:solidFill>
              <a:srgbClr val="D1D5DB"/>
            </a:solidFill>
            <a:prstDash val="solid"/>
          </a:ln>
        </p:spPr>
      </p:sp>
      <p:sp>
        <p:nvSpPr>
          <p:cNvPr id="12" name="Text 9"/>
          <p:cNvSpPr txBox="1"/>
          <p:nvPr/>
        </p:nvSpPr>
        <p:spPr>
          <a:xfrm>
            <a:off x="6885432" y="1783080"/>
            <a:ext cx="1709928" cy="274320"/>
          </a:xfrm>
          <a:prstGeom prst="rect">
            <a:avLst/>
          </a:prstGeom>
          <a:noFill/>
          <a:ln/>
        </p:spPr>
        <p:txBody>
          <a:bodyPr wrap="square" lIns="0" tIns="0" rIns="0" bIns="0" rtlCol="0" anchor="t">
            <a:normAutofit/>
          </a:bodyPr>
          <a:lstStyle/>
          <a:p>
            <a:pPr algn="l" indent="0" marL="0">
              <a:buNone/>
            </a:pPr>
            <a:r>
              <a:rPr lang="en-US" sz="1200" b="1" dirty="0">
                <a:solidFill>
                  <a:srgbClr val="1D4ED8"/>
                </a:solidFill>
                <a:latin typeface="Helvetica Neue" pitchFamily="34" charset="0"/>
                <a:ea typeface="Helvetica Neue" pitchFamily="34" charset="-122"/>
                <a:cs typeface="Helvetica Neue" pitchFamily="34" charset="-120"/>
              </a:rPr>
              <a:t>READOUT</a:t>
            </a:r>
            <a:endParaRPr lang="en-US" sz="1200" dirty="0"/>
          </a:p>
        </p:txBody>
      </p:sp>
      <p:sp>
        <p:nvSpPr>
          <p:cNvPr id="13" name="Text 10"/>
          <p:cNvSpPr txBox="1"/>
          <p:nvPr/>
        </p:nvSpPr>
        <p:spPr>
          <a:xfrm>
            <a:off x="6885432" y="2148840"/>
            <a:ext cx="1709928" cy="678393"/>
          </a:xfrm>
          <a:prstGeom prst="rect">
            <a:avLst/>
          </a:prstGeom>
          <a:noFill/>
          <a:ln/>
        </p:spPr>
        <p:txBody>
          <a:bodyPr wrap="square" lIns="0" tIns="0" rIns="0" bIns="0" rtlCol="0" anchor="t">
            <a:normAutofit/>
          </a:bodyPr>
          <a:lstStyle/>
          <a:p>
            <a:pPr algn="l" indent="0" marL="0">
              <a:buNone/>
            </a:pPr>
            <a:r>
              <a:rPr lang="en-US" sz="1200" dirty="0">
                <a:solidFill>
                  <a:srgbClr val="4B5563"/>
                </a:solidFill>
                <a:latin typeface="Helvetica Neue" pitchFamily="34" charset="0"/>
                <a:ea typeface="Helvetica Neue" pitchFamily="34" charset="-122"/>
                <a:cs typeface="Helvetica Neue" pitchFamily="34" charset="-120"/>
              </a:rPr>
              <a:t>5/5 sensitivity wins · 0 gates closed · switch on failure</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W3_option_summary.csv; W3_option_sensitivity.csv</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9/18</a:t>
            </a:r>
            <a:endParaRPr lang="en-US" sz="8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The target model centralizes standards and evidence—not every operational decision</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One enterprise spine with governed regional and local execution</a:t>
            </a:r>
            <a:endParaRPr lang="en-US" sz="1300" dirty="0"/>
          </a:p>
        </p:txBody>
      </p:sp>
      <p:sp>
        <p:nvSpPr>
          <p:cNvPr id="9" name="Shape 7"/>
          <p:cNvSpPr/>
          <p:nvPr/>
        </p:nvSpPr>
        <p:spPr>
          <a:xfrm>
            <a:off x="457200" y="1691640"/>
            <a:ext cx="3867912" cy="1811335"/>
          </a:xfrm>
          <a:prstGeom prst="rect">
            <a:avLst/>
          </a:prstGeom>
          <a:solidFill>
            <a:srgbClr val="FFFFFF"/>
          </a:solidFill>
          <a:ln w="8255">
            <a:solidFill>
              <a:srgbClr val="D1D5DB"/>
            </a:solidFill>
            <a:prstDash val="solid"/>
          </a:ln>
        </p:spPr>
      </p:sp>
      <p:sp>
        <p:nvSpPr>
          <p:cNvPr id="10" name="Shape 8"/>
          <p:cNvSpPr/>
          <p:nvPr/>
        </p:nvSpPr>
        <p:spPr>
          <a:xfrm>
            <a:off x="457200" y="1691640"/>
            <a:ext cx="64008" cy="1811335"/>
          </a:xfrm>
          <a:prstGeom prst="rect">
            <a:avLst/>
          </a:prstGeom>
          <a:solidFill>
            <a:srgbClr val="1D4ED8"/>
          </a:solidFill>
          <a:ln w="12700">
            <a:solidFill>
              <a:srgbClr val="1D4ED8"/>
            </a:solidFill>
            <a:prstDash val="solid"/>
          </a:ln>
        </p:spPr>
      </p:sp>
      <p:sp>
        <p:nvSpPr>
          <p:cNvPr id="11" name="Text 9"/>
          <p:cNvSpPr txBox="1"/>
          <p:nvPr/>
        </p:nvSpPr>
        <p:spPr>
          <a:xfrm>
            <a:off x="603504" y="2294031"/>
            <a:ext cx="1088136" cy="606552"/>
          </a:xfrm>
          <a:prstGeom prst="rect">
            <a:avLst/>
          </a:prstGeom>
          <a:noFill/>
          <a:ln/>
        </p:spPr>
        <p:txBody>
          <a:bodyPr wrap="square" lIns="0" tIns="0" rIns="0" bIns="0" rtlCol="0" anchor="ctr">
            <a:normAutofit/>
          </a:bodyPr>
          <a:lstStyle/>
          <a:p>
            <a:pPr algn="l" indent="0" marL="0">
              <a:buNone/>
            </a:pPr>
            <a:r>
              <a:rPr lang="en-US" sz="1500" b="1" dirty="0">
                <a:solidFill>
                  <a:srgbClr val="1D4ED8"/>
                </a:solidFill>
                <a:latin typeface="Helvetica Neue" pitchFamily="34" charset="0"/>
                <a:ea typeface="Helvetica Neue" pitchFamily="34" charset="-122"/>
                <a:cs typeface="Helvetica Neue" pitchFamily="34" charset="-120"/>
              </a:rPr>
              <a:t>Global spine</a:t>
            </a:r>
            <a:endParaRPr lang="en-US" sz="1500" dirty="0"/>
          </a:p>
        </p:txBody>
      </p:sp>
      <p:sp>
        <p:nvSpPr>
          <p:cNvPr id="12" name="Text 10"/>
          <p:cNvSpPr txBox="1"/>
          <p:nvPr/>
        </p:nvSpPr>
        <p:spPr>
          <a:xfrm>
            <a:off x="1801368" y="1837944"/>
            <a:ext cx="2377440" cy="1518727"/>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 Treasury: policy, data, position and mobility standards</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 CIO: integration, access, audit, cyber and resilience</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 Finance: cost/benefit admission and change control</a:t>
            </a:r>
            <a:endParaRPr lang="en-US" sz="1200" dirty="0"/>
          </a:p>
        </p:txBody>
      </p:sp>
      <p:sp>
        <p:nvSpPr>
          <p:cNvPr id="13" name="Shape 11"/>
          <p:cNvSpPr/>
          <p:nvPr/>
        </p:nvSpPr>
        <p:spPr>
          <a:xfrm>
            <a:off x="4818888" y="1691640"/>
            <a:ext cx="3867912" cy="1811335"/>
          </a:xfrm>
          <a:prstGeom prst="rect">
            <a:avLst/>
          </a:prstGeom>
          <a:solidFill>
            <a:srgbClr val="FFFFFF"/>
          </a:solidFill>
          <a:ln w="8255">
            <a:solidFill>
              <a:srgbClr val="D1D5DB"/>
            </a:solidFill>
            <a:prstDash val="solid"/>
          </a:ln>
        </p:spPr>
      </p:sp>
      <p:sp>
        <p:nvSpPr>
          <p:cNvPr id="14" name="Shape 12"/>
          <p:cNvSpPr/>
          <p:nvPr/>
        </p:nvSpPr>
        <p:spPr>
          <a:xfrm>
            <a:off x="4818888" y="1691640"/>
            <a:ext cx="64008" cy="1811335"/>
          </a:xfrm>
          <a:prstGeom prst="rect">
            <a:avLst/>
          </a:prstGeom>
          <a:solidFill>
            <a:srgbClr val="0891B2"/>
          </a:solidFill>
          <a:ln w="12700">
            <a:solidFill>
              <a:srgbClr val="0891B2"/>
            </a:solidFill>
            <a:prstDash val="solid"/>
          </a:ln>
        </p:spPr>
      </p:sp>
      <p:sp>
        <p:nvSpPr>
          <p:cNvPr id="15" name="Text 13"/>
          <p:cNvSpPr txBox="1"/>
          <p:nvPr/>
        </p:nvSpPr>
        <p:spPr>
          <a:xfrm>
            <a:off x="4965192" y="2183541"/>
            <a:ext cx="1088136" cy="827532"/>
          </a:xfrm>
          <a:prstGeom prst="rect">
            <a:avLst/>
          </a:prstGeom>
          <a:noFill/>
          <a:ln/>
        </p:spPr>
        <p:txBody>
          <a:bodyPr wrap="square" lIns="0" tIns="0" rIns="0" bIns="0" rtlCol="0" anchor="ctr">
            <a:normAutofit/>
          </a:bodyPr>
          <a:lstStyle/>
          <a:p>
            <a:pPr algn="l" indent="0" marL="0">
              <a:buNone/>
            </a:pPr>
            <a:r>
              <a:rPr lang="en-US" sz="1500" b="1" dirty="0">
                <a:solidFill>
                  <a:srgbClr val="0891B2"/>
                </a:solidFill>
                <a:latin typeface="Helvetica Neue" pitchFamily="34" charset="0"/>
                <a:ea typeface="Helvetica Neue" pitchFamily="34" charset="-122"/>
                <a:cs typeface="Helvetica Neue" pitchFamily="34" charset="-120"/>
              </a:rPr>
              <a:t>Regional and local rights</a:t>
            </a:r>
            <a:endParaRPr lang="en-US" sz="1500" dirty="0"/>
          </a:p>
        </p:txBody>
      </p:sp>
      <p:sp>
        <p:nvSpPr>
          <p:cNvPr id="16" name="Text 14"/>
          <p:cNvSpPr txBox="1"/>
          <p:nvPr/>
        </p:nvSpPr>
        <p:spPr>
          <a:xfrm>
            <a:off x="6163056" y="2039523"/>
            <a:ext cx="2377440" cy="1115568"/>
          </a:xfrm>
          <a:prstGeom prst="rect">
            <a:avLst/>
          </a:prstGeom>
          <a:noFill/>
          <a:ln/>
        </p:spPr>
        <p:txBody>
          <a:bodyPr wrap="square" lIns="0" tIns="0" rIns="0" bIns="0" rtlCol="0" anchor="ctr">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 Regions/BU: context, requests, critical service and emergencies</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 Shared Services: payment execution and exceptions</a:t>
            </a:r>
            <a:endParaRPr lang="en-US" sz="1200" dirty="0"/>
          </a:p>
        </p:txBody>
      </p:sp>
      <p:sp>
        <p:nvSpPr>
          <p:cNvPr id="17" name="Shape 15"/>
          <p:cNvSpPr/>
          <p:nvPr/>
        </p:nvSpPr>
        <p:spPr>
          <a:xfrm>
            <a:off x="457200" y="3736696"/>
            <a:ext cx="8229600" cy="701162"/>
          </a:xfrm>
          <a:prstGeom prst="rect">
            <a:avLst/>
          </a:prstGeom>
          <a:solidFill>
            <a:srgbClr val="0F172A"/>
          </a:solidFill>
          <a:ln w="8255">
            <a:solidFill>
              <a:srgbClr val="0891B2"/>
            </a:solidFill>
            <a:prstDash val="solid"/>
          </a:ln>
        </p:spPr>
      </p:sp>
      <p:sp>
        <p:nvSpPr>
          <p:cNvPr id="18" name="Text 16"/>
          <p:cNvSpPr txBox="1"/>
          <p:nvPr/>
        </p:nvSpPr>
        <p:spPr>
          <a:xfrm>
            <a:off x="548640" y="3852581"/>
            <a:ext cx="8046720" cy="46939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elvetica Neue" pitchFamily="34" charset="0"/>
                <a:ea typeface="Helvetica Neue" pitchFamily="34" charset="-122"/>
                <a:cs typeface="Helvetica Neue" pitchFamily="34" charset="-120"/>
              </a:rPr>
              <a:t>Internal Audit remains independent; Legal/Tax owns specialist conclusions; every production pilot requires a separate go/no-go.</a:t>
            </a:r>
            <a:endParaRPr lang="en-US" sz="1200" dirty="0"/>
          </a:p>
        </p:txBody>
      </p:sp>
      <p:sp>
        <p:nvSpPr>
          <p:cNvPr id="19" name="Shape 17"/>
          <p:cNvSpPr/>
          <p:nvPr/>
        </p:nvSpPr>
        <p:spPr>
          <a:xfrm>
            <a:off x="457200" y="4814316"/>
            <a:ext cx="8229600" cy="18288"/>
          </a:xfrm>
          <a:prstGeom prst="rect">
            <a:avLst/>
          </a:prstGeom>
          <a:solidFill>
            <a:srgbClr val="D1D5DB"/>
          </a:solidFill>
          <a:ln w="12700">
            <a:solidFill>
              <a:srgbClr val="FFFFFF"/>
            </a:solidFill>
            <a:prstDash val="solid"/>
          </a:ln>
        </p:spPr>
      </p:sp>
      <p:sp>
        <p:nvSpPr>
          <p:cNvPr id="20" name="Text 18"/>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future-state process/RACI; final governance/RACI</a:t>
            </a:r>
            <a:endParaRPr lang="en-US" sz="800" dirty="0"/>
          </a:p>
        </p:txBody>
      </p:sp>
      <p:sp>
        <p:nvSpPr>
          <p:cNvPr id="21" name="Text 19"/>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10/18</a:t>
            </a:r>
            <a:endParaRPr lang="en-US" sz="8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Seven initiatives start with data, governance, and value control—not platform procurement</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Priority score combines value 30%, risk 25%, feasibility 20%, dependency 15%, speed 10%</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925312" cy="2921508"/>
        </p:xfrm>
        <a:graphic>
          <a:graphicData uri="http://schemas.openxmlformats.org/drawingml/2006/table">
            <a:tbl>
              <a:tblPr/>
              <a:tblGrid>
                <a:gridCol w="474025"/>
                <a:gridCol w="1777594"/>
                <a:gridCol w="592531"/>
                <a:gridCol w="1422075"/>
                <a:gridCol w="1659087"/>
              </a:tblGrid>
              <a:tr h="310896">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Rank</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Initiative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Score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Accountable owner</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First exit</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1</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Cash data &amp; visibility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94</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Group Treasurer</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G1 metric/population contract</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2</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Benefits, cost &amp; KPI assurance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92</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CFO / Finance Benefits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G2 cost evidence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3</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Governance, service &amp; adoption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86</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CFO / Treasurer</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G1 RACI and rights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4</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Payment controls &amp; exceptions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85</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Shared Services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Day 75 cause readout</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5</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Liquidity certification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83</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Group Treasurer</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G2 certification design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6</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Integration, access &amp; resilience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80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CIO</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G3 rollback pass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7</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Account rationalization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63</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Group Treasurer</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Per-account G2 decision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0" name="Shape 7"/>
          <p:cNvSpPr/>
          <p:nvPr/>
        </p:nvSpPr>
        <p:spPr>
          <a:xfrm>
            <a:off x="6793992" y="1691640"/>
            <a:ext cx="1892808" cy="2921508"/>
          </a:xfrm>
          <a:prstGeom prst="rect">
            <a:avLst/>
          </a:prstGeom>
          <a:solidFill>
            <a:srgbClr val="FFFFFF"/>
          </a:solidFill>
          <a:ln w="8255">
            <a:solidFill>
              <a:srgbClr val="D1D5DB"/>
            </a:solidFill>
            <a:prstDash val="solid"/>
          </a:ln>
        </p:spPr>
      </p:sp>
      <p:sp>
        <p:nvSpPr>
          <p:cNvPr id="11" name="Shape 8"/>
          <p:cNvSpPr/>
          <p:nvPr/>
        </p:nvSpPr>
        <p:spPr>
          <a:xfrm>
            <a:off x="6793992" y="1691640"/>
            <a:ext cx="64008" cy="2921508"/>
          </a:xfrm>
          <a:prstGeom prst="rect">
            <a:avLst/>
          </a:prstGeom>
          <a:solidFill>
            <a:srgbClr val="0891B2"/>
          </a:solidFill>
          <a:ln w="12700">
            <a:solidFill>
              <a:srgbClr val="0891B2"/>
            </a:solidFill>
            <a:prstDash val="solid"/>
          </a:ln>
        </p:spPr>
      </p:sp>
      <p:sp>
        <p:nvSpPr>
          <p:cNvPr id="12" name="Text 9"/>
          <p:cNvSpPr txBox="1"/>
          <p:nvPr/>
        </p:nvSpPr>
        <p:spPr>
          <a:xfrm>
            <a:off x="6958584" y="1837944"/>
            <a:ext cx="1581912" cy="310896"/>
          </a:xfrm>
          <a:prstGeom prst="rect">
            <a:avLst/>
          </a:prstGeom>
          <a:noFill/>
          <a:ln/>
        </p:spPr>
        <p:txBody>
          <a:bodyPr wrap="square" lIns="0" tIns="0" rIns="0" bIns="0" rtlCol="0" anchor="t">
            <a:normAutofit/>
          </a:bodyPr>
          <a:lstStyle/>
          <a:p>
            <a:pPr algn="l" indent="0" marL="0">
              <a:buNone/>
            </a:pPr>
            <a:r>
              <a:rPr lang="en-US" sz="1200" b="1" spc="120" kern="0" dirty="0">
                <a:solidFill>
                  <a:srgbClr val="1D4ED8"/>
                </a:solidFill>
                <a:latin typeface="Helvetica Neue" pitchFamily="34" charset="0"/>
                <a:ea typeface="Helvetica Neue" pitchFamily="34" charset="-122"/>
                <a:cs typeface="Helvetica Neue" pitchFamily="34" charset="-120"/>
              </a:rPr>
              <a:t>READOUT</a:t>
            </a:r>
            <a:endParaRPr lang="en-US" sz="1200" dirty="0"/>
          </a:p>
        </p:txBody>
      </p:sp>
      <p:sp>
        <p:nvSpPr>
          <p:cNvPr id="13" name="Text 10"/>
          <p:cNvSpPr txBox="1"/>
          <p:nvPr/>
        </p:nvSpPr>
        <p:spPr>
          <a:xfrm>
            <a:off x="6958584" y="2240280"/>
            <a:ext cx="1581912" cy="865632"/>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1: Cash data &amp; visibility</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2: Benefits, cost &amp; KPI assurance</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W4_initiative_portfolio.csv · model v1</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11/18</a:t>
            </a:r>
            <a:endParaRPr lang="en-US" sz="8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The business case stays credible by keeping unlike value types separate</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Current validated, funded, and recognized value remains zero</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925312" cy="2921508"/>
        </p:xfrm>
        <a:graphic>
          <a:graphicData uri="http://schemas.openxmlformats.org/drawingml/2006/table">
            <a:tbl>
              <a:tblPr/>
              <a:tblGrid>
                <a:gridCol w="1303569"/>
                <a:gridCol w="2370125"/>
                <a:gridCol w="948050"/>
                <a:gridCol w="1303569"/>
              </a:tblGrid>
              <a:tr h="310896">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Value type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Diagnostic quantity</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Recognized</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Admission gate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Cash release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$21m / $35m / $46.2m screens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VG01–VG05</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Annual P&amp;L</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$3,900 / $7,800 / $7,800 fee sensitivity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VG06–VG07</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Productive capacity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50 / 150 / 150 hours/month</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VG08–VG10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Risk reduction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Exposure and value not quantified</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$0 ledger entry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VG11–VG12</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10" name="Shape 7"/>
          <p:cNvSpPr/>
          <p:nvPr/>
        </p:nvSpPr>
        <p:spPr>
          <a:xfrm>
            <a:off x="6793992" y="1691640"/>
            <a:ext cx="1892808" cy="2921508"/>
          </a:xfrm>
          <a:prstGeom prst="rect">
            <a:avLst/>
          </a:prstGeom>
          <a:solidFill>
            <a:srgbClr val="FFFFFF"/>
          </a:solidFill>
          <a:ln w="8255">
            <a:solidFill>
              <a:srgbClr val="D1D5DB"/>
            </a:solidFill>
            <a:prstDash val="solid"/>
          </a:ln>
        </p:spPr>
      </p:sp>
      <p:sp>
        <p:nvSpPr>
          <p:cNvPr id="11" name="Shape 8"/>
          <p:cNvSpPr/>
          <p:nvPr/>
        </p:nvSpPr>
        <p:spPr>
          <a:xfrm>
            <a:off x="6793992" y="1691640"/>
            <a:ext cx="64008" cy="2921508"/>
          </a:xfrm>
          <a:prstGeom prst="rect">
            <a:avLst/>
          </a:prstGeom>
          <a:solidFill>
            <a:srgbClr val="0891B2"/>
          </a:solidFill>
          <a:ln w="12700">
            <a:solidFill>
              <a:srgbClr val="0891B2"/>
            </a:solidFill>
            <a:prstDash val="solid"/>
          </a:ln>
        </p:spPr>
      </p:sp>
      <p:sp>
        <p:nvSpPr>
          <p:cNvPr id="12" name="Text 9"/>
          <p:cNvSpPr txBox="1"/>
          <p:nvPr/>
        </p:nvSpPr>
        <p:spPr>
          <a:xfrm>
            <a:off x="6958584" y="1837944"/>
            <a:ext cx="1581912" cy="310896"/>
          </a:xfrm>
          <a:prstGeom prst="rect">
            <a:avLst/>
          </a:prstGeom>
          <a:noFill/>
          <a:ln/>
        </p:spPr>
        <p:txBody>
          <a:bodyPr wrap="square" lIns="0" tIns="0" rIns="0" bIns="0" rtlCol="0" anchor="t">
            <a:normAutofit/>
          </a:bodyPr>
          <a:lstStyle/>
          <a:p>
            <a:pPr algn="l" indent="0" marL="0">
              <a:buNone/>
            </a:pPr>
            <a:r>
              <a:rPr lang="en-US" sz="1200" b="1" spc="120" kern="0" dirty="0">
                <a:solidFill>
                  <a:srgbClr val="1D4ED8"/>
                </a:solidFill>
                <a:latin typeface="Helvetica Neue" pitchFamily="34" charset="0"/>
                <a:ea typeface="Helvetica Neue" pitchFamily="34" charset="-122"/>
                <a:cs typeface="Helvetica Neue" pitchFamily="34" charset="-120"/>
              </a:rPr>
              <a:t>READOUT</a:t>
            </a:r>
            <a:endParaRPr lang="en-US" sz="1200" dirty="0"/>
          </a:p>
        </p:txBody>
      </p:sp>
      <p:sp>
        <p:nvSpPr>
          <p:cNvPr id="13" name="Text 10"/>
          <p:cNvSpPr txBox="1"/>
          <p:nvPr/>
        </p:nvSpPr>
        <p:spPr>
          <a:xfrm>
            <a:off x="6958584" y="2240280"/>
            <a:ext cx="1581912" cy="1405128"/>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Cash release: $21m / $35m / $46.2m screens</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Annual P&amp;L: $3,900 / $7,800 / $7,800 fee sensitivity</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W3 business-case/value/cost outputs; W4 benefits tracker</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12/18</a:t>
            </a:r>
            <a:endParaRPr lang="en-US" sz="8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Use 90 days to earn a bounded test before scaling</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Day 90 is a decision gate—not a launch date</a:t>
            </a:r>
            <a:endParaRPr lang="en-US" sz="1300" dirty="0"/>
          </a:p>
        </p:txBody>
      </p:sp>
      <p:sp>
        <p:nvSpPr>
          <p:cNvPr id="9" name="Shape 7"/>
          <p:cNvSpPr/>
          <p:nvPr/>
        </p:nvSpPr>
        <p:spPr>
          <a:xfrm>
            <a:off x="457200" y="1801368"/>
            <a:ext cx="8229600" cy="419710"/>
          </a:xfrm>
          <a:prstGeom prst="rect">
            <a:avLst/>
          </a:prstGeom>
          <a:solidFill>
            <a:srgbClr val="F8FAFC"/>
          </a:solidFill>
          <a:ln w="9525">
            <a:solidFill>
              <a:srgbClr val="D1D5DB"/>
            </a:solidFill>
            <a:prstDash val="solid"/>
          </a:ln>
        </p:spPr>
      </p:sp>
      <p:sp>
        <p:nvSpPr>
          <p:cNvPr id="10" name="Shape 8"/>
          <p:cNvSpPr/>
          <p:nvPr/>
        </p:nvSpPr>
        <p:spPr>
          <a:xfrm>
            <a:off x="457200" y="1801368"/>
            <a:ext cx="73152" cy="419710"/>
          </a:xfrm>
          <a:prstGeom prst="rect">
            <a:avLst/>
          </a:prstGeom>
          <a:solidFill>
            <a:srgbClr val="1D4ED8"/>
          </a:solidFill>
          <a:ln w="12700">
            <a:solidFill>
              <a:srgbClr val="1D4ED8"/>
            </a:solidFill>
            <a:prstDash val="solid"/>
          </a:ln>
        </p:spPr>
      </p:sp>
      <p:sp>
        <p:nvSpPr>
          <p:cNvPr id="11" name="Text 9"/>
          <p:cNvSpPr txBox="1"/>
          <p:nvPr/>
        </p:nvSpPr>
        <p:spPr>
          <a:xfrm>
            <a:off x="658368" y="1947672"/>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1D4ED8"/>
                </a:solidFill>
                <a:latin typeface="Helvetica Neue" pitchFamily="34" charset="0"/>
                <a:ea typeface="Helvetica Neue" pitchFamily="34" charset="-122"/>
                <a:cs typeface="Helvetica Neue" pitchFamily="34" charset="-120"/>
              </a:rPr>
              <a:t>0–30D</a:t>
            </a:r>
            <a:endParaRPr lang="en-US" sz="800" dirty="0"/>
          </a:p>
        </p:txBody>
      </p:sp>
      <p:sp>
        <p:nvSpPr>
          <p:cNvPr id="12" name="Text 10"/>
          <p:cNvSpPr txBox="1"/>
          <p:nvPr/>
        </p:nvSpPr>
        <p:spPr>
          <a:xfrm>
            <a:off x="1755648" y="1892808"/>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Own the facts</a:t>
            </a:r>
            <a:endParaRPr lang="en-US" sz="1140" dirty="0"/>
          </a:p>
        </p:txBody>
      </p:sp>
      <p:sp>
        <p:nvSpPr>
          <p:cNvPr id="13" name="Text 11"/>
          <p:cNvSpPr txBox="1"/>
          <p:nvPr/>
        </p:nvSpPr>
        <p:spPr>
          <a:xfrm>
            <a:off x="3950208" y="1911096"/>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Lock populations, sources, owners and baselines.</a:t>
            </a:r>
            <a:endParaRPr lang="en-US" sz="880" dirty="0"/>
          </a:p>
        </p:txBody>
      </p:sp>
      <p:sp>
        <p:nvSpPr>
          <p:cNvPr id="14" name="Shape 12"/>
          <p:cNvSpPr/>
          <p:nvPr/>
        </p:nvSpPr>
        <p:spPr>
          <a:xfrm>
            <a:off x="457200" y="2367382"/>
            <a:ext cx="8229600" cy="419710"/>
          </a:xfrm>
          <a:prstGeom prst="rect">
            <a:avLst/>
          </a:prstGeom>
          <a:solidFill>
            <a:srgbClr val="FFFFFF"/>
          </a:solidFill>
          <a:ln w="9525">
            <a:solidFill>
              <a:srgbClr val="D1D5DB"/>
            </a:solidFill>
            <a:prstDash val="solid"/>
          </a:ln>
        </p:spPr>
      </p:sp>
      <p:sp>
        <p:nvSpPr>
          <p:cNvPr id="15" name="Shape 13"/>
          <p:cNvSpPr/>
          <p:nvPr/>
        </p:nvSpPr>
        <p:spPr>
          <a:xfrm>
            <a:off x="457200" y="2367382"/>
            <a:ext cx="73152" cy="419710"/>
          </a:xfrm>
          <a:prstGeom prst="rect">
            <a:avLst/>
          </a:prstGeom>
          <a:solidFill>
            <a:srgbClr val="0891B2"/>
          </a:solidFill>
          <a:ln w="12700">
            <a:solidFill>
              <a:srgbClr val="0891B2"/>
            </a:solidFill>
            <a:prstDash val="solid"/>
          </a:ln>
        </p:spPr>
      </p:sp>
      <p:sp>
        <p:nvSpPr>
          <p:cNvPr id="16" name="Text 14"/>
          <p:cNvSpPr txBox="1"/>
          <p:nvPr/>
        </p:nvSpPr>
        <p:spPr>
          <a:xfrm>
            <a:off x="658368" y="2513686"/>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0891B2"/>
                </a:solidFill>
                <a:latin typeface="Helvetica Neue" pitchFamily="34" charset="0"/>
                <a:ea typeface="Helvetica Neue" pitchFamily="34" charset="-122"/>
                <a:cs typeface="Helvetica Neue" pitchFamily="34" charset="-120"/>
              </a:rPr>
              <a:t>31–60D</a:t>
            </a:r>
            <a:endParaRPr lang="en-US" sz="800" dirty="0"/>
          </a:p>
        </p:txBody>
      </p:sp>
      <p:sp>
        <p:nvSpPr>
          <p:cNvPr id="17" name="Text 15"/>
          <p:cNvSpPr txBox="1"/>
          <p:nvPr/>
        </p:nvSpPr>
        <p:spPr>
          <a:xfrm>
            <a:off x="1755648" y="2458822"/>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Prove conditions</a:t>
            </a:r>
            <a:endParaRPr lang="en-US" sz="1140" dirty="0"/>
          </a:p>
        </p:txBody>
      </p:sp>
      <p:sp>
        <p:nvSpPr>
          <p:cNvPr id="18" name="Text 16"/>
          <p:cNvSpPr txBox="1"/>
          <p:nvPr/>
        </p:nvSpPr>
        <p:spPr>
          <a:xfrm>
            <a:off x="3950208" y="2477110"/>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Close local, control, architecture and cost gaps.</a:t>
            </a:r>
            <a:endParaRPr lang="en-US" sz="880" dirty="0"/>
          </a:p>
        </p:txBody>
      </p:sp>
      <p:sp>
        <p:nvSpPr>
          <p:cNvPr id="19" name="Shape 17"/>
          <p:cNvSpPr/>
          <p:nvPr/>
        </p:nvSpPr>
        <p:spPr>
          <a:xfrm>
            <a:off x="457200" y="2933395"/>
            <a:ext cx="8229600" cy="419710"/>
          </a:xfrm>
          <a:prstGeom prst="rect">
            <a:avLst/>
          </a:prstGeom>
          <a:solidFill>
            <a:srgbClr val="F8FAFC"/>
          </a:solidFill>
          <a:ln w="9525">
            <a:solidFill>
              <a:srgbClr val="D1D5DB"/>
            </a:solidFill>
            <a:prstDash val="solid"/>
          </a:ln>
        </p:spPr>
      </p:sp>
      <p:sp>
        <p:nvSpPr>
          <p:cNvPr id="20" name="Shape 18"/>
          <p:cNvSpPr/>
          <p:nvPr/>
        </p:nvSpPr>
        <p:spPr>
          <a:xfrm>
            <a:off x="457200" y="2933395"/>
            <a:ext cx="73152" cy="419710"/>
          </a:xfrm>
          <a:prstGeom prst="rect">
            <a:avLst/>
          </a:prstGeom>
          <a:solidFill>
            <a:srgbClr val="1D4ED8"/>
          </a:solidFill>
          <a:ln w="12700">
            <a:solidFill>
              <a:srgbClr val="1D4ED8"/>
            </a:solidFill>
            <a:prstDash val="solid"/>
          </a:ln>
        </p:spPr>
      </p:sp>
      <p:sp>
        <p:nvSpPr>
          <p:cNvPr id="21" name="Text 19"/>
          <p:cNvSpPr txBox="1"/>
          <p:nvPr/>
        </p:nvSpPr>
        <p:spPr>
          <a:xfrm>
            <a:off x="658368" y="3079699"/>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1D4ED8"/>
                </a:solidFill>
                <a:latin typeface="Helvetica Neue" pitchFamily="34" charset="0"/>
                <a:ea typeface="Helvetica Neue" pitchFamily="34" charset="-122"/>
                <a:cs typeface="Helvetica Neue" pitchFamily="34" charset="-120"/>
              </a:rPr>
              <a:t>61–90D</a:t>
            </a:r>
            <a:endParaRPr lang="en-US" sz="800" dirty="0"/>
          </a:p>
        </p:txBody>
      </p:sp>
      <p:sp>
        <p:nvSpPr>
          <p:cNvPr id="22" name="Text 20"/>
          <p:cNvSpPr txBox="1"/>
          <p:nvPr/>
        </p:nvSpPr>
        <p:spPr>
          <a:xfrm>
            <a:off x="1755648" y="3024835"/>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Make ready</a:t>
            </a:r>
            <a:endParaRPr lang="en-US" sz="1140" dirty="0"/>
          </a:p>
        </p:txBody>
      </p:sp>
      <p:sp>
        <p:nvSpPr>
          <p:cNvPr id="23" name="Text 21"/>
          <p:cNvSpPr txBox="1"/>
          <p:nvPr/>
        </p:nvSpPr>
        <p:spPr>
          <a:xfrm>
            <a:off x="3950208" y="3043123"/>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Prepare cohort gates, controls, rollback and freeze path.</a:t>
            </a:r>
            <a:endParaRPr lang="en-US" sz="880" dirty="0"/>
          </a:p>
        </p:txBody>
      </p:sp>
      <p:sp>
        <p:nvSpPr>
          <p:cNvPr id="24" name="Shape 22"/>
          <p:cNvSpPr/>
          <p:nvPr/>
        </p:nvSpPr>
        <p:spPr>
          <a:xfrm>
            <a:off x="457200" y="3499409"/>
            <a:ext cx="8229600" cy="419710"/>
          </a:xfrm>
          <a:prstGeom prst="rect">
            <a:avLst/>
          </a:prstGeom>
          <a:solidFill>
            <a:srgbClr val="FFFFFF"/>
          </a:solidFill>
          <a:ln w="9525">
            <a:solidFill>
              <a:srgbClr val="D1D5DB"/>
            </a:solidFill>
            <a:prstDash val="solid"/>
          </a:ln>
        </p:spPr>
      </p:sp>
      <p:sp>
        <p:nvSpPr>
          <p:cNvPr id="25" name="Shape 23"/>
          <p:cNvSpPr/>
          <p:nvPr/>
        </p:nvSpPr>
        <p:spPr>
          <a:xfrm>
            <a:off x="457200" y="3499409"/>
            <a:ext cx="73152" cy="419710"/>
          </a:xfrm>
          <a:prstGeom prst="rect">
            <a:avLst/>
          </a:prstGeom>
          <a:solidFill>
            <a:srgbClr val="0891B2"/>
          </a:solidFill>
          <a:ln w="12700">
            <a:solidFill>
              <a:srgbClr val="0891B2"/>
            </a:solidFill>
            <a:prstDash val="solid"/>
          </a:ln>
        </p:spPr>
      </p:sp>
      <p:sp>
        <p:nvSpPr>
          <p:cNvPr id="26" name="Text 24"/>
          <p:cNvSpPr txBox="1"/>
          <p:nvPr/>
        </p:nvSpPr>
        <p:spPr>
          <a:xfrm>
            <a:off x="658368" y="3645713"/>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0891B2"/>
                </a:solidFill>
                <a:latin typeface="Helvetica Neue" pitchFamily="34" charset="0"/>
                <a:ea typeface="Helvetica Neue" pitchFamily="34" charset="-122"/>
                <a:cs typeface="Helvetica Neue" pitchFamily="34" charset="-120"/>
              </a:rPr>
              <a:t>M4–6</a:t>
            </a:r>
            <a:endParaRPr lang="en-US" sz="800" dirty="0"/>
          </a:p>
        </p:txBody>
      </p:sp>
      <p:sp>
        <p:nvSpPr>
          <p:cNvPr id="27" name="Text 25"/>
          <p:cNvSpPr txBox="1"/>
          <p:nvPr/>
        </p:nvSpPr>
        <p:spPr>
          <a:xfrm>
            <a:off x="1755648" y="3590849"/>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Wave 1</a:t>
            </a:r>
            <a:endParaRPr lang="en-US" sz="1140" dirty="0"/>
          </a:p>
        </p:txBody>
      </p:sp>
      <p:sp>
        <p:nvSpPr>
          <p:cNvPr id="28" name="Text 26"/>
          <p:cNvSpPr txBox="1"/>
          <p:nvPr/>
        </p:nvSpPr>
        <p:spPr>
          <a:xfrm>
            <a:off x="3950208" y="3609137"/>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Separate approvals; bounded visibility and safe change.</a:t>
            </a:r>
            <a:endParaRPr lang="en-US" sz="880" dirty="0"/>
          </a:p>
        </p:txBody>
      </p:sp>
      <p:sp>
        <p:nvSpPr>
          <p:cNvPr id="29" name="Shape 27"/>
          <p:cNvSpPr/>
          <p:nvPr/>
        </p:nvSpPr>
        <p:spPr>
          <a:xfrm>
            <a:off x="457200" y="4065422"/>
            <a:ext cx="8229600" cy="419710"/>
          </a:xfrm>
          <a:prstGeom prst="rect">
            <a:avLst/>
          </a:prstGeom>
          <a:solidFill>
            <a:srgbClr val="F8FAFC"/>
          </a:solidFill>
          <a:ln w="9525">
            <a:solidFill>
              <a:srgbClr val="D1D5DB"/>
            </a:solidFill>
            <a:prstDash val="solid"/>
          </a:ln>
        </p:spPr>
      </p:sp>
      <p:sp>
        <p:nvSpPr>
          <p:cNvPr id="30" name="Shape 28"/>
          <p:cNvSpPr/>
          <p:nvPr/>
        </p:nvSpPr>
        <p:spPr>
          <a:xfrm>
            <a:off x="457200" y="4065422"/>
            <a:ext cx="73152" cy="419710"/>
          </a:xfrm>
          <a:prstGeom prst="rect">
            <a:avLst/>
          </a:prstGeom>
          <a:solidFill>
            <a:srgbClr val="1D4ED8"/>
          </a:solidFill>
          <a:ln w="12700">
            <a:solidFill>
              <a:srgbClr val="1D4ED8"/>
            </a:solidFill>
            <a:prstDash val="solid"/>
          </a:ln>
        </p:spPr>
      </p:sp>
      <p:sp>
        <p:nvSpPr>
          <p:cNvPr id="31" name="Text 29"/>
          <p:cNvSpPr txBox="1"/>
          <p:nvPr/>
        </p:nvSpPr>
        <p:spPr>
          <a:xfrm>
            <a:off x="658368" y="4211726"/>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1D4ED8"/>
                </a:solidFill>
                <a:latin typeface="Helvetica Neue" pitchFamily="34" charset="0"/>
                <a:ea typeface="Helvetica Neue" pitchFamily="34" charset="-122"/>
                <a:cs typeface="Helvetica Neue" pitchFamily="34" charset="-120"/>
              </a:rPr>
              <a:t>M7–12</a:t>
            </a:r>
            <a:endParaRPr lang="en-US" sz="800" dirty="0"/>
          </a:p>
        </p:txBody>
      </p:sp>
      <p:sp>
        <p:nvSpPr>
          <p:cNvPr id="32" name="Text 30"/>
          <p:cNvSpPr txBox="1"/>
          <p:nvPr/>
        </p:nvSpPr>
        <p:spPr>
          <a:xfrm>
            <a:off x="1755648" y="4156862"/>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Wave 2</a:t>
            </a:r>
            <a:endParaRPr lang="en-US" sz="1140" dirty="0"/>
          </a:p>
        </p:txBody>
      </p:sp>
      <p:sp>
        <p:nvSpPr>
          <p:cNvPr id="33" name="Text 31"/>
          <p:cNvSpPr txBox="1"/>
          <p:nvPr/>
        </p:nvSpPr>
        <p:spPr>
          <a:xfrm>
            <a:off x="3950208" y="4175150"/>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Scale only where cash and payment evidence holds.</a:t>
            </a:r>
            <a:endParaRPr lang="en-US" sz="880" dirty="0"/>
          </a:p>
        </p:txBody>
      </p:sp>
      <p:sp>
        <p:nvSpPr>
          <p:cNvPr id="34" name="Shape 32"/>
          <p:cNvSpPr/>
          <p:nvPr/>
        </p:nvSpPr>
        <p:spPr>
          <a:xfrm>
            <a:off x="457200" y="4814316"/>
            <a:ext cx="8229600" cy="18288"/>
          </a:xfrm>
          <a:prstGeom prst="rect">
            <a:avLst/>
          </a:prstGeom>
          <a:solidFill>
            <a:srgbClr val="D1D5DB"/>
          </a:solidFill>
          <a:ln w="12700">
            <a:solidFill>
              <a:srgbClr val="FFFFFF"/>
            </a:solidFill>
            <a:prstDash val="solid"/>
          </a:ln>
        </p:spPr>
      </p:sp>
      <p:sp>
        <p:nvSpPr>
          <p:cNvPr id="35" name="Text 33"/>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W4 roadmap/stage-gate outputs; NA freeze constraint</a:t>
            </a:r>
            <a:endParaRPr lang="en-US" sz="800" dirty="0"/>
          </a:p>
        </p:txBody>
      </p:sp>
      <p:sp>
        <p:nvSpPr>
          <p:cNvPr id="36" name="Text 34"/>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13/18</a:t>
            </a:r>
            <a:endParaRPr lang="en-US" sz="8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Governance converts the roadmap into stop, switch, and scale decisions</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Critical risk cannot be averaged away</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5925312" cy="2921508"/>
        </p:xfrm>
        <a:graphic>
          <a:graphicData uri="http://schemas.openxmlformats.org/drawingml/2006/table">
            <a:tbl>
              <a:tblPr/>
              <a:tblGrid>
                <a:gridCol w="1599834"/>
                <a:gridCol w="1659087"/>
                <a:gridCol w="1303569"/>
                <a:gridCol w="1362822"/>
              </a:tblGrid>
              <a:tr h="365760">
                <a:tc>
                  <a:txBody>
                    <a:bodyPr/>
                    <a:lstStyle/>
                    <a:p>
                      <a:pPr algn="l" indent="0" marL="0">
                        <a:buNone/>
                      </a:pPr>
                      <a:r>
                        <a:rPr lang="en-US" sz="1080" b="1" dirty="0">
                          <a:solidFill>
                            <a:srgbClr val="FFFFFF"/>
                          </a:solidFill>
                          <a:latin typeface="Helvetica Neue" pitchFamily="34" charset="0"/>
                          <a:ea typeface="Helvetica Neue" pitchFamily="34" charset="-122"/>
                          <a:cs typeface="Helvetica Neue" pitchFamily="34" charset="-120"/>
                        </a:rPr>
                        <a:t>Risk / trigger</a:t>
                      </a:r>
                      <a:endParaRPr lang="en-US" sz="108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80" b="1" dirty="0">
                          <a:solidFill>
                            <a:srgbClr val="FFFFFF"/>
                          </a:solidFill>
                          <a:latin typeface="Helvetica Neue" pitchFamily="34" charset="0"/>
                          <a:ea typeface="Helvetica Neue" pitchFamily="34" charset="-122"/>
                          <a:cs typeface="Helvetica Neue" pitchFamily="34" charset="-120"/>
                        </a:rPr>
                        <a:t>Preventive control</a:t>
                      </a:r>
                      <a:endParaRPr lang="en-US" sz="108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80" b="1" dirty="0">
                          <a:solidFill>
                            <a:srgbClr val="FFFFFF"/>
                          </a:solidFill>
                          <a:latin typeface="Helvetica Neue" pitchFamily="34" charset="0"/>
                          <a:ea typeface="Helvetica Neue" pitchFamily="34" charset="-122"/>
                          <a:cs typeface="Helvetica Neue" pitchFamily="34" charset="-120"/>
                        </a:rPr>
                        <a:t>Decision owner</a:t>
                      </a:r>
                      <a:endParaRPr lang="en-US" sz="108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80" b="1" dirty="0">
                          <a:solidFill>
                            <a:srgbClr val="FFFFFF"/>
                          </a:solidFill>
                          <a:latin typeface="Helvetica Neue" pitchFamily="34" charset="0"/>
                          <a:ea typeface="Helvetica Neue" pitchFamily="34" charset="-122"/>
                          <a:cs typeface="Helvetica Neue" pitchFamily="34" charset="-120"/>
                        </a:rPr>
                        <a:t>Response</a:t>
                      </a:r>
                      <a:endParaRPr lang="en-US" sz="108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r>
              <a:tr h="365760">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Unowned metric</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G1 contract</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CFO / Treasurer / CIO</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b="1" dirty="0">
                          <a:solidFill>
                            <a:srgbClr val="FFFFFF"/>
                          </a:solidFill>
                          <a:latin typeface="Helvetica Neue" pitchFamily="34" charset="0"/>
                          <a:ea typeface="Helvetica Neue" pitchFamily="34" charset="-122"/>
                          <a:cs typeface="Helvetica Neue" pitchFamily="34" charset="-120"/>
                        </a:rPr>
                        <a:t>Narrow, extend with owner/date, or switch</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891B2"/>
                    </a:solidFill>
                  </a:tcPr>
                </a:tc>
              </a:tr>
              <a:tr h="365760">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Uncertified cash</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VG01–VG05; $0 eligible</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Treasurer / Finance</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940" b="1" dirty="0">
                          <a:solidFill>
                            <a:srgbClr val="FFFFFF"/>
                          </a:solidFill>
                          <a:latin typeface="Helvetica Neue" pitchFamily="34" charset="0"/>
                          <a:ea typeface="Helvetica Neue" pitchFamily="34" charset="-122"/>
                          <a:cs typeface="Helvetica Neue" pitchFamily="34" charset="-120"/>
                        </a:rPr>
                        <a:t>No action; keep value at $0</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891B2"/>
                    </a:solidFill>
                  </a:tcPr>
                </a:tc>
              </a:tr>
              <a:tr h="365760">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Service / control / rollback failure</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Blackout, emergency rights, tests</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BU Finance / CIO / Control</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b="1" dirty="0">
                          <a:solidFill>
                            <a:srgbClr val="FFFFFF"/>
                          </a:solidFill>
                          <a:latin typeface="Helvetica Neue" pitchFamily="34" charset="0"/>
                          <a:ea typeface="Helvetica Neue" pitchFamily="34" charset="-122"/>
                          <a:cs typeface="Helvetica Neue" pitchFamily="34" charset="-120"/>
                        </a:rPr>
                        <a:t>Stop and rollback</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891B2"/>
                    </a:solidFill>
                  </a:tcPr>
                </a:tc>
              </a:tr>
              <a:tr h="365760">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Cost &gt; $1.5m or run budget absent</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CR01–CR10; separate budgets</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CFO / SteerCo</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940" b="1" dirty="0">
                          <a:solidFill>
                            <a:srgbClr val="FFFFFF"/>
                          </a:solidFill>
                          <a:latin typeface="Helvetica Neue" pitchFamily="34" charset="0"/>
                          <a:ea typeface="Helvetica Neue" pitchFamily="34" charset="-122"/>
                          <a:cs typeface="Helvetica Neue" pitchFamily="34" charset="-120"/>
                        </a:rPr>
                        <a:t>Stage, redesign, or switch</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891B2"/>
                    </a:solidFill>
                  </a:tcPr>
                </a:tc>
              </a:tr>
              <a:tr h="365760">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Value formula or population drift</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Finance dictionary/change control</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dirty="0">
                          <a:solidFill>
                            <a:srgbClr val="111827"/>
                          </a:solidFill>
                          <a:latin typeface="Helvetica Neue" pitchFamily="34" charset="0"/>
                          <a:ea typeface="Helvetica Neue" pitchFamily="34" charset="-122"/>
                          <a:cs typeface="Helvetica Neue" pitchFamily="34" charset="-120"/>
                        </a:rPr>
                        <a:t>Finance Benefits</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940" b="1" dirty="0">
                          <a:solidFill>
                            <a:srgbClr val="FFFFFF"/>
                          </a:solidFill>
                          <a:latin typeface="Helvetica Neue" pitchFamily="34" charset="0"/>
                          <a:ea typeface="Helvetica Neue" pitchFamily="34" charset="-122"/>
                          <a:cs typeface="Helvetica Neue" pitchFamily="34" charset="-120"/>
                        </a:rPr>
                        <a:t>Suspend, restate, review</a:t>
                      </a:r>
                      <a:endParaRPr lang="en-US" sz="94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891B2"/>
                    </a:solidFill>
                  </a:tcPr>
                </a:tc>
              </a:tr>
            </a:tbl>
          </a:graphicData>
        </a:graphic>
      </p:graphicFrame>
      <p:sp>
        <p:nvSpPr>
          <p:cNvPr id="10" name="Shape 7"/>
          <p:cNvSpPr/>
          <p:nvPr/>
        </p:nvSpPr>
        <p:spPr>
          <a:xfrm>
            <a:off x="6793992" y="1691640"/>
            <a:ext cx="1892808" cy="2921508"/>
          </a:xfrm>
          <a:prstGeom prst="rect">
            <a:avLst/>
          </a:prstGeom>
          <a:solidFill>
            <a:srgbClr val="0F172A"/>
          </a:solidFill>
          <a:ln w="12700">
            <a:solidFill>
              <a:srgbClr val="D1D5DB"/>
            </a:solidFill>
            <a:prstDash val="solid"/>
          </a:ln>
        </p:spPr>
      </p:sp>
      <p:sp>
        <p:nvSpPr>
          <p:cNvPr id="11" name="Shape 8"/>
          <p:cNvSpPr/>
          <p:nvPr/>
        </p:nvSpPr>
        <p:spPr>
          <a:xfrm>
            <a:off x="6793992" y="1691640"/>
            <a:ext cx="64008" cy="2921508"/>
          </a:xfrm>
          <a:prstGeom prst="rect">
            <a:avLst/>
          </a:prstGeom>
          <a:solidFill>
            <a:srgbClr val="0891B2"/>
          </a:solidFill>
          <a:ln w="12700">
            <a:solidFill>
              <a:srgbClr val="0891B2"/>
            </a:solidFill>
            <a:prstDash val="solid"/>
          </a:ln>
        </p:spPr>
      </p:sp>
      <p:sp>
        <p:nvSpPr>
          <p:cNvPr id="12" name="Text 9"/>
          <p:cNvSpPr txBox="1"/>
          <p:nvPr/>
        </p:nvSpPr>
        <p:spPr>
          <a:xfrm>
            <a:off x="6958584" y="1837944"/>
            <a:ext cx="1581912" cy="310896"/>
          </a:xfrm>
          <a:prstGeom prst="rect">
            <a:avLst/>
          </a:prstGeom>
          <a:noFill/>
          <a:ln/>
        </p:spPr>
        <p:txBody>
          <a:bodyPr wrap="square" lIns="0" tIns="0" rIns="0" bIns="0" rtlCol="0" anchor="t">
            <a:normAutofit/>
          </a:bodyPr>
          <a:lstStyle/>
          <a:p>
            <a:pPr algn="l" indent="0" marL="0">
              <a:buNone/>
            </a:pPr>
            <a:r>
              <a:rPr lang="en-US" sz="1200" b="1" spc="120" kern="0" dirty="0">
                <a:solidFill>
                  <a:srgbClr val="0891B2"/>
                </a:solidFill>
                <a:latin typeface="Helvetica Neue" pitchFamily="34" charset="0"/>
                <a:ea typeface="Helvetica Neue" pitchFamily="34" charset="-122"/>
                <a:cs typeface="Helvetica Neue" pitchFamily="34" charset="-120"/>
              </a:rPr>
              <a:t>DECISION</a:t>
            </a:r>
            <a:endParaRPr lang="en-US" sz="1200" dirty="0"/>
          </a:p>
        </p:txBody>
      </p:sp>
      <p:sp>
        <p:nvSpPr>
          <p:cNvPr id="13" name="Text 10"/>
          <p:cNvSpPr txBox="1"/>
          <p:nvPr/>
        </p:nvSpPr>
        <p:spPr>
          <a:xfrm>
            <a:off x="6958584" y="2240280"/>
            <a:ext cx="1581912" cy="1045464"/>
          </a:xfrm>
          <a:prstGeom prst="rect">
            <a:avLst/>
          </a:prstGeom>
          <a:noFill/>
          <a:ln/>
        </p:spPr>
        <p:txBody>
          <a:bodyPr wrap="square" lIns="0" tIns="0" rIns="0" bIns="0" rtlCol="0" anchor="t">
            <a:normAutofit/>
          </a:bodyPr>
          <a:lstStyle/>
          <a:p>
            <a:pPr algn="l" indent="0" marL="0">
              <a:buNone/>
            </a:pPr>
            <a:r>
              <a:rPr lang="en-US" sz="1200" dirty="0">
                <a:solidFill>
                  <a:srgbClr val="FFFFFF"/>
                </a:solidFill>
                <a:latin typeface="Helvetica Neue" pitchFamily="34" charset="0"/>
                <a:ea typeface="Helvetica Neue" pitchFamily="34" charset="-122"/>
                <a:cs typeface="Helvetica Neue" pitchFamily="34" charset="-120"/>
              </a:rPr>
              <a:t>Unowned metric: G1 contract</a:t>
            </a:r>
            <a:endParaRPr lang="en-US" sz="1200" dirty="0"/>
          </a:p>
          <a:p>
            <a:pPr algn="l" indent="0" marL="0">
              <a:buNone/>
            </a:pPr>
            <a:r>
              <a:rPr lang="en-US" sz="1200" dirty="0">
                <a:solidFill>
                  <a:srgbClr val="FFFFFF"/>
                </a:solidFill>
                <a:latin typeface="Helvetica Neue" pitchFamily="34" charset="0"/>
                <a:ea typeface="Helvetica Neue" pitchFamily="34" charset="-122"/>
                <a:cs typeface="Helvetica Neue" pitchFamily="34" charset="-120"/>
              </a:rPr>
              <a:t>Uncertified cash: VG01–VG05; $0 eligible</a:t>
            </a:r>
            <a:endParaRPr lang="en-US" sz="1200" dirty="0"/>
          </a:p>
        </p:txBody>
      </p:sp>
      <p:sp>
        <p:nvSpPr>
          <p:cNvPr id="14"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5" name="Text 12"/>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W4 risk register; final governance/RACI</a:t>
            </a:r>
            <a:endParaRPr lang="en-US" sz="800" dirty="0"/>
          </a:p>
        </p:txBody>
      </p:sp>
      <p:sp>
        <p:nvSpPr>
          <p:cNvPr id="16" name="Text 13"/>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14/18</a:t>
            </a:r>
            <a:endParaRPr lang="en-US" sz="8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453896"/>
          </a:xfrm>
          <a:prstGeom prst="rect">
            <a:avLst/>
          </a:prstGeom>
          <a:solidFill>
            <a:srgbClr val="0F172A"/>
          </a:solidFill>
          <a:ln w="12700">
            <a:solidFill>
              <a:srgbClr val="FFFFFF"/>
            </a:solidFill>
            <a:prstDash val="solid"/>
          </a:ln>
        </p:spPr>
      </p:sp>
      <p:sp>
        <p:nvSpPr>
          <p:cNvPr id="6" name="Shape 4"/>
          <p:cNvSpPr/>
          <p:nvPr/>
        </p:nvSpPr>
        <p:spPr>
          <a:xfrm>
            <a:off x="0" y="1453896"/>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91440"/>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Approve the direction and owners; return at Day 90</a:t>
            </a:r>
            <a:endParaRPr lang="en-US" sz="2400" dirty="0"/>
          </a:p>
        </p:txBody>
      </p:sp>
      <p:sp>
        <p:nvSpPr>
          <p:cNvPr id="8" name="Text 6"/>
          <p:cNvSpPr txBox="1"/>
          <p:nvPr/>
        </p:nvSpPr>
        <p:spPr>
          <a:xfrm>
            <a:off x="457200" y="1051560"/>
            <a:ext cx="8229600" cy="292608"/>
          </a:xfrm>
          <a:prstGeom prst="rect">
            <a:avLst/>
          </a:prstGeom>
          <a:noFill/>
          <a:ln/>
        </p:spPr>
        <p:txBody>
          <a:bodyPr wrap="square" lIns="0" tIns="0" rIns="0" bIns="0" rtlCol="0" anchor="t"/>
          <a:lstStyle/>
          <a:p>
            <a:pPr algn="l" indent="0" marL="0">
              <a:buNone/>
            </a:pPr>
            <a:r>
              <a:rPr lang="en-US" sz="1300" dirty="0">
                <a:solidFill>
                  <a:srgbClr val="0891B2"/>
                </a:solidFill>
                <a:latin typeface="Helvetica Neue" pitchFamily="34" charset="0"/>
                <a:ea typeface="Helvetica Neue" pitchFamily="34" charset="-122"/>
                <a:cs typeface="Helvetica Neue" pitchFamily="34" charset="-120"/>
              </a:rPr>
              <a:t>Five Steering Committee commitments activate the mobilization</a:t>
            </a:r>
            <a:endParaRPr lang="en-US" sz="1300" dirty="0"/>
          </a:p>
        </p:txBody>
      </p:sp>
      <p:sp>
        <p:nvSpPr>
          <p:cNvPr id="9" name="Shape 7"/>
          <p:cNvSpPr/>
          <p:nvPr/>
        </p:nvSpPr>
        <p:spPr>
          <a:xfrm>
            <a:off x="457200" y="1801368"/>
            <a:ext cx="8229600" cy="419710"/>
          </a:xfrm>
          <a:prstGeom prst="rect">
            <a:avLst/>
          </a:prstGeom>
          <a:solidFill>
            <a:srgbClr val="F8FAFC"/>
          </a:solidFill>
          <a:ln w="9525">
            <a:solidFill>
              <a:srgbClr val="D1D5DB"/>
            </a:solidFill>
            <a:prstDash val="solid"/>
          </a:ln>
        </p:spPr>
      </p:sp>
      <p:sp>
        <p:nvSpPr>
          <p:cNvPr id="10" name="Shape 8"/>
          <p:cNvSpPr/>
          <p:nvPr/>
        </p:nvSpPr>
        <p:spPr>
          <a:xfrm>
            <a:off x="457200" y="1801368"/>
            <a:ext cx="73152" cy="419710"/>
          </a:xfrm>
          <a:prstGeom prst="rect">
            <a:avLst/>
          </a:prstGeom>
          <a:solidFill>
            <a:srgbClr val="1D4ED8"/>
          </a:solidFill>
          <a:ln w="12700">
            <a:solidFill>
              <a:srgbClr val="1D4ED8"/>
            </a:solidFill>
            <a:prstDash val="solid"/>
          </a:ln>
        </p:spPr>
      </p:sp>
      <p:sp>
        <p:nvSpPr>
          <p:cNvPr id="11" name="Text 9"/>
          <p:cNvSpPr txBox="1"/>
          <p:nvPr/>
        </p:nvSpPr>
        <p:spPr>
          <a:xfrm>
            <a:off x="658368" y="1947672"/>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1D4ED8"/>
                </a:solidFill>
                <a:latin typeface="Helvetica Neue" pitchFamily="34" charset="0"/>
                <a:ea typeface="Helvetica Neue" pitchFamily="34" charset="-122"/>
                <a:cs typeface="Helvetica Neue" pitchFamily="34" charset="-120"/>
              </a:rPr>
              <a:t>DAY 0</a:t>
            </a:r>
            <a:endParaRPr lang="en-US" sz="800" dirty="0"/>
          </a:p>
        </p:txBody>
      </p:sp>
      <p:sp>
        <p:nvSpPr>
          <p:cNvPr id="12" name="Text 10"/>
          <p:cNvSpPr txBox="1"/>
          <p:nvPr/>
        </p:nvSpPr>
        <p:spPr>
          <a:xfrm>
            <a:off x="1755648" y="1892808"/>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Confirm direction</a:t>
            </a:r>
            <a:endParaRPr lang="en-US" sz="1140" dirty="0"/>
          </a:p>
        </p:txBody>
      </p:sp>
      <p:sp>
        <p:nvSpPr>
          <p:cNvPr id="13" name="Text 11"/>
          <p:cNvSpPr txBox="1"/>
          <p:nvPr/>
        </p:nvSpPr>
        <p:spPr>
          <a:xfrm>
            <a:off x="3950208" y="1911096"/>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CFO/SteerCo · signed fallback and boundary</a:t>
            </a:r>
            <a:endParaRPr lang="en-US" sz="880" dirty="0"/>
          </a:p>
        </p:txBody>
      </p:sp>
      <p:sp>
        <p:nvSpPr>
          <p:cNvPr id="14" name="Shape 12"/>
          <p:cNvSpPr/>
          <p:nvPr/>
        </p:nvSpPr>
        <p:spPr>
          <a:xfrm>
            <a:off x="457200" y="2367382"/>
            <a:ext cx="8229600" cy="419710"/>
          </a:xfrm>
          <a:prstGeom prst="rect">
            <a:avLst/>
          </a:prstGeom>
          <a:solidFill>
            <a:srgbClr val="FFFFFF"/>
          </a:solidFill>
          <a:ln w="9525">
            <a:solidFill>
              <a:srgbClr val="D1D5DB"/>
            </a:solidFill>
            <a:prstDash val="solid"/>
          </a:ln>
        </p:spPr>
      </p:sp>
      <p:sp>
        <p:nvSpPr>
          <p:cNvPr id="15" name="Shape 13"/>
          <p:cNvSpPr/>
          <p:nvPr/>
        </p:nvSpPr>
        <p:spPr>
          <a:xfrm>
            <a:off x="457200" y="2367382"/>
            <a:ext cx="73152" cy="419710"/>
          </a:xfrm>
          <a:prstGeom prst="rect">
            <a:avLst/>
          </a:prstGeom>
          <a:solidFill>
            <a:srgbClr val="0891B2"/>
          </a:solidFill>
          <a:ln w="12700">
            <a:solidFill>
              <a:srgbClr val="0891B2"/>
            </a:solidFill>
            <a:prstDash val="solid"/>
          </a:ln>
        </p:spPr>
      </p:sp>
      <p:sp>
        <p:nvSpPr>
          <p:cNvPr id="16" name="Text 14"/>
          <p:cNvSpPr txBox="1"/>
          <p:nvPr/>
        </p:nvSpPr>
        <p:spPr>
          <a:xfrm>
            <a:off x="658368" y="2513686"/>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0891B2"/>
                </a:solidFill>
                <a:latin typeface="Helvetica Neue" pitchFamily="34" charset="0"/>
                <a:ea typeface="Helvetica Neue" pitchFamily="34" charset="-122"/>
                <a:cs typeface="Helvetica Neue" pitchFamily="34" charset="-120"/>
              </a:rPr>
              <a:t>DAY 30</a:t>
            </a:r>
            <a:endParaRPr lang="en-US" sz="800" dirty="0"/>
          </a:p>
        </p:txBody>
      </p:sp>
      <p:sp>
        <p:nvSpPr>
          <p:cNvPr id="17" name="Text 15"/>
          <p:cNvSpPr txBox="1"/>
          <p:nvPr/>
        </p:nvSpPr>
        <p:spPr>
          <a:xfrm>
            <a:off x="1755648" y="2458822"/>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Accept owners</a:t>
            </a:r>
            <a:endParaRPr lang="en-US" sz="1140" dirty="0"/>
          </a:p>
        </p:txBody>
      </p:sp>
      <p:sp>
        <p:nvSpPr>
          <p:cNvPr id="18" name="Text 16"/>
          <p:cNvSpPr txBox="1"/>
          <p:nvPr/>
        </p:nvSpPr>
        <p:spPr>
          <a:xfrm>
            <a:off x="3950208" y="2477110"/>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Executives · RACI and source/metric contracts</a:t>
            </a:r>
            <a:endParaRPr lang="en-US" sz="880" dirty="0"/>
          </a:p>
        </p:txBody>
      </p:sp>
      <p:sp>
        <p:nvSpPr>
          <p:cNvPr id="19" name="Shape 17"/>
          <p:cNvSpPr/>
          <p:nvPr/>
        </p:nvSpPr>
        <p:spPr>
          <a:xfrm>
            <a:off x="457200" y="2933395"/>
            <a:ext cx="8229600" cy="419710"/>
          </a:xfrm>
          <a:prstGeom prst="rect">
            <a:avLst/>
          </a:prstGeom>
          <a:solidFill>
            <a:srgbClr val="F8FAFC"/>
          </a:solidFill>
          <a:ln w="9525">
            <a:solidFill>
              <a:srgbClr val="D1D5DB"/>
            </a:solidFill>
            <a:prstDash val="solid"/>
          </a:ln>
        </p:spPr>
      </p:sp>
      <p:sp>
        <p:nvSpPr>
          <p:cNvPr id="20" name="Shape 18"/>
          <p:cNvSpPr/>
          <p:nvPr/>
        </p:nvSpPr>
        <p:spPr>
          <a:xfrm>
            <a:off x="457200" y="2933395"/>
            <a:ext cx="73152" cy="419710"/>
          </a:xfrm>
          <a:prstGeom prst="rect">
            <a:avLst/>
          </a:prstGeom>
          <a:solidFill>
            <a:srgbClr val="1D4ED8"/>
          </a:solidFill>
          <a:ln w="12700">
            <a:solidFill>
              <a:srgbClr val="1D4ED8"/>
            </a:solidFill>
            <a:prstDash val="solid"/>
          </a:ln>
        </p:spPr>
      </p:sp>
      <p:sp>
        <p:nvSpPr>
          <p:cNvPr id="21" name="Text 19"/>
          <p:cNvSpPr txBox="1"/>
          <p:nvPr/>
        </p:nvSpPr>
        <p:spPr>
          <a:xfrm>
            <a:off x="658368" y="3079699"/>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1D4ED8"/>
                </a:solidFill>
                <a:latin typeface="Helvetica Neue" pitchFamily="34" charset="0"/>
                <a:ea typeface="Helvetica Neue" pitchFamily="34" charset="-122"/>
                <a:cs typeface="Helvetica Neue" pitchFamily="34" charset="-120"/>
              </a:rPr>
              <a:t>DAY 30</a:t>
            </a:r>
            <a:endParaRPr lang="en-US" sz="800" dirty="0"/>
          </a:p>
        </p:txBody>
      </p:sp>
      <p:sp>
        <p:nvSpPr>
          <p:cNvPr id="22" name="Text 20"/>
          <p:cNvSpPr txBox="1"/>
          <p:nvPr/>
        </p:nvSpPr>
        <p:spPr>
          <a:xfrm>
            <a:off x="1755648" y="3024835"/>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Lock NA calendar</a:t>
            </a:r>
            <a:endParaRPr lang="en-US" sz="1140" dirty="0"/>
          </a:p>
        </p:txBody>
      </p:sp>
      <p:sp>
        <p:nvSpPr>
          <p:cNvPr id="23" name="Text 21"/>
          <p:cNvSpPr txBox="1"/>
          <p:nvPr/>
        </p:nvSpPr>
        <p:spPr>
          <a:xfrm>
            <a:off x="3950208" y="3043123"/>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Rachel Kim/CFO · freeze dates and sign-off path</a:t>
            </a:r>
            <a:endParaRPr lang="en-US" sz="880" dirty="0"/>
          </a:p>
        </p:txBody>
      </p:sp>
      <p:sp>
        <p:nvSpPr>
          <p:cNvPr id="24" name="Shape 22"/>
          <p:cNvSpPr/>
          <p:nvPr/>
        </p:nvSpPr>
        <p:spPr>
          <a:xfrm>
            <a:off x="457200" y="3499409"/>
            <a:ext cx="8229600" cy="419710"/>
          </a:xfrm>
          <a:prstGeom prst="rect">
            <a:avLst/>
          </a:prstGeom>
          <a:solidFill>
            <a:srgbClr val="FFFFFF"/>
          </a:solidFill>
          <a:ln w="9525">
            <a:solidFill>
              <a:srgbClr val="D1D5DB"/>
            </a:solidFill>
            <a:prstDash val="solid"/>
          </a:ln>
        </p:spPr>
      </p:sp>
      <p:sp>
        <p:nvSpPr>
          <p:cNvPr id="25" name="Shape 23"/>
          <p:cNvSpPr/>
          <p:nvPr/>
        </p:nvSpPr>
        <p:spPr>
          <a:xfrm>
            <a:off x="457200" y="3499409"/>
            <a:ext cx="73152" cy="419710"/>
          </a:xfrm>
          <a:prstGeom prst="rect">
            <a:avLst/>
          </a:prstGeom>
          <a:solidFill>
            <a:srgbClr val="0891B2"/>
          </a:solidFill>
          <a:ln w="12700">
            <a:solidFill>
              <a:srgbClr val="0891B2"/>
            </a:solidFill>
            <a:prstDash val="solid"/>
          </a:ln>
        </p:spPr>
      </p:sp>
      <p:sp>
        <p:nvSpPr>
          <p:cNvPr id="26" name="Text 24"/>
          <p:cNvSpPr txBox="1"/>
          <p:nvPr/>
        </p:nvSpPr>
        <p:spPr>
          <a:xfrm>
            <a:off x="658368" y="3645713"/>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0891B2"/>
                </a:solidFill>
                <a:latin typeface="Helvetica Neue" pitchFamily="34" charset="0"/>
                <a:ea typeface="Helvetica Neue" pitchFamily="34" charset="-122"/>
                <a:cs typeface="Helvetica Neue" pitchFamily="34" charset="-120"/>
              </a:rPr>
              <a:t>DAY 60</a:t>
            </a:r>
            <a:endParaRPr lang="en-US" sz="800" dirty="0"/>
          </a:p>
        </p:txBody>
      </p:sp>
      <p:sp>
        <p:nvSpPr>
          <p:cNvPr id="27" name="Text 25"/>
          <p:cNvSpPr txBox="1"/>
          <p:nvPr/>
        </p:nvSpPr>
        <p:spPr>
          <a:xfrm>
            <a:off x="1755648" y="3590849"/>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Prove affordability</a:t>
            </a:r>
            <a:endParaRPr lang="en-US" sz="1140" dirty="0"/>
          </a:p>
        </p:txBody>
      </p:sp>
      <p:sp>
        <p:nvSpPr>
          <p:cNvPr id="28" name="Text 26"/>
          <p:cNvSpPr txBox="1"/>
          <p:nvPr/>
        </p:nvSpPr>
        <p:spPr>
          <a:xfrm>
            <a:off x="3950208" y="3609137"/>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Finance/CIO/Procurement · CR01–CR10 pack</a:t>
            </a:r>
            <a:endParaRPr lang="en-US" sz="880" dirty="0"/>
          </a:p>
        </p:txBody>
      </p:sp>
      <p:sp>
        <p:nvSpPr>
          <p:cNvPr id="29" name="Shape 27"/>
          <p:cNvSpPr/>
          <p:nvPr/>
        </p:nvSpPr>
        <p:spPr>
          <a:xfrm>
            <a:off x="457200" y="4065422"/>
            <a:ext cx="8229600" cy="419710"/>
          </a:xfrm>
          <a:prstGeom prst="rect">
            <a:avLst/>
          </a:prstGeom>
          <a:solidFill>
            <a:srgbClr val="F8FAFC"/>
          </a:solidFill>
          <a:ln w="9525">
            <a:solidFill>
              <a:srgbClr val="D1D5DB"/>
            </a:solidFill>
            <a:prstDash val="solid"/>
          </a:ln>
        </p:spPr>
      </p:sp>
      <p:sp>
        <p:nvSpPr>
          <p:cNvPr id="30" name="Shape 28"/>
          <p:cNvSpPr/>
          <p:nvPr/>
        </p:nvSpPr>
        <p:spPr>
          <a:xfrm>
            <a:off x="457200" y="4065422"/>
            <a:ext cx="73152" cy="419710"/>
          </a:xfrm>
          <a:prstGeom prst="rect">
            <a:avLst/>
          </a:prstGeom>
          <a:solidFill>
            <a:srgbClr val="1D4ED8"/>
          </a:solidFill>
          <a:ln w="12700">
            <a:solidFill>
              <a:srgbClr val="1D4ED8"/>
            </a:solidFill>
            <a:prstDash val="solid"/>
          </a:ln>
        </p:spPr>
      </p:sp>
      <p:sp>
        <p:nvSpPr>
          <p:cNvPr id="31" name="Text 29"/>
          <p:cNvSpPr txBox="1"/>
          <p:nvPr/>
        </p:nvSpPr>
        <p:spPr>
          <a:xfrm>
            <a:off x="658368" y="4211726"/>
            <a:ext cx="960120" cy="182880"/>
          </a:xfrm>
          <a:prstGeom prst="rect">
            <a:avLst/>
          </a:prstGeom>
          <a:noFill/>
          <a:ln/>
        </p:spPr>
        <p:txBody>
          <a:bodyPr wrap="square" lIns="0" tIns="0" rIns="0" bIns="0" rtlCol="0" anchor="t">
            <a:normAutofit/>
          </a:bodyPr>
          <a:lstStyle/>
          <a:p>
            <a:pPr algn="l" indent="0" marL="0">
              <a:buNone/>
            </a:pPr>
            <a:r>
              <a:rPr lang="en-US" sz="800" b="1" spc="100" kern="0" dirty="0">
                <a:solidFill>
                  <a:srgbClr val="1D4ED8"/>
                </a:solidFill>
                <a:latin typeface="Helvetica Neue" pitchFamily="34" charset="0"/>
                <a:ea typeface="Helvetica Neue" pitchFamily="34" charset="-122"/>
                <a:cs typeface="Helvetica Neue" pitchFamily="34" charset="-120"/>
              </a:rPr>
              <a:t>DAY 90</a:t>
            </a:r>
            <a:endParaRPr lang="en-US" sz="800" dirty="0"/>
          </a:p>
        </p:txBody>
      </p:sp>
      <p:sp>
        <p:nvSpPr>
          <p:cNvPr id="32" name="Text 30"/>
          <p:cNvSpPr txBox="1"/>
          <p:nvPr/>
        </p:nvSpPr>
        <p:spPr>
          <a:xfrm>
            <a:off x="1755648" y="4156862"/>
            <a:ext cx="2011680" cy="256032"/>
          </a:xfrm>
          <a:prstGeom prst="rect">
            <a:avLst/>
          </a:prstGeom>
          <a:noFill/>
          <a:ln/>
        </p:spPr>
        <p:txBody>
          <a:bodyPr wrap="square" lIns="0" tIns="0" rIns="0" bIns="0" rtlCol="0" anchor="t">
            <a:normAutofit/>
          </a:bodyPr>
          <a:lstStyle/>
          <a:p>
            <a:pPr algn="l" indent="0" marL="0">
              <a:buNone/>
            </a:pPr>
            <a:r>
              <a:rPr lang="en-US" sz="1140" b="1" dirty="0">
                <a:solidFill>
                  <a:srgbClr val="111827"/>
                </a:solidFill>
                <a:latin typeface="Helvetica Neue" pitchFamily="34" charset="0"/>
                <a:ea typeface="Helvetica Neue" pitchFamily="34" charset="-122"/>
                <a:cs typeface="Helvetica Neue" pitchFamily="34" charset="-120"/>
              </a:rPr>
              <a:t>Take G3 decision</a:t>
            </a:r>
            <a:endParaRPr lang="en-US" sz="1140" dirty="0"/>
          </a:p>
        </p:txBody>
      </p:sp>
      <p:sp>
        <p:nvSpPr>
          <p:cNvPr id="33" name="Text 31"/>
          <p:cNvSpPr txBox="1"/>
          <p:nvPr/>
        </p:nvSpPr>
        <p:spPr>
          <a:xfrm>
            <a:off x="3950208" y="4175150"/>
            <a:ext cx="4590288" cy="237744"/>
          </a:xfrm>
          <a:prstGeom prst="rect">
            <a:avLst/>
          </a:prstGeom>
          <a:noFill/>
          <a:ln/>
        </p:spPr>
        <p:txBody>
          <a:bodyPr wrap="square" lIns="0" tIns="0" rIns="0" bIns="0" rtlCol="0" anchor="t">
            <a:normAutofit/>
          </a:bodyPr>
          <a:lstStyle/>
          <a:p>
            <a:pPr algn="l" indent="0" marL="0">
              <a:buNone/>
            </a:pPr>
            <a:r>
              <a:rPr lang="en-US" sz="880" dirty="0">
                <a:solidFill>
                  <a:srgbClr val="4B5563"/>
                </a:solidFill>
                <a:latin typeface="Helvetica Neue" pitchFamily="34" charset="0"/>
                <a:ea typeface="Helvetica Neue" pitchFamily="34" charset="-122"/>
                <a:cs typeface="Helvetica Neue" pitchFamily="34" charset="-120"/>
              </a:rPr>
              <a:t>CFO/SteerCo · stop, extend or bounded pilot</a:t>
            </a:r>
            <a:endParaRPr lang="en-US" sz="880" dirty="0"/>
          </a:p>
        </p:txBody>
      </p:sp>
      <p:sp>
        <p:nvSpPr>
          <p:cNvPr id="34" name="Shape 32"/>
          <p:cNvSpPr/>
          <p:nvPr/>
        </p:nvSpPr>
        <p:spPr>
          <a:xfrm>
            <a:off x="457200" y="4814316"/>
            <a:ext cx="8229600" cy="18288"/>
          </a:xfrm>
          <a:prstGeom prst="rect">
            <a:avLst/>
          </a:prstGeom>
          <a:solidFill>
            <a:srgbClr val="D1D5DB"/>
          </a:solidFill>
          <a:ln w="12700">
            <a:solidFill>
              <a:srgbClr val="FFFFFF"/>
            </a:solidFill>
            <a:prstDash val="solid"/>
          </a:ln>
        </p:spPr>
      </p:sp>
      <p:sp>
        <p:nvSpPr>
          <p:cNvPr id="35" name="Text 33"/>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Final recommendation memo; W4 decision log</a:t>
            </a:r>
            <a:endParaRPr lang="en-US" sz="800" dirty="0"/>
          </a:p>
        </p:txBody>
      </p:sp>
      <p:sp>
        <p:nvSpPr>
          <p:cNvPr id="36" name="Text 34"/>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15/18</a:t>
            </a:r>
            <a:endParaRPr lang="en-US" sz="8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115568"/>
          </a:xfrm>
          <a:prstGeom prst="rect">
            <a:avLst/>
          </a:prstGeom>
          <a:solidFill>
            <a:srgbClr val="0F172A"/>
          </a:solidFill>
          <a:ln w="12700">
            <a:solidFill>
              <a:srgbClr val="FFFFFF"/>
            </a:solidFill>
            <a:prstDash val="solid"/>
          </a:ln>
        </p:spPr>
      </p:sp>
      <p:sp>
        <p:nvSpPr>
          <p:cNvPr id="6" name="Shape 4"/>
          <p:cNvSpPr/>
          <p:nvPr/>
        </p:nvSpPr>
        <p:spPr>
          <a:xfrm>
            <a:off x="0" y="1115568"/>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100584"/>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Appendix — Definitions, data quality, and methods bound every metric</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5925312" cy="3259836"/>
        </p:xfrm>
        <a:graphic>
          <a:graphicData uri="http://schemas.openxmlformats.org/drawingml/2006/table">
            <a:tbl>
              <a:tblPr/>
              <a:tblGrid>
                <a:gridCol w="1066556"/>
                <a:gridCol w="1896100"/>
                <a:gridCol w="1659087"/>
                <a:gridCol w="1303569"/>
              </a:tblGrid>
              <a:tr h="384048">
                <a:tc>
                  <a:txBody>
                    <a:bodyPr/>
                    <a:lstStyle/>
                    <a:p>
                      <a:pPr algn="l" indent="0" marL="0">
                        <a:buNone/>
                      </a:pPr>
                      <a:r>
                        <a:rPr lang="en-US" sz="1200" b="1" dirty="0">
                          <a:solidFill>
                            <a:srgbClr val="FFFFFF"/>
                          </a:solidFill>
                          <a:latin typeface="Helvetica Neue" pitchFamily="34" charset="0"/>
                          <a:ea typeface="Helvetica Neue" pitchFamily="34" charset="-122"/>
                          <a:cs typeface="Helvetica Neue" pitchFamily="34" charset="-120"/>
                        </a:rPr>
                        <a:t>Analysis</a:t>
                      </a:r>
                      <a:endParaRPr lang="en-US" sz="12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1200" b="1" dirty="0">
                          <a:solidFill>
                            <a:srgbClr val="FFFFFF"/>
                          </a:solidFill>
                          <a:latin typeface="Helvetica Neue" pitchFamily="34" charset="0"/>
                          <a:ea typeface="Helvetica Neue" pitchFamily="34" charset="-122"/>
                          <a:cs typeface="Helvetica Neue" pitchFamily="34" charset="-120"/>
                        </a:rPr>
                        <a:t>Method / definition</a:t>
                      </a:r>
                      <a:endParaRPr lang="en-US" sz="12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1200" b="1" dirty="0">
                          <a:solidFill>
                            <a:srgbClr val="FFFFFF"/>
                          </a:solidFill>
                          <a:latin typeface="Helvetica Neue" pitchFamily="34" charset="0"/>
                          <a:ea typeface="Helvetica Neue" pitchFamily="34" charset="-122"/>
                          <a:cs typeface="Helvetica Neue" pitchFamily="34" charset="-120"/>
                        </a:rPr>
                        <a:t>Data quality</a:t>
                      </a:r>
                      <a:endParaRPr lang="en-US" sz="12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c>
                  <a:txBody>
                    <a:bodyPr/>
                    <a:lstStyle/>
                    <a:p>
                      <a:pPr algn="l" indent="0" marL="0">
                        <a:buNone/>
                      </a:pPr>
                      <a:r>
                        <a:rPr lang="en-US" sz="1200" b="1" dirty="0">
                          <a:solidFill>
                            <a:srgbClr val="FFFFFF"/>
                          </a:solidFill>
                          <a:latin typeface="Helvetica Neue" pitchFamily="34" charset="0"/>
                          <a:ea typeface="Helvetica Neue" pitchFamily="34" charset="-122"/>
                          <a:cs typeface="Helvetica Neue" pitchFamily="34" charset="-120"/>
                        </a:rPr>
                        <a:t>Boundary</a:t>
                      </a:r>
                      <a:endParaRPr lang="en-US" sz="12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1D4ED8"/>
                    </a:solidFill>
                  </a:tcPr>
                </a:tc>
              </a:tr>
              <a:tr h="384048">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Visibility</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Same-date days ÷ expected days</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9,955 rows; all delays use Portal/Spreadsheet</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Proxy—not start-of-day/24h</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Liquidity</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14-day minimum regional net</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168 windows; no mobility fields</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Screen—not movable cash</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84048">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Payments</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Flags ÷ 7,600 records</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Extract; no certified denominator</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Association—not cause</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Accounts</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Dormant + legacy + zero payments</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55 accounts; local links untested</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Candidate—not closure</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84048">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Capacity</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Frequency × time × manual %</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Management estimates; repairs unreconciled</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000" dirty="0">
                          <a:solidFill>
                            <a:srgbClr val="111827"/>
                          </a:solidFill>
                          <a:latin typeface="Helvetica Neue" pitchFamily="34" charset="0"/>
                          <a:ea typeface="Helvetica Neue" pitchFamily="34" charset="-122"/>
                          <a:cs typeface="Helvetica Neue" pitchFamily="34" charset="-120"/>
                        </a:rPr>
                        <a:t>Hours—not headcount/P&amp;L</a:t>
                      </a:r>
                      <a:endParaRPr lang="en-US" sz="10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Shape 6"/>
          <p:cNvSpPr/>
          <p:nvPr/>
        </p:nvSpPr>
        <p:spPr>
          <a:xfrm>
            <a:off x="6793992" y="1353312"/>
            <a:ext cx="1892808" cy="3259836"/>
          </a:xfrm>
          <a:prstGeom prst="rect">
            <a:avLst/>
          </a:prstGeom>
          <a:solidFill>
            <a:srgbClr val="FFFFFF"/>
          </a:solidFill>
          <a:ln w="8255">
            <a:solidFill>
              <a:srgbClr val="D1D5DB"/>
            </a:solidFill>
            <a:prstDash val="solid"/>
          </a:ln>
        </p:spPr>
      </p:sp>
      <p:sp>
        <p:nvSpPr>
          <p:cNvPr id="10" name="Shape 7"/>
          <p:cNvSpPr/>
          <p:nvPr/>
        </p:nvSpPr>
        <p:spPr>
          <a:xfrm>
            <a:off x="6793992" y="1353312"/>
            <a:ext cx="64008" cy="3259836"/>
          </a:xfrm>
          <a:prstGeom prst="rect">
            <a:avLst/>
          </a:prstGeom>
          <a:solidFill>
            <a:srgbClr val="0891B2"/>
          </a:solidFill>
          <a:ln w="12700">
            <a:solidFill>
              <a:srgbClr val="0891B2"/>
            </a:solidFill>
            <a:prstDash val="solid"/>
          </a:ln>
        </p:spPr>
      </p:sp>
      <p:sp>
        <p:nvSpPr>
          <p:cNvPr id="11" name="Text 8"/>
          <p:cNvSpPr txBox="1"/>
          <p:nvPr/>
        </p:nvSpPr>
        <p:spPr>
          <a:xfrm>
            <a:off x="6958584" y="1499616"/>
            <a:ext cx="1581912" cy="310896"/>
          </a:xfrm>
          <a:prstGeom prst="rect">
            <a:avLst/>
          </a:prstGeom>
          <a:noFill/>
          <a:ln/>
        </p:spPr>
        <p:txBody>
          <a:bodyPr wrap="square" lIns="0" tIns="0" rIns="0" bIns="0" rtlCol="0" anchor="t">
            <a:normAutofit/>
          </a:bodyPr>
          <a:lstStyle/>
          <a:p>
            <a:pPr algn="l" indent="0" marL="0">
              <a:buNone/>
            </a:pPr>
            <a:r>
              <a:rPr lang="en-US" sz="1200" b="1" spc="120" kern="0" dirty="0">
                <a:solidFill>
                  <a:srgbClr val="1D4ED8"/>
                </a:solidFill>
                <a:latin typeface="Helvetica Neue" pitchFamily="34" charset="0"/>
                <a:ea typeface="Helvetica Neue" pitchFamily="34" charset="-122"/>
                <a:cs typeface="Helvetica Neue" pitchFamily="34" charset="-120"/>
              </a:rPr>
              <a:t>READOUT</a:t>
            </a:r>
            <a:endParaRPr lang="en-US" sz="1200" dirty="0"/>
          </a:p>
        </p:txBody>
      </p:sp>
      <p:sp>
        <p:nvSpPr>
          <p:cNvPr id="12" name="Text 9"/>
          <p:cNvSpPr txBox="1"/>
          <p:nvPr/>
        </p:nvSpPr>
        <p:spPr>
          <a:xfrm>
            <a:off x="6958584" y="1901952"/>
            <a:ext cx="1581912" cy="1225296"/>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Visibility: Same-date days ÷ expected days</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Liquidity: 14-day minimum regional net</a:t>
            </a:r>
            <a:endParaRPr lang="en-US" sz="1200" dirty="0"/>
          </a:p>
        </p:txBody>
      </p:sp>
      <p:sp>
        <p:nvSpPr>
          <p:cNvPr id="13" name="Shape 10"/>
          <p:cNvSpPr/>
          <p:nvPr/>
        </p:nvSpPr>
        <p:spPr>
          <a:xfrm>
            <a:off x="457200" y="4814316"/>
            <a:ext cx="8229600" cy="18288"/>
          </a:xfrm>
          <a:prstGeom prst="rect">
            <a:avLst/>
          </a:prstGeom>
          <a:solidFill>
            <a:srgbClr val="D1D5DB"/>
          </a:solidFill>
          <a:ln w="12700">
            <a:solidFill>
              <a:srgbClr val="FFFFFF"/>
            </a:solidFill>
            <a:prstDash val="solid"/>
          </a:ln>
        </p:spPr>
      </p:sp>
      <p:sp>
        <p:nvSpPr>
          <p:cNvPr id="14" name="Text 11"/>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W1 data-quality report · W2 metric contract and processed outputs</a:t>
            </a:r>
            <a:endParaRPr lang="en-US" sz="800" dirty="0"/>
          </a:p>
        </p:txBody>
      </p:sp>
      <p:sp>
        <p:nvSpPr>
          <p:cNvPr id="15" name="Text 12"/>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16/18</a:t>
            </a:r>
            <a:endParaRPr lang="en-US" sz="8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115568"/>
          </a:xfrm>
          <a:prstGeom prst="rect">
            <a:avLst/>
          </a:prstGeom>
          <a:solidFill>
            <a:srgbClr val="0F172A"/>
          </a:solidFill>
          <a:ln w="12700">
            <a:solidFill>
              <a:srgbClr val="FFFFFF"/>
            </a:solidFill>
            <a:prstDash val="solid"/>
          </a:ln>
        </p:spPr>
      </p:sp>
      <p:sp>
        <p:nvSpPr>
          <p:cNvPr id="6" name="Shape 4"/>
          <p:cNvSpPr/>
          <p:nvPr/>
        </p:nvSpPr>
        <p:spPr>
          <a:xfrm>
            <a:off x="0" y="1115568"/>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100584"/>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Appendix — Detailed analyses, sensitivities, and rejected alternatives support the choice</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53312"/>
          <a:ext cx="5925312" cy="3259836"/>
        </p:xfrm>
        <a:graphic>
          <a:graphicData uri="http://schemas.openxmlformats.org/drawingml/2006/table">
            <a:tbl>
              <a:tblPr/>
              <a:tblGrid>
                <a:gridCol w="1066556"/>
                <a:gridCol w="1362822"/>
                <a:gridCol w="2014606"/>
                <a:gridCol w="1481328"/>
              </a:tblGrid>
              <a:tr h="310896">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Analysis</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Base result</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Sensitivity / rejected alternative</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c>
                  <a:txBody>
                    <a:bodyPr/>
                    <a:lstStyle/>
                    <a:p>
                      <a:pPr algn="l" indent="0" marL="0">
                        <a:buNone/>
                      </a:pPr>
                      <a:r>
                        <a:rPr lang="en-US" sz="1020" b="1" dirty="0">
                          <a:solidFill>
                            <a:srgbClr val="FFFFFF"/>
                          </a:solidFill>
                          <a:latin typeface="Helvetica Neue" pitchFamily="34" charset="0"/>
                          <a:ea typeface="Helvetica Neue" pitchFamily="34" charset="-122"/>
                          <a:cs typeface="Helvetica Neue" pitchFamily="34" charset="-120"/>
                        </a:rPr>
                        <a:t>Decision implication</a:t>
                      </a:r>
                      <a:endParaRPr lang="en-US" sz="102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F172A"/>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Operating model</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Federated 87 vs local 72 vs global 60</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Wins 5/5 weights; reject global-now/local-only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Federated now; local fallback</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Liquidity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$35m base screen passes 138/168 windows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$21m: 168/168; $46.2m: 0/168</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Certify before action</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Accounts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4 candidates; $7,800/year estimated fees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2 / 4 / 4 candidates across diagnostic cases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Validate one by one; no bulk closure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Capacity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150 productive hours/month hypothesis</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50 / 150 / 150 h/month; 617.72 total estimate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Hours are not headcount/P&amp;L</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8FAFC"/>
                    </a:solidFill>
                  </a:tcPr>
                </a:tc>
              </a:tr>
              <a:tr h="310896">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Affordability</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$1.155m one-time + $281k/year recurring base</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$755k / $1.155m / $1.715m; high +$215k</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890" dirty="0">
                          <a:solidFill>
                            <a:srgbClr val="111827"/>
                          </a:solidFill>
                          <a:latin typeface="Helvetica Neue" pitchFamily="34" charset="0"/>
                          <a:ea typeface="Helvetica Neue" pitchFamily="34" charset="-122"/>
                          <a:cs typeface="Helvetica Neue" pitchFamily="34" charset="-120"/>
                        </a:rPr>
                        <a:t>Source at G2; stage/redesign/switch</a:t>
                      </a:r>
                      <a:endParaRPr lang="en-US" sz="89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9" name="Shape 6"/>
          <p:cNvSpPr/>
          <p:nvPr/>
        </p:nvSpPr>
        <p:spPr>
          <a:xfrm>
            <a:off x="6793992" y="1353312"/>
            <a:ext cx="1892808" cy="3259836"/>
          </a:xfrm>
          <a:prstGeom prst="rect">
            <a:avLst/>
          </a:prstGeom>
          <a:solidFill>
            <a:srgbClr val="FFFFFF"/>
          </a:solidFill>
          <a:ln w="8255">
            <a:solidFill>
              <a:srgbClr val="D1D5DB"/>
            </a:solidFill>
            <a:prstDash val="solid"/>
          </a:ln>
        </p:spPr>
      </p:sp>
      <p:sp>
        <p:nvSpPr>
          <p:cNvPr id="10" name="Shape 7"/>
          <p:cNvSpPr/>
          <p:nvPr/>
        </p:nvSpPr>
        <p:spPr>
          <a:xfrm>
            <a:off x="6793992" y="1353312"/>
            <a:ext cx="64008" cy="3259836"/>
          </a:xfrm>
          <a:prstGeom prst="rect">
            <a:avLst/>
          </a:prstGeom>
          <a:solidFill>
            <a:srgbClr val="0891B2"/>
          </a:solidFill>
          <a:ln w="12700">
            <a:solidFill>
              <a:srgbClr val="0891B2"/>
            </a:solidFill>
            <a:prstDash val="solid"/>
          </a:ln>
        </p:spPr>
      </p:sp>
      <p:sp>
        <p:nvSpPr>
          <p:cNvPr id="11" name="Text 8"/>
          <p:cNvSpPr txBox="1"/>
          <p:nvPr/>
        </p:nvSpPr>
        <p:spPr>
          <a:xfrm>
            <a:off x="6958584" y="1499616"/>
            <a:ext cx="1581912" cy="310896"/>
          </a:xfrm>
          <a:prstGeom prst="rect">
            <a:avLst/>
          </a:prstGeom>
          <a:noFill/>
          <a:ln/>
        </p:spPr>
        <p:txBody>
          <a:bodyPr wrap="square" lIns="0" tIns="0" rIns="0" bIns="0" rtlCol="0" anchor="t">
            <a:normAutofit/>
          </a:bodyPr>
          <a:lstStyle/>
          <a:p>
            <a:pPr algn="l" indent="0" marL="0">
              <a:buNone/>
            </a:pPr>
            <a:r>
              <a:rPr lang="en-US" sz="1200" b="1" spc="120" kern="0" dirty="0">
                <a:solidFill>
                  <a:srgbClr val="1D4ED8"/>
                </a:solidFill>
                <a:latin typeface="Helvetica Neue" pitchFamily="34" charset="0"/>
                <a:ea typeface="Helvetica Neue" pitchFamily="34" charset="-122"/>
                <a:cs typeface="Helvetica Neue" pitchFamily="34" charset="-120"/>
              </a:rPr>
              <a:t>READOUT</a:t>
            </a:r>
            <a:endParaRPr lang="en-US" sz="1200" dirty="0"/>
          </a:p>
        </p:txBody>
      </p:sp>
      <p:sp>
        <p:nvSpPr>
          <p:cNvPr id="12" name="Text 9"/>
          <p:cNvSpPr txBox="1"/>
          <p:nvPr/>
        </p:nvSpPr>
        <p:spPr>
          <a:xfrm>
            <a:off x="6958584" y="1901952"/>
            <a:ext cx="1581912" cy="1405128"/>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Operating model: Federated 87 vs local 72 vs global 60</a:t>
            </a:r>
            <a:endParaRPr lang="en-US" sz="1200" dirty="0"/>
          </a:p>
          <a:p>
            <a:pPr algn="l" indent="0" marL="0">
              <a:buNone/>
            </a:pPr>
            <a:r>
              <a:rPr lang="en-US" sz="1200" dirty="0">
                <a:solidFill>
                  <a:srgbClr val="111827"/>
                </a:solidFill>
                <a:latin typeface="Helvetica Neue" pitchFamily="34" charset="0"/>
                <a:ea typeface="Helvetica Neue" pitchFamily="34" charset="-122"/>
                <a:cs typeface="Helvetica Neue" pitchFamily="34" charset="-120"/>
              </a:rPr>
              <a:t>Liquidity: $35m base screen passes 138/168 windows</a:t>
            </a:r>
            <a:endParaRPr lang="en-US" sz="1200" dirty="0"/>
          </a:p>
        </p:txBody>
      </p:sp>
      <p:sp>
        <p:nvSpPr>
          <p:cNvPr id="13" name="Shape 10"/>
          <p:cNvSpPr/>
          <p:nvPr/>
        </p:nvSpPr>
        <p:spPr>
          <a:xfrm>
            <a:off x="457200" y="4814316"/>
            <a:ext cx="8229600" cy="18288"/>
          </a:xfrm>
          <a:prstGeom prst="rect">
            <a:avLst/>
          </a:prstGeom>
          <a:solidFill>
            <a:srgbClr val="D1D5DB"/>
          </a:solidFill>
          <a:ln w="12700">
            <a:solidFill>
              <a:srgbClr val="FFFFFF"/>
            </a:solidFill>
            <a:prstDash val="solid"/>
          </a:ln>
        </p:spPr>
      </p:sp>
      <p:sp>
        <p:nvSpPr>
          <p:cNvPr id="14" name="Text 11"/>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W2 diagnostic outputs · W3 option, sensitivity, business-case and cost outputs</a:t>
            </a:r>
            <a:endParaRPr lang="en-US" sz="800" dirty="0"/>
          </a:p>
        </p:txBody>
      </p:sp>
      <p:sp>
        <p:nvSpPr>
          <p:cNvPr id="15" name="Text 12"/>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17/18</a:t>
            </a:r>
            <a:endParaRPr lang="en-US" sz="8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384048" y="73152"/>
            <a:ext cx="1920240" cy="32004"/>
          </a:xfrm>
          <a:prstGeom prst="rect">
            <a:avLst/>
          </a:prstGeom>
          <a:solidFill>
            <a:srgbClr val="1D4ED8"/>
          </a:solidFill>
          <a:ln w="12700">
            <a:solidFill>
              <a:srgbClr val="1D4ED8">
                <a:alpha val="0"/>
              </a:srgbClr>
            </a:solidFill>
            <a:prstDash val="solid"/>
          </a:ln>
        </p:spPr>
      </p:sp>
      <p:sp>
        <p:nvSpPr>
          <p:cNvPr id="3" name="Shape 1"/>
          <p:cNvSpPr/>
          <p:nvPr/>
        </p:nvSpPr>
        <p:spPr>
          <a:xfrm>
            <a:off x="2395728" y="73152"/>
            <a:ext cx="6364224" cy="10973"/>
          </a:xfrm>
          <a:prstGeom prst="rect">
            <a:avLst/>
          </a:prstGeom>
          <a:solidFill>
            <a:srgbClr val="D1D5DB"/>
          </a:solidFill>
          <a:ln w="12700">
            <a:solidFill>
              <a:srgbClr val="D1D5DB">
                <a:alpha val="0"/>
              </a:srgbClr>
            </a:solidFill>
            <a:prstDash val="solid"/>
          </a:ln>
        </p:spPr>
      </p:sp>
      <p:sp>
        <p:nvSpPr>
          <p:cNvPr id="4" name="Shape 2"/>
          <p:cNvSpPr/>
          <p:nvPr/>
        </p:nvSpPr>
        <p:spPr>
          <a:xfrm>
            <a:off x="384048" y="4704588"/>
            <a:ext cx="8375904" cy="16459"/>
          </a:xfrm>
          <a:prstGeom prst="rect">
            <a:avLst/>
          </a:prstGeom>
          <a:solidFill>
            <a:srgbClr val="D1D5DB"/>
          </a:solidFill>
          <a:ln w="12700">
            <a:solidFill>
              <a:srgbClr val="D1D5DB">
                <a:alpha val="0"/>
              </a:srgbClr>
            </a:solidFill>
            <a:prstDash val="solid"/>
          </a:ln>
        </p:spPr>
      </p:sp>
      <p:sp>
        <p:nvSpPr>
          <p:cNvPr id="5" name="Shape 3"/>
          <p:cNvSpPr/>
          <p:nvPr/>
        </p:nvSpPr>
        <p:spPr>
          <a:xfrm>
            <a:off x="0" y="0"/>
            <a:ext cx="9144000" cy="1115568"/>
          </a:xfrm>
          <a:prstGeom prst="rect">
            <a:avLst/>
          </a:prstGeom>
          <a:solidFill>
            <a:srgbClr val="0F172A"/>
          </a:solidFill>
          <a:ln w="12700">
            <a:solidFill>
              <a:srgbClr val="FFFFFF"/>
            </a:solidFill>
            <a:prstDash val="solid"/>
          </a:ln>
        </p:spPr>
      </p:sp>
      <p:sp>
        <p:nvSpPr>
          <p:cNvPr id="6" name="Shape 4"/>
          <p:cNvSpPr/>
          <p:nvPr/>
        </p:nvSpPr>
        <p:spPr>
          <a:xfrm>
            <a:off x="0" y="1115568"/>
            <a:ext cx="9144000" cy="36576"/>
          </a:xfrm>
          <a:prstGeom prst="rect">
            <a:avLst/>
          </a:prstGeom>
          <a:solidFill>
            <a:srgbClr val="1D4ED8"/>
          </a:solidFill>
          <a:ln w="12700">
            <a:solidFill>
              <a:srgbClr val="FFFFFF"/>
            </a:solidFill>
            <a:prstDash val="solid"/>
          </a:ln>
        </p:spPr>
      </p:sp>
      <p:sp>
        <p:nvSpPr>
          <p:cNvPr id="7" name="Text 5"/>
          <p:cNvSpPr txBox="1"/>
          <p:nvPr/>
        </p:nvSpPr>
        <p:spPr>
          <a:xfrm>
            <a:off x="457200" y="100584"/>
            <a:ext cx="8229600" cy="914400"/>
          </a:xfrm>
          <a:prstGeom prst="rect">
            <a:avLst/>
          </a:prstGeom>
          <a:noFill/>
          <a:ln/>
        </p:spPr>
        <p:txBody>
          <a:bodyPr wrap="square" lIns="0" tIns="0" rIns="0" bIns="0" rtlCol="0" anchor="t"/>
          <a:lstStyle/>
          <a:p>
            <a:pPr algn="l" indent="0" marL="0">
              <a:buNone/>
            </a:pPr>
            <a:r>
              <a:rPr lang="en-US" sz="2400" b="1" dirty="0">
                <a:solidFill>
                  <a:srgbClr val="FFFFFF"/>
                </a:solidFill>
                <a:latin typeface="Helvetica Neue" pitchFamily="34" charset="0"/>
                <a:ea typeface="Helvetica Neue" pitchFamily="34" charset="-122"/>
                <a:cs typeface="Helvetica Neue" pitchFamily="34" charset="-120"/>
              </a:rPr>
              <a:t>Appendix — Source and assumption controls keep claims auditable</a:t>
            </a:r>
            <a:endParaRPr lang="en-US" sz="2400" dirty="0"/>
          </a:p>
        </p:txBody>
      </p:sp>
      <p:sp>
        <p:nvSpPr>
          <p:cNvPr id="8" name="Shape 6"/>
          <p:cNvSpPr/>
          <p:nvPr/>
        </p:nvSpPr>
        <p:spPr>
          <a:xfrm>
            <a:off x="457200" y="1353312"/>
            <a:ext cx="3785616" cy="1108344"/>
          </a:xfrm>
          <a:prstGeom prst="rect">
            <a:avLst/>
          </a:prstGeom>
          <a:solidFill>
            <a:srgbClr val="FFFFFF"/>
          </a:solidFill>
          <a:ln w="8255">
            <a:solidFill>
              <a:srgbClr val="D1D5DB"/>
            </a:solidFill>
            <a:prstDash val="solid"/>
          </a:ln>
        </p:spPr>
      </p:sp>
      <p:sp>
        <p:nvSpPr>
          <p:cNvPr id="9" name="Shape 7"/>
          <p:cNvSpPr/>
          <p:nvPr/>
        </p:nvSpPr>
        <p:spPr>
          <a:xfrm>
            <a:off x="457200" y="1353312"/>
            <a:ext cx="64008" cy="1108344"/>
          </a:xfrm>
          <a:prstGeom prst="rect">
            <a:avLst/>
          </a:prstGeom>
          <a:solidFill>
            <a:srgbClr val="1D4ED8"/>
          </a:solidFill>
          <a:ln w="12700">
            <a:solidFill>
              <a:srgbClr val="1D4ED8"/>
            </a:solidFill>
            <a:prstDash val="solid"/>
          </a:ln>
        </p:spPr>
      </p:sp>
      <p:sp>
        <p:nvSpPr>
          <p:cNvPr id="10" name="Text 8"/>
          <p:cNvSpPr txBox="1"/>
          <p:nvPr/>
        </p:nvSpPr>
        <p:spPr>
          <a:xfrm>
            <a:off x="3739896" y="1508760"/>
            <a:ext cx="347472" cy="292608"/>
          </a:xfrm>
          <a:prstGeom prst="rect">
            <a:avLst/>
          </a:prstGeom>
          <a:noFill/>
          <a:ln/>
        </p:spPr>
        <p:txBody>
          <a:bodyPr wrap="square" lIns="0" tIns="0" rIns="0" bIns="0" rtlCol="0" anchor="t">
            <a:normAutofit/>
          </a:bodyPr>
          <a:lstStyle/>
          <a:p>
            <a:pPr algn="r" indent="0" marL="0">
              <a:buNone/>
            </a:pPr>
            <a:r>
              <a:rPr lang="en-US" sz="1250" b="1" dirty="0">
                <a:solidFill>
                  <a:srgbClr val="1D4ED8"/>
                </a:solidFill>
                <a:latin typeface="Helvetica Neue" pitchFamily="34" charset="0"/>
                <a:ea typeface="Helvetica Neue" pitchFamily="34" charset="-122"/>
                <a:cs typeface="Helvetica Neue" pitchFamily="34" charset="-120"/>
              </a:rPr>
              <a:t>01</a:t>
            </a:r>
            <a:endParaRPr lang="en-US" sz="1250" dirty="0"/>
          </a:p>
        </p:txBody>
      </p:sp>
      <p:sp>
        <p:nvSpPr>
          <p:cNvPr id="11" name="Text 9"/>
          <p:cNvSpPr txBox="1"/>
          <p:nvPr/>
        </p:nvSpPr>
        <p:spPr>
          <a:xfrm>
            <a:off x="612648" y="1508760"/>
            <a:ext cx="3054096" cy="292608"/>
          </a:xfrm>
          <a:prstGeom prst="rect">
            <a:avLst/>
          </a:prstGeom>
          <a:noFill/>
          <a:ln/>
        </p:spPr>
        <p:txBody>
          <a:bodyPr wrap="square" lIns="0" tIns="0" rIns="0" bIns="0" rtlCol="0" anchor="t">
            <a:normAutofit/>
          </a:bodyPr>
          <a:lstStyle/>
          <a:p>
            <a:pPr algn="l" indent="0" marL="0">
              <a:buNone/>
            </a:pPr>
            <a:r>
              <a:rPr lang="en-US" sz="1250" b="1" dirty="0">
                <a:solidFill>
                  <a:srgbClr val="1D4ED8"/>
                </a:solidFill>
                <a:latin typeface="Helvetica Neue" pitchFamily="34" charset="0"/>
                <a:ea typeface="Helvetica Neue" pitchFamily="34" charset="-122"/>
                <a:cs typeface="Helvetica Neue" pitchFamily="34" charset="-120"/>
              </a:rPr>
              <a:t>PROGRAM + ACG</a:t>
            </a:r>
            <a:endParaRPr lang="en-US" sz="1250" dirty="0"/>
          </a:p>
        </p:txBody>
      </p:sp>
      <p:sp>
        <p:nvSpPr>
          <p:cNvPr id="12" name="Text 10"/>
          <p:cNvSpPr txBox="1"/>
          <p:nvPr/>
        </p:nvSpPr>
        <p:spPr>
          <a:xfrm>
            <a:off x="612648" y="1892808"/>
            <a:ext cx="3474720" cy="271272"/>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PROGRAM-STANDARD · ACG-DATA</a:t>
            </a:r>
            <a:endParaRPr lang="en-US" sz="1200" dirty="0"/>
          </a:p>
        </p:txBody>
      </p:sp>
      <p:sp>
        <p:nvSpPr>
          <p:cNvPr id="13" name="Shape 11"/>
          <p:cNvSpPr/>
          <p:nvPr/>
        </p:nvSpPr>
        <p:spPr>
          <a:xfrm>
            <a:off x="4901184" y="1353312"/>
            <a:ext cx="3785616" cy="1108344"/>
          </a:xfrm>
          <a:prstGeom prst="rect">
            <a:avLst/>
          </a:prstGeom>
          <a:solidFill>
            <a:srgbClr val="FFFFFF"/>
          </a:solidFill>
          <a:ln w="8255">
            <a:solidFill>
              <a:srgbClr val="D1D5DB"/>
            </a:solidFill>
            <a:prstDash val="solid"/>
          </a:ln>
        </p:spPr>
      </p:sp>
      <p:sp>
        <p:nvSpPr>
          <p:cNvPr id="14" name="Shape 12"/>
          <p:cNvSpPr/>
          <p:nvPr/>
        </p:nvSpPr>
        <p:spPr>
          <a:xfrm>
            <a:off x="4901184" y="1353312"/>
            <a:ext cx="64008" cy="1108344"/>
          </a:xfrm>
          <a:prstGeom prst="rect">
            <a:avLst/>
          </a:prstGeom>
          <a:solidFill>
            <a:srgbClr val="0891B2"/>
          </a:solidFill>
          <a:ln w="12700">
            <a:solidFill>
              <a:srgbClr val="0891B2"/>
            </a:solidFill>
            <a:prstDash val="solid"/>
          </a:ln>
        </p:spPr>
      </p:sp>
      <p:sp>
        <p:nvSpPr>
          <p:cNvPr id="15" name="Text 13"/>
          <p:cNvSpPr txBox="1"/>
          <p:nvPr/>
        </p:nvSpPr>
        <p:spPr>
          <a:xfrm>
            <a:off x="8183880" y="1508760"/>
            <a:ext cx="347472" cy="292608"/>
          </a:xfrm>
          <a:prstGeom prst="rect">
            <a:avLst/>
          </a:prstGeom>
          <a:noFill/>
          <a:ln/>
        </p:spPr>
        <p:txBody>
          <a:bodyPr wrap="square" lIns="0" tIns="0" rIns="0" bIns="0" rtlCol="0" anchor="t">
            <a:normAutofit/>
          </a:bodyPr>
          <a:lstStyle/>
          <a:p>
            <a:pPr algn="r" indent="0" marL="0">
              <a:buNone/>
            </a:pPr>
            <a:r>
              <a:rPr lang="en-US" sz="1250" b="1" dirty="0">
                <a:solidFill>
                  <a:srgbClr val="0891B2"/>
                </a:solidFill>
                <a:latin typeface="Helvetica Neue" pitchFamily="34" charset="0"/>
                <a:ea typeface="Helvetica Neue" pitchFamily="34" charset="-122"/>
                <a:cs typeface="Helvetica Neue" pitchFamily="34" charset="-120"/>
              </a:rPr>
              <a:t>02</a:t>
            </a:r>
            <a:endParaRPr lang="en-US" sz="1250" dirty="0"/>
          </a:p>
        </p:txBody>
      </p:sp>
      <p:sp>
        <p:nvSpPr>
          <p:cNvPr id="16" name="Text 14"/>
          <p:cNvSpPr txBox="1"/>
          <p:nvPr/>
        </p:nvSpPr>
        <p:spPr>
          <a:xfrm>
            <a:off x="5056632" y="1508760"/>
            <a:ext cx="3054096" cy="292608"/>
          </a:xfrm>
          <a:prstGeom prst="rect">
            <a:avLst/>
          </a:prstGeom>
          <a:noFill/>
          <a:ln/>
        </p:spPr>
        <p:txBody>
          <a:bodyPr wrap="square" lIns="0" tIns="0" rIns="0" bIns="0" rtlCol="0" anchor="t">
            <a:normAutofit/>
          </a:bodyPr>
          <a:lstStyle/>
          <a:p>
            <a:pPr algn="l" indent="0" marL="0">
              <a:buNone/>
            </a:pPr>
            <a:r>
              <a:rPr lang="en-US" sz="1250" b="1" dirty="0">
                <a:solidFill>
                  <a:srgbClr val="0891B2"/>
                </a:solidFill>
                <a:latin typeface="Helvetica Neue" pitchFamily="34" charset="0"/>
                <a:ea typeface="Helvetica Neue" pitchFamily="34" charset="-122"/>
                <a:cs typeface="Helvetica Neue" pitchFamily="34" charset="-120"/>
              </a:rPr>
              <a:t>CALCULATED</a:t>
            </a:r>
            <a:endParaRPr lang="en-US" sz="1250" dirty="0"/>
          </a:p>
        </p:txBody>
      </p:sp>
      <p:sp>
        <p:nvSpPr>
          <p:cNvPr id="17" name="Text 15"/>
          <p:cNvSpPr txBox="1"/>
          <p:nvPr/>
        </p:nvSpPr>
        <p:spPr>
          <a:xfrm>
            <a:off x="5056632" y="1892808"/>
            <a:ext cx="3474720" cy="271272"/>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Reproducible ANALYST-CALC</a:t>
            </a:r>
            <a:endParaRPr lang="en-US" sz="1200" dirty="0"/>
          </a:p>
        </p:txBody>
      </p:sp>
      <p:sp>
        <p:nvSpPr>
          <p:cNvPr id="18" name="Shape 16"/>
          <p:cNvSpPr/>
          <p:nvPr/>
        </p:nvSpPr>
        <p:spPr>
          <a:xfrm>
            <a:off x="457200" y="2722443"/>
            <a:ext cx="3785616" cy="977951"/>
          </a:xfrm>
          <a:prstGeom prst="rect">
            <a:avLst/>
          </a:prstGeom>
          <a:solidFill>
            <a:srgbClr val="FFFFFF"/>
          </a:solidFill>
          <a:ln w="8255">
            <a:solidFill>
              <a:srgbClr val="D1D5DB"/>
            </a:solidFill>
            <a:prstDash val="solid"/>
          </a:ln>
        </p:spPr>
      </p:sp>
      <p:sp>
        <p:nvSpPr>
          <p:cNvPr id="19" name="Shape 17"/>
          <p:cNvSpPr/>
          <p:nvPr/>
        </p:nvSpPr>
        <p:spPr>
          <a:xfrm>
            <a:off x="457200" y="2722443"/>
            <a:ext cx="64008" cy="977951"/>
          </a:xfrm>
          <a:prstGeom prst="rect">
            <a:avLst/>
          </a:prstGeom>
          <a:solidFill>
            <a:srgbClr val="1D4ED8"/>
          </a:solidFill>
          <a:ln w="12700">
            <a:solidFill>
              <a:srgbClr val="1D4ED8"/>
            </a:solidFill>
            <a:prstDash val="solid"/>
          </a:ln>
        </p:spPr>
      </p:sp>
      <p:sp>
        <p:nvSpPr>
          <p:cNvPr id="20" name="Text 18"/>
          <p:cNvSpPr txBox="1"/>
          <p:nvPr/>
        </p:nvSpPr>
        <p:spPr>
          <a:xfrm>
            <a:off x="3739896" y="2877891"/>
            <a:ext cx="347472" cy="292608"/>
          </a:xfrm>
          <a:prstGeom prst="rect">
            <a:avLst/>
          </a:prstGeom>
          <a:noFill/>
          <a:ln/>
        </p:spPr>
        <p:txBody>
          <a:bodyPr wrap="square" lIns="0" tIns="0" rIns="0" bIns="0" rtlCol="0" anchor="t">
            <a:normAutofit/>
          </a:bodyPr>
          <a:lstStyle/>
          <a:p>
            <a:pPr algn="r" indent="0" marL="0">
              <a:buNone/>
            </a:pPr>
            <a:r>
              <a:rPr lang="en-US" sz="1250" b="1" dirty="0">
                <a:solidFill>
                  <a:srgbClr val="1D4ED8"/>
                </a:solidFill>
                <a:latin typeface="Helvetica Neue" pitchFamily="34" charset="0"/>
                <a:ea typeface="Helvetica Neue" pitchFamily="34" charset="-122"/>
                <a:cs typeface="Helvetica Neue" pitchFamily="34" charset="-120"/>
              </a:rPr>
              <a:t>03</a:t>
            </a:r>
            <a:endParaRPr lang="en-US" sz="1250" dirty="0"/>
          </a:p>
        </p:txBody>
      </p:sp>
      <p:sp>
        <p:nvSpPr>
          <p:cNvPr id="21" name="Text 19"/>
          <p:cNvSpPr txBox="1"/>
          <p:nvPr/>
        </p:nvSpPr>
        <p:spPr>
          <a:xfrm>
            <a:off x="612648" y="2877891"/>
            <a:ext cx="3054096" cy="292608"/>
          </a:xfrm>
          <a:prstGeom prst="rect">
            <a:avLst/>
          </a:prstGeom>
          <a:noFill/>
          <a:ln/>
        </p:spPr>
        <p:txBody>
          <a:bodyPr wrap="square" lIns="0" tIns="0" rIns="0" bIns="0" rtlCol="0" anchor="t">
            <a:normAutofit/>
          </a:bodyPr>
          <a:lstStyle/>
          <a:p>
            <a:pPr algn="l" indent="0" marL="0">
              <a:buNone/>
            </a:pPr>
            <a:r>
              <a:rPr lang="en-US" sz="1250" b="1" dirty="0">
                <a:solidFill>
                  <a:srgbClr val="1D4ED8"/>
                </a:solidFill>
                <a:latin typeface="Helvetica Neue" pitchFamily="34" charset="0"/>
                <a:ea typeface="Helvetica Neue" pitchFamily="34" charset="-122"/>
                <a:cs typeface="Helvetica Neue" pitchFamily="34" charset="-120"/>
              </a:rPr>
              <a:t>OPEN INPUTS</a:t>
            </a:r>
            <a:endParaRPr lang="en-US" sz="1250" dirty="0"/>
          </a:p>
        </p:txBody>
      </p:sp>
      <p:sp>
        <p:nvSpPr>
          <p:cNvPr id="22" name="Text 20"/>
          <p:cNvSpPr txBox="1"/>
          <p:nvPr/>
        </p:nvSpPr>
        <p:spPr>
          <a:xfrm>
            <a:off x="612648" y="3261939"/>
            <a:ext cx="3474720" cy="271272"/>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ANALYST-ASSUMPTION · JUDGMENT</a:t>
            </a:r>
            <a:endParaRPr lang="en-US" sz="1200" dirty="0"/>
          </a:p>
        </p:txBody>
      </p:sp>
      <p:sp>
        <p:nvSpPr>
          <p:cNvPr id="23" name="Shape 21"/>
          <p:cNvSpPr/>
          <p:nvPr/>
        </p:nvSpPr>
        <p:spPr>
          <a:xfrm>
            <a:off x="4901184" y="2722443"/>
            <a:ext cx="3785616" cy="977951"/>
          </a:xfrm>
          <a:prstGeom prst="rect">
            <a:avLst/>
          </a:prstGeom>
          <a:solidFill>
            <a:srgbClr val="FFFFFF"/>
          </a:solidFill>
          <a:ln w="8255">
            <a:solidFill>
              <a:srgbClr val="D1D5DB"/>
            </a:solidFill>
            <a:prstDash val="solid"/>
          </a:ln>
        </p:spPr>
      </p:sp>
      <p:sp>
        <p:nvSpPr>
          <p:cNvPr id="24" name="Shape 22"/>
          <p:cNvSpPr/>
          <p:nvPr/>
        </p:nvSpPr>
        <p:spPr>
          <a:xfrm>
            <a:off x="4901184" y="2722443"/>
            <a:ext cx="64008" cy="977951"/>
          </a:xfrm>
          <a:prstGeom prst="rect">
            <a:avLst/>
          </a:prstGeom>
          <a:solidFill>
            <a:srgbClr val="0891B2"/>
          </a:solidFill>
          <a:ln w="12700">
            <a:solidFill>
              <a:srgbClr val="0891B2"/>
            </a:solidFill>
            <a:prstDash val="solid"/>
          </a:ln>
        </p:spPr>
      </p:sp>
      <p:sp>
        <p:nvSpPr>
          <p:cNvPr id="25" name="Text 23"/>
          <p:cNvSpPr txBox="1"/>
          <p:nvPr/>
        </p:nvSpPr>
        <p:spPr>
          <a:xfrm>
            <a:off x="8183880" y="2877891"/>
            <a:ext cx="347472" cy="292608"/>
          </a:xfrm>
          <a:prstGeom prst="rect">
            <a:avLst/>
          </a:prstGeom>
          <a:noFill/>
          <a:ln/>
        </p:spPr>
        <p:txBody>
          <a:bodyPr wrap="square" lIns="0" tIns="0" rIns="0" bIns="0" rtlCol="0" anchor="t">
            <a:normAutofit/>
          </a:bodyPr>
          <a:lstStyle/>
          <a:p>
            <a:pPr algn="r" indent="0" marL="0">
              <a:buNone/>
            </a:pPr>
            <a:r>
              <a:rPr lang="en-US" sz="1250" b="1" dirty="0">
                <a:solidFill>
                  <a:srgbClr val="0891B2"/>
                </a:solidFill>
                <a:latin typeface="Helvetica Neue" pitchFamily="34" charset="0"/>
                <a:ea typeface="Helvetica Neue" pitchFamily="34" charset="-122"/>
                <a:cs typeface="Helvetica Neue" pitchFamily="34" charset="-120"/>
              </a:rPr>
              <a:t>04</a:t>
            </a:r>
            <a:endParaRPr lang="en-US" sz="1250" dirty="0"/>
          </a:p>
        </p:txBody>
      </p:sp>
      <p:sp>
        <p:nvSpPr>
          <p:cNvPr id="26" name="Text 24"/>
          <p:cNvSpPr txBox="1"/>
          <p:nvPr/>
        </p:nvSpPr>
        <p:spPr>
          <a:xfrm>
            <a:off x="5056632" y="2877891"/>
            <a:ext cx="3054096" cy="292608"/>
          </a:xfrm>
          <a:prstGeom prst="rect">
            <a:avLst/>
          </a:prstGeom>
          <a:noFill/>
          <a:ln/>
        </p:spPr>
        <p:txBody>
          <a:bodyPr wrap="square" lIns="0" tIns="0" rIns="0" bIns="0" rtlCol="0" anchor="t">
            <a:normAutofit/>
          </a:bodyPr>
          <a:lstStyle/>
          <a:p>
            <a:pPr algn="l" indent="0" marL="0">
              <a:buNone/>
            </a:pPr>
            <a:r>
              <a:rPr lang="en-US" sz="1250" b="1" dirty="0">
                <a:solidFill>
                  <a:srgbClr val="0891B2"/>
                </a:solidFill>
                <a:latin typeface="Helvetica Neue" pitchFamily="34" charset="0"/>
                <a:ea typeface="Helvetica Neue" pitchFamily="34" charset="-122"/>
                <a:cs typeface="Helvetica Neue" pitchFamily="34" charset="-120"/>
              </a:rPr>
              <a:t>CONTEXT + AUDIT</a:t>
            </a:r>
            <a:endParaRPr lang="en-US" sz="1250" dirty="0"/>
          </a:p>
        </p:txBody>
      </p:sp>
      <p:sp>
        <p:nvSpPr>
          <p:cNvPr id="27" name="Text 25"/>
          <p:cNvSpPr txBox="1"/>
          <p:nvPr/>
        </p:nvSpPr>
        <p:spPr>
          <a:xfrm>
            <a:off x="5056632" y="3261939"/>
            <a:ext cx="3474720" cy="271272"/>
          </a:xfrm>
          <a:prstGeom prst="rect">
            <a:avLst/>
          </a:prstGeom>
          <a:noFill/>
          <a:ln/>
        </p:spPr>
        <p:txBody>
          <a:bodyPr wrap="square" lIns="0" tIns="0" rIns="0" bIns="0" rtlCol="0" anchor="t">
            <a:normAutofit/>
          </a:bodyPr>
          <a:lstStyle/>
          <a:p>
            <a:pPr algn="l" indent="0" marL="0">
              <a:buNone/>
            </a:pPr>
            <a:r>
              <a:rPr lang="en-US" sz="1200" dirty="0">
                <a:solidFill>
                  <a:srgbClr val="111827"/>
                </a:solidFill>
                <a:latin typeface="Helvetica Neue" pitchFamily="34" charset="0"/>
                <a:ea typeface="Helvetica Neue" pitchFamily="34" charset="-122"/>
                <a:cs typeface="Helvetica Neue" pitchFamily="34" charset="-120"/>
              </a:rPr>
              <a:t>JPM-PUBLIC · full register</a:t>
            </a:r>
            <a:endParaRPr lang="en-US" sz="1200" dirty="0"/>
          </a:p>
        </p:txBody>
      </p:sp>
      <p:sp>
        <p:nvSpPr>
          <p:cNvPr id="28" name="Shape 26"/>
          <p:cNvSpPr/>
          <p:nvPr/>
        </p:nvSpPr>
        <p:spPr>
          <a:xfrm>
            <a:off x="457200" y="3961181"/>
            <a:ext cx="8229600" cy="651967"/>
          </a:xfrm>
          <a:prstGeom prst="rect">
            <a:avLst/>
          </a:prstGeom>
          <a:solidFill>
            <a:srgbClr val="0F172A"/>
          </a:solidFill>
          <a:ln w="8255">
            <a:solidFill>
              <a:srgbClr val="1D4ED8"/>
            </a:solidFill>
            <a:prstDash val="solid"/>
          </a:ln>
        </p:spPr>
      </p:sp>
      <p:sp>
        <p:nvSpPr>
          <p:cNvPr id="29" name="Text 27"/>
          <p:cNvSpPr txBox="1"/>
          <p:nvPr/>
        </p:nvSpPr>
        <p:spPr>
          <a:xfrm>
            <a:off x="566928" y="4025036"/>
            <a:ext cx="8010144" cy="52425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elvetica Neue" pitchFamily="34" charset="0"/>
                <a:ea typeface="Helvetica Neue" pitchFamily="34" charset="-122"/>
                <a:cs typeface="Helvetica Neue" pitchFamily="34" charset="-120"/>
              </a:rPr>
              <a:t>Labels and paths: W4 source + assumptions registers · final evidence register · rebuild via src/ + data/processed/</a:t>
            </a:r>
            <a:endParaRPr lang="en-US" sz="1200" dirty="0"/>
          </a:p>
        </p:txBody>
      </p:sp>
      <p:sp>
        <p:nvSpPr>
          <p:cNvPr id="30" name="Shape 28"/>
          <p:cNvSpPr/>
          <p:nvPr/>
        </p:nvSpPr>
        <p:spPr>
          <a:xfrm>
            <a:off x="457200" y="4814316"/>
            <a:ext cx="8229600" cy="18288"/>
          </a:xfrm>
          <a:prstGeom prst="rect">
            <a:avLst/>
          </a:prstGeom>
          <a:solidFill>
            <a:srgbClr val="D1D5DB"/>
          </a:solidFill>
          <a:ln w="12700">
            <a:solidFill>
              <a:srgbClr val="FFFFFF"/>
            </a:solidFill>
            <a:prstDash val="solid"/>
          </a:ln>
        </p:spPr>
      </p:sp>
      <p:sp>
        <p:nvSpPr>
          <p:cNvPr id="31" name="Text 29"/>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800" dirty="0">
                <a:solidFill>
                  <a:srgbClr val="4B5563"/>
                </a:solidFill>
                <a:latin typeface="Helvetica Neue" pitchFamily="34" charset="0"/>
                <a:ea typeface="Helvetica Neue" pitchFamily="34" charset="-122"/>
                <a:cs typeface="Helvetica Neue" pitchFamily="34" charset="-120"/>
              </a:rPr>
              <a:t>Sources: W4 source and assumptions registers · Final evidence register · 24 Aug 2026</a:t>
            </a:r>
            <a:endParaRPr lang="en-US" sz="800" dirty="0"/>
          </a:p>
        </p:txBody>
      </p:sp>
      <p:sp>
        <p:nvSpPr>
          <p:cNvPr id="32" name="Text 30"/>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840" dirty="0">
                <a:solidFill>
                  <a:srgbClr val="4B5563"/>
                </a:solidFill>
                <a:latin typeface="Helvetica Neue" pitchFamily="34" charset="0"/>
                <a:ea typeface="Helvetica Neue" pitchFamily="34" charset="-122"/>
                <a:cs typeface="Helvetica Neue" pitchFamily="34" charset="-120"/>
              </a:rPr>
              <a:t>18/18</a:t>
            </a:r>
            <a:endParaRPr lang="en-US" sz="8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Northstar — Final Steering Committee</dc:title>
  <dc:subject>Decision on a 90-day treasury transformation mobilization · 24 August 2026</dc:subject>
  <dc:creator>PptxGenJS</dc:creator>
  <cp:lastModifiedBy>PptxGenJS</cp:lastModifiedBy>
  <cp:revision>1</cp:revision>
  <dcterms:created xsi:type="dcterms:W3CDTF">2026-08-24T11:22:53Z</dcterms:created>
  <dcterms:modified xsi:type="dcterms:W3CDTF">2026-08-24T11:22:53Z</dcterms:modified>
</cp:coreProperties>
</file>