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PROJECT NORTHSTAR — FINAL STEERING COMMITTEE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01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Authorize 90 days to make the next treasury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Direction and evidence mobilization only — no production, funding, or value approval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29425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29083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29425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29083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29464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3400" y="15367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DIRECTION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17018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87</a:t>
            </a:r>
            <a:r>
              <a:rPr sz="1000" b="1">
                <a:solidFill>
                  <a:srgbClr val="1D1F20"/>
                </a:solidFill>
                <a:latin typeface="Barlow"/>
              </a:rPr>
              <a:t>  federated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184400"/>
            <a:ext cx="24892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Against 72 local and 60 global. A design direction, not confidence, value, or readiness.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75000" y="1473200"/>
            <a:ext cx="7620" cy="13970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27400" y="15367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RECOGNIZED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7400" y="17018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$0</a:t>
            </a:r>
            <a:r>
              <a:rPr sz="1000" b="1">
                <a:solidFill>
                  <a:srgbClr val="1D1F20"/>
                </a:solidFill>
                <a:latin typeface="Barlow"/>
              </a:rPr>
              <a:t>  today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27400" y="2184400"/>
            <a:ext cx="1422400" cy="165100"/>
          </a:xfrm>
          <a:prstGeom prst="rect">
            <a:avLst/>
          </a:prstGeom>
          <a:solidFill>
            <a:srgbClr val="F3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390900" y="2222500"/>
            <a:ext cx="2362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spc="120">
                <a:solidFill>
                  <a:srgbClr val="8A5E1E"/>
                </a:solidFill>
                <a:latin typeface="Barlow"/>
              </a:rPr>
              <a:t>RISK NOT QUANTIFIED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7400" y="24130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Cash, P&amp;L, and capacity each recognize nothing. ROI, NPV, and payback remain unavailable.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69000" y="1473200"/>
            <a:ext cx="7620" cy="13970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1400" y="15367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RETURN 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1400" y="17018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90</a:t>
            </a:r>
            <a:r>
              <a:rPr sz="1000" b="1">
                <a:solidFill>
                  <a:srgbClr val="1D1F20"/>
                </a:solidFill>
                <a:latin typeface="Barlow"/>
              </a:rPr>
              <a:t> 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1400" y="2184400"/>
            <a:ext cx="24892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 separate stop / extend / bounded-pilot decision at G3. Time does not override an open gate.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3098800"/>
            <a:ext cx="330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DECISIONS REQUESTED TODAY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1000" y="33274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81000" y="33464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100" y="33210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Authorize federated coordination as the direction, with local stabilization as the documented fallback.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1000" y="36195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81000" y="36385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3100" y="36131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Confirm accountable owners for data, mobility, payments, controls, service, cost, and benefits.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39116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81000" y="39306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100" y="39052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Approve the 90-day evidence timebox and reserve every launch, spend, value, and scale decision.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GOVERNING MESSAGE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ACG has enough evidence to choose a direction—not enough to authorize execution or book value.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strategic options; W3 business case; W4 roadmap and governance; final decision log.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WHY ACT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02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Enough evidence to choose a direction—not to approve value or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6283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5941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6283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5941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6322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SUPPLIED-DATA READOUT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217424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3840" y="1727200"/>
            <a:ext cx="24993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SUPPLIED 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4800" y="1727200"/>
            <a:ext cx="3149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WHAT IT IS NOT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1955800"/>
            <a:ext cx="217424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Same-day calendar proxy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3840" y="1955800"/>
            <a:ext cx="24993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58.18% of 9,955 account-days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4800" y="1955800"/>
            <a:ext cx="314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intraday completeness or an SLA result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2286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8000" y="2336800"/>
            <a:ext cx="217424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Payment exception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840" y="2336800"/>
            <a:ext cx="24993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6.30% of 7,600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4800" y="2336800"/>
            <a:ext cx="314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a certified enterprise population or a cause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667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717800"/>
            <a:ext cx="217424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Weighted option 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3840" y="2717800"/>
            <a:ext cx="24993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87 federated / 72 local / 60 global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4800" y="2717800"/>
            <a:ext cx="314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value, confidence, cost, or readiness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3048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3098800"/>
            <a:ext cx="217424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Recognized cash, P&amp;L, capacity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3840" y="3098800"/>
            <a:ext cx="24993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 today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4800" y="3098800"/>
            <a:ext cx="314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a claim that no opportunity exists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Model-control passes and supplied-data calculations are not execution evidence.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W1 data-quality outputs; W2 diagnostic; W3 options and business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DIAGNOSTIC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03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Four linked failures explain ACG's treasury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The recommendation must fix ownership, evidence, control, and service together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7553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211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7553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211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7592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FAILURE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272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6160" y="1727200"/>
            <a:ext cx="26619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SUPPLIED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680" y="1727200"/>
            <a:ext cx="34747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MANAGEMENT IMPLICATION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1955800"/>
            <a:ext cx="168656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Visibility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96160" y="1955800"/>
            <a:ext cx="26619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58.18% same-day; 2,534 account-days beyond one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9680" y="1955800"/>
            <a:ext cx="34747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Own the source, cutoff, reconciliation, and exception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311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362200"/>
            <a:ext cx="168656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Liquidity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96160" y="2362200"/>
            <a:ext cx="26619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$21m / $35m / $46.2m screens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59680" y="2362200"/>
            <a:ext cx="34747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Certify mobility, buffers, and economics before any action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2717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2768600"/>
            <a:ext cx="168656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Payment operations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96160" y="2768600"/>
            <a:ext cx="26619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31.51% manual touch; 6.30% exceptions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9680" y="2768600"/>
            <a:ext cx="34747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Prove causes before standardizing or automating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3124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8000" y="3175000"/>
            <a:ext cx="168656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Operating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96160" y="3175000"/>
            <a:ext cx="26619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Local practice; three ERPs; no enterprise TMS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9680" y="3175000"/>
            <a:ext cx="34747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 federated policy, data, and control spine with local rights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READ TOGETHER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These are one connected ownership, evidence, control, and service gap—not four separate projects.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W2 diagnostic report; W3 future-state operating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FINDING 01 · VISIBILITY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04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Manual sources explain every delayed account-day in the supplied pattern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425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390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425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390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429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REPORTING METHOD EXPOSURE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1524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3600" y="1727200"/>
            <a:ext cx="95504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ACCOUNTS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90240" y="1727200"/>
            <a:ext cx="1117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SAME-DAY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9440" y="1727200"/>
            <a:ext cx="41249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SUPPLIED PATTERN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19558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3600" y="1955800"/>
            <a:ext cx="9550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0240" y="1955800"/>
            <a:ext cx="1117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9440" y="1955800"/>
            <a:ext cx="41249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 delayed account-day in the extract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8000" y="22479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8000" y="22987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Host-to-host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3600" y="2298700"/>
            <a:ext cx="9550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0240" y="2298700"/>
            <a:ext cx="1117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9440" y="2298700"/>
            <a:ext cx="41249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 delayed account-day in the extract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2590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8000" y="26416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Portal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33600" y="2641600"/>
            <a:ext cx="9550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0240" y="2641600"/>
            <a:ext cx="1117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9440" y="2641600"/>
            <a:ext cx="41249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All observations one day late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8000" y="2933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8000" y="2984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Spreadsheet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33600" y="2984500"/>
            <a:ext cx="9550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90240" y="2984500"/>
            <a:ext cx="1117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9440" y="2984500"/>
            <a:ext cx="41249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All observations two or more days late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METHOD LIMIT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 reporting-date proxy. It is not proof of intraday completeness, and it does not establish cause.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W2 visibility outputs; dashboard reporting-method 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FINDING 02 · LIQUIDITY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05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The liquidity analysis defines a certification agenda—not a cash-release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28917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28575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28917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28575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28956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33400" y="15367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$21M SCREEN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7018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168</a:t>
            </a:r>
            <a:r>
              <a:rPr sz="1000" b="1">
                <a:solidFill>
                  <a:srgbClr val="1D1F20"/>
                </a:solidFill>
                <a:latin typeface="Barlow"/>
              </a:rPr>
              <a:t>  of 168 windows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2184400"/>
            <a:ext cx="24892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Every complete 14-day window clears the stress threshold.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5000" y="1473200"/>
            <a:ext cx="7620" cy="13462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327400" y="15367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$35M SCREEN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7400" y="17018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138</a:t>
            </a:r>
            <a:r>
              <a:rPr sz="1000" b="1">
                <a:solidFill>
                  <a:srgbClr val="1D1F20"/>
                </a:solidFill>
                <a:latin typeface="Barlow"/>
              </a:rPr>
              <a:t>  of 168 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7400" y="2184400"/>
            <a:ext cx="24892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The base threshold thins materially at fourteen days.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69000" y="1473200"/>
            <a:ext cx="7620" cy="13462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21400" y="15367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$46.2M SCREEN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1400" y="17018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0</a:t>
            </a:r>
            <a:r>
              <a:rPr sz="1000" b="1">
                <a:solidFill>
                  <a:srgbClr val="1D1F20"/>
                </a:solidFill>
                <a:latin typeface="Barlow"/>
              </a:rPr>
              <a:t>  of 168 windows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1400" y="2184400"/>
            <a:ext cx="1422400" cy="165100"/>
          </a:xfrm>
          <a:prstGeom prst="rect">
            <a:avLst/>
          </a:prstGeom>
          <a:solidFill>
            <a:srgbClr val="F3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84900" y="2222500"/>
            <a:ext cx="2362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spc="120">
                <a:solidFill>
                  <a:srgbClr val="8A5E1E"/>
                </a:solidFill>
                <a:latin typeface="Barlow"/>
              </a:rPr>
              <a:t>NOT ACHIEVABLE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1400" y="2413000"/>
            <a:ext cx="2489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 complete window clears the upper case.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3200400"/>
            <a:ext cx="8382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Recognized movable cash remains $0 until VG01–VG05 close: authoritative balance and timestamp, legal and tax transferability, approved operating buffers, transfer economics, and a Finance-approved recognition rule.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 screening sensitivity on supplied balances—not surplus cash, transferable cash, or transfer authority.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W2 liquidity outputs; W3 business case VG01–VG05.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FINDING 03 · 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06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Payment friction is material enough to diagnose—too weakly evidenced to automate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425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390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425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390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429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SUPPLIED EXTRACT RATES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18491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8720" y="1727200"/>
            <a:ext cx="136143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SUPPLIED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21759" y="1727200"/>
            <a:ext cx="461264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REQUIRED BEFORE ANY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1955800"/>
            <a:ext cx="184912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Manual touch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8720" y="1955800"/>
            <a:ext cx="136143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31.51%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21759" y="1955800"/>
            <a:ext cx="46126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Classify required control work before calling it avoidable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22479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8000" y="2298700"/>
            <a:ext cx="184912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Exceptions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8720" y="2298700"/>
            <a:ext cx="136143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6.30%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21759" y="2298700"/>
            <a:ext cx="46126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Reason codes and source documents for the 120-record frame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590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641600"/>
            <a:ext cx="184912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Late release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8720" y="2641600"/>
            <a:ext cx="136143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21759" y="2641600"/>
            <a:ext cx="46126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Approved cutoffs and event timestamps, not a supplied flag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933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984500"/>
            <a:ext cx="184912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Cross-border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58720" y="2984500"/>
            <a:ext cx="136143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10.34%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1759" y="2984500"/>
            <a:ext cx="461264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Corridor, beneficiary, and settlement 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These are associations. The 120-record source-linked sample must establish causes and controls first.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W2 payment outputs; W3 payment pilot charter.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HOW WE WILL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07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Six measures tell management whether this is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Two performance signals, one value gate, two safety gates, one readiness 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93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89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93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89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93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MANAGEMENT KPI 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27200"/>
            <a:ext cx="20929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KPI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2560" y="1727200"/>
            <a:ext cx="119888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BASELINE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3040" y="1727200"/>
            <a:ext cx="2743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DECISION 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840" y="17272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OWNER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1955800"/>
            <a:ext cx="20929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Same-day cash visibility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2560" y="1955800"/>
            <a:ext cx="119888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58.18%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3040" y="1955800"/>
            <a:ext cx="27432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≥90% in approved cohort at G4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7840" y="1955800"/>
            <a:ext cx="16865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Group Treasurer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22225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8000" y="2273300"/>
            <a:ext cx="20929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Payment exception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2560" y="2273300"/>
            <a:ext cx="119888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6.30%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3040" y="2273300"/>
            <a:ext cx="27432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≥20% like-for-like reduction by G5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7840" y="2273300"/>
            <a:ext cx="16865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Shared Services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540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590800"/>
            <a:ext cx="20929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Certified movable cash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02560" y="2590800"/>
            <a:ext cx="119888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 recognized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3040" y="2590800"/>
            <a:ext cx="27432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Target only after VG01–VG05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7840" y="2590800"/>
            <a:ext cx="16865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Treasurer / Finance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28575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2908300"/>
            <a:ext cx="20929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Rollback within four hours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02560" y="2908300"/>
            <a:ext cx="119888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tested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3040" y="2908300"/>
            <a:ext cx="27432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Pass before G3 and each scale event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7840" y="2908300"/>
            <a:ext cx="16865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CIO / Process owner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8000" y="3175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8000" y="3225800"/>
            <a:ext cx="20929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Change-attributable incidents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02560" y="3225800"/>
            <a:ext cx="119888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available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03040" y="3225800"/>
            <a:ext cx="27432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0 — any event triggers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7840" y="3225800"/>
            <a:ext cx="16865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 owner / CIO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8000" y="34925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8000" y="3543300"/>
            <a:ext cx="20929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Evidence-gate closure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2560" y="3543300"/>
            <a:ext cx="119888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03040" y="3543300"/>
            <a:ext cx="27432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VG/CR packages closed per decision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47840" y="3543300"/>
            <a:ext cx="168656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Finance Benefits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BASELINE CAUTION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“Not available” and “$0 recognized” mean the evidence has not met the rule—not that the risk or the opportunity is zero.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W4 KPI and benefits framework; full fourteen-KPI set in Appendix 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08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Eight principles resolve enterprise control versus local responsiveness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7045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6703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7045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6703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7084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GOVERNING PRINCIPLES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000" y="18288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700" y="17653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One enterprise standards spine for policy, data contracts, and control definitions.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000" y="20574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7700" y="19939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Certified local context: restrictions, operating minimums, and emergency rights stay local and evidenced.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22860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7700" y="22225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 by design—authorization, SoD, access, audit, and reconciliation specified before build.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25146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700" y="24511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Staged, reversible change with a rehearsed return to the approved prior process.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7432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7700" y="26797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Evidence before value: no benefit enters a ledger without its own gate and Finance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29718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7700" y="29083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Service continuity is non-negotiable, including the approved peak change freeze.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32004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7700" y="31369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Work around the three existing ERPs; sequence platform choices after data and control ownership.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3429000"/>
            <a:ext cx="44450" cy="4445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7700" y="3365500"/>
            <a:ext cx="79883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Non-compensating gates: a failed critical gate blocks the affected decision value.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D2D3D"/>
                </a:solidFill>
                <a:latin typeface="Barlow"/>
              </a:rPr>
              <a:t>GATE RULE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 failed critical gate cannot be averaged away by a strong weighted score.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design principles DP-01–DP-08.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OPTIONS AND DECISION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09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Federated coordination offers the best balance with a local fallback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298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263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298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263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302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GATE-THEN-SCORE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217424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OPTION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3840" y="1727200"/>
            <a:ext cx="8737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9200" y="1727200"/>
            <a:ext cx="4775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ASSESSMENT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1955800"/>
            <a:ext cx="217424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1F515C"/>
                </a:solidFill>
                <a:latin typeface="Barlow"/>
              </a:rPr>
              <a:t>Federated coordination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3840" y="1955800"/>
            <a:ext cx="87376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1F515C"/>
                </a:solidFill>
                <a:latin typeface="Barlow"/>
              </a:rPr>
              <a:t>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9200" y="1955800"/>
            <a:ext cx="477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1F515C"/>
                </a:solidFill>
                <a:latin typeface="Barlow"/>
              </a:rPr>
              <a:t>Leads all five plausible weight sensitivities; preserves local rights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2311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8000" y="2362200"/>
            <a:ext cx="217424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Local stabilization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840" y="2362200"/>
            <a:ext cx="87376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9200" y="2362200"/>
            <a:ext cx="477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The documented fallback; bounded improvement without the enterprise spine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717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768600"/>
            <a:ext cx="217424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Globally coordinated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3840" y="2768600"/>
            <a:ext cx="87376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9200" y="2768600"/>
            <a:ext cx="477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Held: integration readiness and affordability are unevidenced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3327400"/>
            <a:ext cx="8382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Switch to local stabilization if global data/control ownership, minimum integration readiness, or affordability fails—or if any critical control, service, local-right, or resilience condition fails.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Scores compare design direction only. Every execution-evidence gate remains open.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strategic options; W3 sensitivity outputs.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RECOMMENDED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10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Centralize standards and evidence—not every operational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602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568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602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568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606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ACCOUNTABILITY SPINE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6160" y="1727200"/>
            <a:ext cx="34747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OWNS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2480" y="1727200"/>
            <a:ext cx="26619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DOES NOT OWN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1955800"/>
            <a:ext cx="16865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Global Treasury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96160" y="1955800"/>
            <a:ext cx="34747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Policy, data contracts, daily-position and mobility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2480" y="1955800"/>
            <a:ext cx="26619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Local execution or emergency payment authority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2286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8000" y="2336800"/>
            <a:ext cx="16865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96160" y="2336800"/>
            <a:ext cx="34747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Staged integration, access, auditability, cyber, resilience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2480" y="2336800"/>
            <a:ext cx="26619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Business definitions or benefit recognition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667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717800"/>
            <a:ext cx="16865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6160" y="2717800"/>
            <a:ext cx="34747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Cost and benefit governance; recognition rules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2480" y="2717800"/>
            <a:ext cx="26619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Operational payment execution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3048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3098800"/>
            <a:ext cx="168656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Regions and BUs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96160" y="3098800"/>
            <a:ext cx="34747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Certified local context, critical payments, emergency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2480" y="3098800"/>
            <a:ext cx="26619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Enterprise standards or data contracts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DESIGN INTENT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One control and data spine; local responsiveness preserved where service and law require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future-state operating model; W4 governance and RACI.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INITIATIVE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11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Seven initiatives start with data, governance, and value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9077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8735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9077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8735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9116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PRIORITY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#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1727200"/>
            <a:ext cx="26619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INITIATIVE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7920" y="1727200"/>
            <a:ext cx="711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0720" y="1727200"/>
            <a:ext cx="40436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WHY IT LEADS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1955800"/>
            <a:ext cx="3048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955800"/>
            <a:ext cx="266192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 data and visibility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7920" y="1955800"/>
            <a:ext cx="7112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0720" y="1955800"/>
            <a:ext cx="404367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Every later claim depends on certified source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8000" y="2171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8000" y="2222500"/>
            <a:ext cx="3048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222500"/>
            <a:ext cx="266192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Benefits, cost, and KPI assurance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7920" y="2222500"/>
            <a:ext cx="7112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92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0720" y="2222500"/>
            <a:ext cx="404367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Prevents unvalidated value entering a ledger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2438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8000" y="2489200"/>
            <a:ext cx="3048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2489200"/>
            <a:ext cx="266192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Governance, service, and 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7920" y="2489200"/>
            <a:ext cx="7112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0720" y="2489200"/>
            <a:ext cx="404367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Decision rights before delivery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8000" y="27051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8000" y="2755900"/>
            <a:ext cx="3048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2755900"/>
            <a:ext cx="266192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Payment controls and exceptions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77920" y="2755900"/>
            <a:ext cx="7112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85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0720" y="2755900"/>
            <a:ext cx="404367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Diagnose causes before standardizing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8000" y="2971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8000" y="3022600"/>
            <a:ext cx="3048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3022600"/>
            <a:ext cx="266192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Liquidity certification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77920" y="3022600"/>
            <a:ext cx="7112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0720" y="3022600"/>
            <a:ext cx="404367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Mobility evidence before any cash claim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8000" y="32385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08000" y="3289300"/>
            <a:ext cx="3048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289300"/>
            <a:ext cx="266192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Integration, access, resilience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77920" y="3289300"/>
            <a:ext cx="7112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0720" y="3289300"/>
            <a:ext cx="404367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Staged; sequenced after ownership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000" y="3505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08000" y="3556000"/>
            <a:ext cx="3048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3556000"/>
            <a:ext cx="266192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Account rationalization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7920" y="3556000"/>
            <a:ext cx="7112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0720" y="3556000"/>
            <a:ext cx="404367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Lowest value; candidate closures only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SEQUENCING RULE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No platform procurement is proposed. Data, governance, and value control come first.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W4 initiative charters and prioritization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12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The case stays credible by keeping unlike value types separate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2727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2385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2727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2385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2766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FOUR NON-ADDITIVE LEDGERS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2336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VALUE 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6400" y="1727200"/>
            <a:ext cx="34747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DIAGNOSTIC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2720" y="1727200"/>
            <a:ext cx="201168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RECOGNIZED TODAY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19558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 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6400" y="1955800"/>
            <a:ext cx="347472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$21m / $35m / $46.2m screens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2720" y="1955800"/>
            <a:ext cx="201168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2209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8000" y="22606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Annual P&amp;L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46400" y="2260600"/>
            <a:ext cx="347472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$3,900 / $7,800 fee sensitivity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2720" y="2260600"/>
            <a:ext cx="201168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5146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565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Productive capacity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6400" y="2565400"/>
            <a:ext cx="347472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50 / 150 hours per 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2720" y="2565400"/>
            <a:ext cx="201168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819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8702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Risk reduction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46400" y="2870200"/>
            <a:ext cx="347472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Exposure not quantified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22720" y="2870200"/>
            <a:ext cx="201168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QUANTIFIED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3454400"/>
            <a:ext cx="330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PROVISIONAL PLANNING COST — ANALYST ASSUMPTION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657600"/>
            <a:ext cx="8382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One-time $755k / $1.155m / $1.715m and recurring $175k / $281k / $442k per year. The base case fits the FY2026 $1.0–$1.5m ceiling; the high case breaches it and returns for staged approval. No vendor quote, statement of work, or rate card exists.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D2D3D"/>
                </a:solidFill>
                <a:latin typeface="Barlow"/>
              </a:rPr>
              <a:t>BOUNDARY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Never add these ledgers. ROI, NPV, and payback stay unavailable while recognized benefit is $0.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business case; W3 provisional cost estimates; W4 KPI and benefits framework.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13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Use 90 days to earn a bounded test before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Evidence mobilization first; every wave sits behind its own 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4478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14605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1–30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625600"/>
            <a:ext cx="1625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"/>
              </a:rPr>
              <a:t>Own the facts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3000" y="1473200"/>
            <a:ext cx="6324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Record direction and rights; reconcile the 55-account and 7,600-record populations; confirm exact North America freeze 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000" y="19431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81000" y="20066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3400" y="20193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31–60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2184400"/>
            <a:ext cx="1625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"/>
              </a:rPr>
              <a:t>Prove conditions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3000" y="2032000"/>
            <a:ext cx="6324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Mobility and local-right reviews; service and control design; bottom-up CR01–CR10 cost ranges.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000" y="25019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81000" y="25654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3400" y="25781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61–90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43200"/>
            <a:ext cx="1625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"/>
              </a:rPr>
              <a:t>Make ready, then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3000" y="2590800"/>
            <a:ext cx="6324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Link source evidence; lock target rules; rehearse rollback safely; return for a separate G3 decision.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000" y="30607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81000" y="3124200"/>
            <a:ext cx="31750" cy="4318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3400" y="31369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MONTHS 4–18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3302000"/>
            <a:ext cx="1625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"/>
              </a:rPr>
              <a:t>Only if evidence holds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13000" y="3149600"/>
            <a:ext cx="6324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Wave 1 after separate approval and outside the freeze; Wave 2 expands only while evidence holds.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D2D3D"/>
                </a:solidFill>
                <a:latin typeface="Barlow"/>
              </a:rPr>
              <a:t>FREEZE CONSTRAINT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No North America payment-routing or approval-workflow production change during the eight-week peak freeze; NA BU CFO sign-off required.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W4 implementation roadmap; W3 payment pilot charter; risk R031.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RISK AND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14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Governance converts the roadmap into stop, switch, and scale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729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695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729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695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733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TRIGGER AND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26619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1520" y="1727200"/>
            <a:ext cx="33121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5280" y="1727200"/>
            <a:ext cx="18491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DECISION OWNER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1955800"/>
            <a:ext cx="26619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Data or definition remains unowned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1520" y="1955800"/>
            <a:ext cx="331216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Narrow scope; hold the affected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5280" y="1955800"/>
            <a:ext cx="18491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CFO / Group Treasurer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2235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8000" y="2286000"/>
            <a:ext cx="26619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 mobility uncertified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1520" y="2286000"/>
            <a:ext cx="331216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 cash claim; certification continues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5280" y="2286000"/>
            <a:ext cx="18491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Group Treasurer / Finance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565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616200"/>
            <a:ext cx="26619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Service, control, or rollback 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1520" y="2616200"/>
            <a:ext cx="331216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Stop, revert, and investigate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5280" y="2616200"/>
            <a:ext cx="18491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CIO / BU Finance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8956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946400"/>
            <a:ext cx="26619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Affordability evidence 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1520" y="2946400"/>
            <a:ext cx="331216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 funding decision; return for staged approval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5280" y="2946400"/>
            <a:ext cx="18491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CFO / Finance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8000" y="3225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8000" y="3276600"/>
            <a:ext cx="26619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Value formula drifts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1520" y="3276600"/>
            <a:ext cx="331216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Reject the calculation; rebuild by value type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5280" y="3276600"/>
            <a:ext cx="184912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Finance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NON-COMPENSATING RULE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Critical risk cannot be averaged away by strong performance elsewhere.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W4 governance and RACI; W4 risk register; W3 decision log.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15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Approve the direction and owners; return at Day 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397000"/>
            <a:ext cx="330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FIVE COMMITMENTS REQUESTED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6510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16700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100" y="16446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Confirm the direction, the local-stabilization fallback, and the no-execution boundary at Day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9685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1000" y="19875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100" y="19621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Accept the named functional owners and data contracts by Day 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000" y="22860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1000" y="23050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100" y="22796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Close the exact North America freeze dates and the sign-off path by Day 30.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000" y="26035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81000" y="26225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100" y="25971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Produce bottom-up CR01–CR10 cost evidence by Day 60.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1000" y="29210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81000" y="29400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100" y="29146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Take a separate stop / extend / bounded-pilot decision at G3 on Day 90.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WHAT IS NOT REQUESTED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No production change, cash movement, account closure, labor action, benefit recognition, procurement, or scale.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W4 decision log; W4 weekly update; final recommendation memo.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APPENDIX A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16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Definitions, data quality, and methods bound every 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7553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7211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7553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7211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7592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METHOD LIMITS CARRIED WITH EACH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METRIC FAMILY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6160" y="1727200"/>
            <a:ext cx="28244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2240" y="1727200"/>
            <a:ext cx="33121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STATED LIMIT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1955800"/>
            <a:ext cx="16865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96160" y="1955800"/>
            <a:ext cx="282447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Reporting-date equality proxy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2240" y="1955800"/>
            <a:ext cx="33121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start-of-day or elapsed-24-hour 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22479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8000" y="2298700"/>
            <a:ext cx="16865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Liquidity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96160" y="2298700"/>
            <a:ext cx="282447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Trailing-window screen after buffers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22240" y="2298700"/>
            <a:ext cx="33121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surplus, transferable cash, or authority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590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641600"/>
            <a:ext cx="16865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Payments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6160" y="2641600"/>
            <a:ext cx="282447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Supplied flags, deduplicated cohorts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2240" y="2641600"/>
            <a:ext cx="33121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Association only; overlap counted once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933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984500"/>
            <a:ext cx="16865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Accounts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96160" y="2984500"/>
            <a:ext cx="282447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Dormant + legacy + zero-payment screen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2240" y="2984500"/>
            <a:ext cx="33121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Candidates only; no approved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8000" y="32766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8000" y="3327400"/>
            <a:ext cx="16865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Capacity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96160" y="3327400"/>
            <a:ext cx="2824479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Management-estimated activity hours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2240" y="3327400"/>
            <a:ext cx="331216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observed time or removable labour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CERTIFICATION STATUS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52/52 structural checks and 13/13 reconciliation controls pass; source certification remains open.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W1 data-quality report; W2 metric contract; final evidence register.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APPENDIX B ·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17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Sensitivities and rejected alternatives support the choice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8315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7973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8315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7973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8354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CONSIDERED AND 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28244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ALTERNATIVE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4079" y="1727200"/>
            <a:ext cx="51003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WHY IT WAS REJECTED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8000" y="1955800"/>
            <a:ext cx="28244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Immediate global coordination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4079" y="1955800"/>
            <a:ext cx="510032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Integration readiness and affordability are unevidenced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22606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2311400"/>
            <a:ext cx="28244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Indefinite local-only remediation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34079" y="2311400"/>
            <a:ext cx="510032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Leaves the enterprise data and control gap unresolved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616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667000"/>
            <a:ext cx="28244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Bulk account closure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34079" y="2667000"/>
            <a:ext cx="510032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Only four candidates; local purpose and continuity unvalidated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971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3022600"/>
            <a:ext cx="28244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Automatic payment automation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4079" y="3022600"/>
            <a:ext cx="510032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Causes unproven; required control work not yet classified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3327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8000" y="3378200"/>
            <a:ext cx="28244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Early labour or value claims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4079" y="3378200"/>
            <a:ext cx="510032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 observed time, approved formula, or Finance recognition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ROBUSTNESS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Federated leads all five plausible weight sensitivities; the switch conditions remain explicit.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option sensitivity outputs; W3 business case downside; W4 decision log.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APPENDIX C ·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18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Source and assumption controls keep every claim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EVIDENCE-LABEL CONVENTION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727200"/>
            <a:ext cx="2336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LABEL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6400" y="1727200"/>
            <a:ext cx="558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MEANING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8000" y="1955800"/>
            <a:ext cx="2336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PROGRAM-STANDARD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6400" y="1955800"/>
            <a:ext cx="5588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Programme rule or template requirement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21971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2247900"/>
            <a:ext cx="2336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ACG-DATA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6400" y="2247900"/>
            <a:ext cx="5588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Supplied client material or project dataset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489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540000"/>
            <a:ext cx="2336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ANALYST-CALC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6400" y="2540000"/>
            <a:ext cx="5588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Reproducible calculation from supplied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27813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8000" y="2832100"/>
            <a:ext cx="2336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ANALYST-ASSUMPTION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6400" y="2832100"/>
            <a:ext cx="5588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Unverified input requiring validation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3073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8000" y="3124200"/>
            <a:ext cx="2336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ANALYST-JUDGMENT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6400" y="3124200"/>
            <a:ext cx="5588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Interpretation, score, threshold, or proposed action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8000" y="33655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08000" y="3416300"/>
            <a:ext cx="2336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JPM-PUBLIC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6400" y="3416300"/>
            <a:ext cx="5588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Public context; never proof of ACG performance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REBUILD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Every published figure regenerates from documented scripts with fail-closed tests.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final source register; final assumptions register; final evidence register.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APPENDIX D · FULL KPI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19 /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The remaining eight KPIs complete the performance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Tracked by the owning function; escalated to the committee only on breach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393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358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98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94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98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94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397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98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113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FUNCTIONAL KPIS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27200"/>
            <a:ext cx="2336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KPI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6400" y="1727200"/>
            <a:ext cx="119888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BASELINE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880" y="1727200"/>
            <a:ext cx="24993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DECISION 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840" y="17272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OWNER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18796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19558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Two-plus-day delayed account-days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6400" y="19558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2,534 of 9,955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6880" y="19558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≥75% reduction in cohort by G5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7840" y="19558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Treasury Data Owner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21463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8000" y="21971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Reconciled cash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6400" y="21971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available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6880" y="21971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100% before a funding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7840" y="21971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Group Treasurer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3876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4384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Manual-touch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46400" y="24384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31.51%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6880" y="24384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Target after root-cause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7840" y="24384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Shared Services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26289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26797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Late-release rate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46400" y="26797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5.00%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46880" y="26797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 deterioration at G4; ≥20% by G5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7840" y="26797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Shared Services / BU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8000" y="2870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8000" y="29210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Emergency-payment 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6400" y="29210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Not available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6880" y="29210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7840" y="29210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BU Finance / Control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8000" y="31115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8000" y="31623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Trained and access-certified roles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46400" y="31623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6880" y="31623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100% before production access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47840" y="31623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Change Lead / CIO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8000" y="3352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08000" y="34036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Verified fee removal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6400" y="34036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 recognized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6880" y="34036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Recognition only after VG06–VG07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47840" y="34036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Finance / Treasurer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000" y="35941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508000" y="3644900"/>
            <a:ext cx="23368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Productively redeployed hours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6400" y="3644900"/>
            <a:ext cx="119888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0 recognized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46880" y="3644900"/>
            <a:ext cx="24993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Recognition only after VG08–VG10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47840" y="3644900"/>
            <a:ext cx="168656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Shared Services / Finance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PERFORMANCE CONTRACT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Every KPI needs a controlled population, definition, formula, source, owner, and change history before it is used.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W4 KPI and benefits framework; W4 KPI dictionary 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